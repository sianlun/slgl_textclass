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99" r:id="rId3"/>
    <p:sldId id="257" r:id="rId4"/>
    <p:sldId id="258" r:id="rId5"/>
    <p:sldId id="259" r:id="rId6"/>
    <p:sldId id="260" r:id="rId7"/>
    <p:sldId id="30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8" r:id="rId35"/>
    <p:sldId id="289" r:id="rId36"/>
    <p:sldId id="290"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567"/>
    <p:restoredTop sz="94610"/>
  </p:normalViewPr>
  <p:slideViewPr>
    <p:cSldViewPr snapToGrid="0" snapToObjects="1">
      <p:cViewPr varScale="1">
        <p:scale>
          <a:sx n="106" d="100"/>
          <a:sy n="106" d="100"/>
        </p:scale>
        <p:origin x="216" y="4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2291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pagi/siang! I'm delighted to be guest-lecturing today on text classification — practical machine learning for text in Bahasa Indonesia. We have 70 minutes together. Brief overview: we'll quickly recap last week's transformers + classification basics, then dive into building, evaluating, and explaining a real classifier using Indonesian sentiment data. Bring questions. We'll have several reflection moments where I want you to vote in Mentimeter/Slido. Pace yourselves — slides + code will be shared after.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96FC1-D8FB-BAD2-57A2-DFC55D97FB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51D6F8-EB60-8E70-2587-B54B632292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87A331-14CC-84F7-BFD9-59B19B5BEE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53EA26-4F38-9613-5705-EDAD34E8CA88}"/>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993155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walk-through of timing. We have 7 distinct sections; the heaviest is the build → CV → feature importance → grid search loop in the middle (about 30 minutes of live coding). I will pause at the end of each major part for a Mentimeter pulse-check. Encourage students to ask questions in the chat throughout — I'll surface them at section boundaries.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these three outcomes are exactly what your syllabus asks for. Today's lecture is structured around them. C2 = the conceptual recap and the 'why each step matters'. C3 = the live coding. C4 = the explainability section at the end. Treat the reflection questions as your self-check — if you can answer them, you've hit C2/C3/C4.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recall before we go deeper. Last week Bu Lili covered transformers and the basics of building a classification system. The video by Krish Naik tied it together with NLP/text-processing fundamentals. Today we focus on making a *real* classifier work and *understanding* why it works. Why classical ML when transformers exist? Three reasons: (1) you must understand pipelines before you can wrap them around a transformer; (2) for many Indonesian tasks the data is small and TF-IDF + LogReg still beats a fine-tuned model; (3) explainability is much easier with linear models.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Mentimeter / Slido. Show the QR code on screen. Give 60 seconds. Discuss the most-chosen answer. The 'trick' here is D — regression is a different supervised learning family. This warms students up and confirms they've digested last week's categorisation slides.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6A8B5-6F97-E534-5F9F-5D9F98F02E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7B08D3-765F-7F6A-B1C9-77CF90D51A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35E614-C932-6A28-6740-1FB086F56D33}"/>
              </a:ext>
            </a:extLst>
          </p:cNvPr>
          <p:cNvSpPr>
            <a:spLocks noGrp="1"/>
          </p:cNvSpPr>
          <p:nvPr>
            <p:ph type="body" idx="1"/>
          </p:nvPr>
        </p:nvSpPr>
        <p:spPr/>
        <p:txBody>
          <a:bodyPr/>
          <a:lstStyle/>
          <a:p>
            <a:r>
              <a:rPr lang="en-US" dirty="0"/>
              <a:t>Open Mentimeter / Slido. Show the QR code on screen. Give 60 seconds. Discuss the most-chosen answer. The 'trick' here is D — regression is a different supervised learning family. This warms students up and confirms they've digested last week's categorisation slides.</a:t>
            </a:r>
          </a:p>
        </p:txBody>
      </p:sp>
      <p:sp>
        <p:nvSpPr>
          <p:cNvPr id="4" name="Slide Number Placeholder 3">
            <a:extLst>
              <a:ext uri="{FF2B5EF4-FFF2-40B4-BE49-F238E27FC236}">
                <a16:creationId xmlns:a16="http://schemas.microsoft.com/office/drawing/2014/main" id="{82DD70A9-184E-DE13-E37D-F0988ABA049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2095831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lecture in something they care about. Examples are deliberately Indonesian — Tokopedia, WhatsApp hoax, IndoNLU. The numbers are illustrative; if asked, sources are e-commerce reports + Wikipedia. The SmSA dataset is the standard sentiment benchmark in Indonesia, fully labeled and free. We'll use a downsized version for the demo so it runs in seconds.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step verbally: data prep is where Indonesian-specific work lives — case folding, removing emojis, stemming with Sastrawi. Vectorisation is where we'll spend most demo time. Model: start with logistic regression — interpretable + strong baseline. Evaluation: don't just look at accuracy with imbalanced classes. The Pipeline insight at the bottom is critical: students who skip Pipeline almost always leak test data into their CV folds.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Indonesian-flavour slide. English NLP students rarely think about affixation — Bahasa Indonesia's 'me-' / '-kan' / '-nya' completely changes vocabulary size if you don't stem. Sastrawi is the open-source library every Indonesian NLP project uses. The slang point is also worth dwelling on: students working with WhatsApp / Twitter data will hit this hard. We'll show a concrete normalisation map in the notebook.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conceptual slide for the build section. TF-IDF is older than transformers but it captures the basic instinct: discriminating words matter more. Walk through the table row by row — show how 'barang' (item) is uniform across rows but 'bagus' (good), 'jelek' (bad), 'rusak' (broken) are sentiment-loaded. This is exactly what a logistic regression will learn weights for, and these will become our top features later.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framing: in real work, you almost always start with logistic regression. It's the quickest way to get a baseline + see what features matter. For Indonesian sentiment specifically, recent papers (e.g. IndoBERT-Sentiment 2026) show transformers can hit 96% on certain tasks — but that's not the point of today's lecture. Today's logistic regression will hit ~80-85%, which is excellent for production and *fully explainable*.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intro before showing code. Frame the dataset: 12k Indonesian sentences, three classes, MIT-licensed, available via Hugging Face datasets. The samples on the right are real (or representative) — they highlight Indonesian quirks: 'banget' (slang intensifier), code-switching ('Recommended', 'oke'), affixation ('pengiriman' from 'kirim'). Tell students: 'we'll load this in two lines.' Time pressure: 1 minute on this slide.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coding moment. Type, don't copy. Highlight: (1) Sastrawi stemmer — students will need to install it; (2) preprocessor passed into TfidfVectorizer is the right place — keeps pipeline self-contained; (3) ngram_range=(1,2) gives unigrams + bigrams, often a big win for Indonesian; (4) class_weight='balanced' handles imbalance automatically; (5) max_iter=1000 prevents convergence warnings on sparse high-dim data. Run it. Should print ~0.81.</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accuracy and stop. The confusion matrix tells the real story: the diagonal is mostly correct, but 'netral' is misclassified as 'positif' a lot. This is typical for sentiment — neutral has weaker signals. F1 scores below 0.7 for 'netral' is a flag. We'll later use feature importance to see which words confuse it. (Numbers are illustrative — real run will be slightly different.)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*why* of cross-validation. Numbers are realistic — running the same SmSA pipeline with different random_states does swing 2-3 points. The nasi padang analogy makes it concrete: students get this immediately. The point is *we don't trust point estimates*. CV gives variance + a more reliable mean.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left-to-right, top-to-bottom. Each row is one full pass — train on 4 folds, validate on 1, then rotate. Five accuracies → mean ± std. The std is the new piece of information we couldn't get from a single split. Stratification is critical for imbalanced data — without it you can get a fold with no neutral examples.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paste this in. The big mental jump for students is `pipe` is the *whole pipeline* including TF-IDF — and CV refits the vectorizer on each fold. This prevents leakage. n_jobs=-1 uses all cores. Note the metric choice — macro-F1 is the right metric for imbalanced text classification, NOT accuracy.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students fall in love with logistic regression. The top positive words for 'positif' are exactly what an Indonesian human would expect: ramah (friendly), bagus (good), rekomendasi (recommend), puas (satisfied), cepat (fast), mantap (solid), amanah (trustworthy — culturally important). This 'sanity check' is one of the most powerful things you can do as an ML practitioner. If 'jelek' (bad) shows up here, you know something's wrong.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Indonesian negation is a critical insight. 'Tidak' (not) on its own is everywhere — both in positive ('tidak rusak' = not broken = positive) and negative ('tidak bagus' = not good = negative) contexts. Bigrams capture the phrase 'tidak sesuai' (doesn't match) which is unambiguously negative. This is *exactly* the kind of insight that justifies including bigrams in your TF-IDF — and it only becomes visible when you inspect feature importance.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canonical sklearn pattern. The key trick is `pipe.named_steps[...]` which gives access to fitted components inside the pipeline. Students often try to refit a separate vectorizer + LogReg and get inconsistent vocabularies — this is the right way. After this, plot is one line.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first. The 729-combinations math hits home for students. The 'silent overfitting' point is critical — students often tune by repeatedly running on test set, which is statistically equivalent to overfitting to test. GridSearch fixes this by tuning on CV folds and only touching test set ONCE at the end.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Two key insights: (1) param_grid keys use the `step__param` syntax — that's how GridSearchCV reaches into the pipeline; (2) we score on the test set ONLY at the end, after best params are chosen. This 'separation' is what makes the test-set estimate honest.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side by side. The improvement is real (3.5 points = meaningful in NLP). The variance also went DOWN — a sign of better hyperparameters. Crucially, we picked C=10 not C=1, but only after seeing it win on CV folds, NOT on the test set. Final test F1=0.804 is our HONEST estimate of how this model will do in production.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today directly to last week's Anchors slide. Anchors are excellent for stakeholder communication ('the rule is: if it contains rusak, it's negative'). LIME is excellent for engineers debugging ('these specific words are pushing the wrong direction'). Both are local explanations — they explain ONE prediction, not the whole model. They complement feature importance (which is global).</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slide carefully — it's the climax of the explainability section. Show how LIME tells a complete story: yes the review starts with 'rusak' (broken), but it also says 'packaging bagus' (packaging good). Net negative because the destructive words have higher magnitudes. This kind of explanation is gold for stakeholders. In the notebook, we'll generate this with `from lime.lime_text import LimeTextExplainer`.</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5-7 minutes on this. Don't ask all six — pick 2-3 based on remaining time. My recommended priority: Q1 (CV understanding), Q4 (feature importance interpretation — Tokopedia is a non-sentiment-bearing brand name, so positive coefficient is a *bad* sign — model has learned a spurious correlation that may not generalize), and Q5 (overfitting diagnostics). Have students answer via Mentimeter open-text or Slido. Read 2-3 best answers aloud.</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End on a high note. Tie back to the learning outcomes — these 5 takeaways cover all three (C2, C3, C4). 'Terima kasih banyak' (thank you very much) — students appreciate the cultural touch.</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references verified for currency in 2025/2026. Hugging Face IndoNLU page is live. scikit-learn 1.8 is the latest stable. Sastrawi is the de-facto Indonesian stemmer. The LIME and Anchors papers are foundational and accurate. Tell students to bookmark the Hugging Face page — once they start their projects, that's where they'll find labelled Indonesian data for free.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Have Slido pinned in Zoom. Read top-upvoted questions first. If quiet, prompt with 'one thing that surprised you' or 'one thing you'd try first on your own data.' Reserve last 2 minutes for closing remarks: encourage them to try this on a small dataset of their own (Indonesian tweets, WhatsApp messages they're allowed to use, news headlines from Kompas/Detik).</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440"/>
        </a:solidFill>
        <a:effectLst/>
      </p:bgPr>
    </p:bg>
    <p:spTree>
      <p:nvGrpSpPr>
        <p:cNvPr id="1" name=""/>
        <p:cNvGrpSpPr/>
        <p:nvPr/>
      </p:nvGrpSpPr>
      <p:grpSpPr>
        <a:xfrm>
          <a:off x="0" y="0"/>
          <a:ext cx="0" cy="0"/>
          <a:chOff x="0" y="0"/>
          <a:chExt cx="0" cy="0"/>
        </a:xfrm>
      </p:grpSpPr>
      <p:sp>
        <p:nvSpPr>
          <p:cNvPr id="2" name="Shape 0"/>
          <p:cNvSpPr/>
          <p:nvPr/>
        </p:nvSpPr>
        <p:spPr>
          <a:xfrm>
            <a:off x="0" y="0"/>
            <a:ext cx="3657600" cy="109728"/>
          </a:xfrm>
          <a:prstGeom prst="rect">
            <a:avLst/>
          </a:prstGeom>
          <a:solidFill>
            <a:srgbClr val="F77F00"/>
          </a:solidFill>
          <a:ln w="12700">
            <a:solidFill>
              <a:srgbClr val="F77F00"/>
            </a:solidFill>
            <a:prstDash val="solid"/>
          </a:ln>
        </p:spPr>
        <p:txBody>
          <a:bodyPr/>
          <a:lstStyle/>
          <a:p>
            <a:endParaRPr lang="en-GB"/>
          </a:p>
        </p:txBody>
      </p:sp>
      <p:sp>
        <p:nvSpPr>
          <p:cNvPr id="3" name="Shape 1"/>
          <p:cNvSpPr/>
          <p:nvPr/>
        </p:nvSpPr>
        <p:spPr>
          <a:xfrm>
            <a:off x="10058400" y="-914400"/>
            <a:ext cx="3657600" cy="3657600"/>
          </a:xfrm>
          <a:prstGeom prst="ellipse">
            <a:avLst/>
          </a:prstGeom>
          <a:solidFill>
            <a:srgbClr val="F77F00">
              <a:alpha val="20000"/>
            </a:srgbClr>
          </a:solidFill>
          <a:ln w="12700">
            <a:solidFill>
              <a:srgbClr val="F77F00">
                <a:alpha val="20000"/>
              </a:srgbClr>
            </a:solidFill>
            <a:prstDash val="solid"/>
          </a:ln>
        </p:spPr>
        <p:txBody>
          <a:bodyPr/>
          <a:lstStyle/>
          <a:p>
            <a:endParaRPr lang="en-GB"/>
          </a:p>
        </p:txBody>
      </p:sp>
      <p:sp>
        <p:nvSpPr>
          <p:cNvPr id="4" name="Shape 2"/>
          <p:cNvSpPr/>
          <p:nvPr/>
        </p:nvSpPr>
        <p:spPr>
          <a:xfrm>
            <a:off x="9601200" y="4114800"/>
            <a:ext cx="2743200" cy="2743200"/>
          </a:xfrm>
          <a:prstGeom prst="ellipse">
            <a:avLst/>
          </a:prstGeom>
          <a:solidFill>
            <a:srgbClr val="00B4D8">
              <a:alpha val="20000"/>
            </a:srgbClr>
          </a:solidFill>
          <a:ln w="12700">
            <a:solidFill>
              <a:srgbClr val="00B4D8">
                <a:alpha val="20000"/>
              </a:srgbClr>
            </a:solidFill>
            <a:prstDash val="solid"/>
          </a:ln>
        </p:spPr>
        <p:txBody>
          <a:bodyPr/>
          <a:lstStyle/>
          <a:p>
            <a:endParaRPr lang="en-GB"/>
          </a:p>
        </p:txBody>
      </p:sp>
      <p:sp>
        <p:nvSpPr>
          <p:cNvPr id="5" name="Text 3"/>
          <p:cNvSpPr/>
          <p:nvPr/>
        </p:nvSpPr>
        <p:spPr>
          <a:xfrm>
            <a:off x="548640" y="548640"/>
            <a:ext cx="10058400" cy="365760"/>
          </a:xfrm>
          <a:prstGeom prst="rect">
            <a:avLst/>
          </a:prstGeom>
          <a:noFill/>
          <a:ln/>
        </p:spPr>
        <p:txBody>
          <a:bodyPr wrap="square" rtlCol="0" anchor="ctr"/>
          <a:lstStyle/>
          <a:p>
            <a:pPr marL="0" indent="0">
              <a:buNone/>
            </a:pPr>
            <a:r>
              <a:rPr lang="en-US" sz="1200" b="1" kern="0" spc="500" dirty="0">
                <a:solidFill>
                  <a:srgbClr val="00B4D8"/>
                </a:solidFill>
                <a:latin typeface="Calibri" pitchFamily="34" charset="0"/>
                <a:ea typeface="Calibri" pitchFamily="34" charset="-122"/>
                <a:cs typeface="Calibri" pitchFamily="34" charset="-120"/>
              </a:rPr>
              <a:t>BINUS UNIVERSITY |  TEXT MINING  |  SESSION 09</a:t>
            </a:r>
            <a:endParaRPr lang="en-US" sz="1200" dirty="0"/>
          </a:p>
        </p:txBody>
      </p:sp>
      <p:sp>
        <p:nvSpPr>
          <p:cNvPr id="6" name="Text 4"/>
          <p:cNvSpPr/>
          <p:nvPr/>
        </p:nvSpPr>
        <p:spPr>
          <a:xfrm>
            <a:off x="548640" y="2011680"/>
            <a:ext cx="10972800" cy="914400"/>
          </a:xfrm>
          <a:prstGeom prst="rect">
            <a:avLst/>
          </a:prstGeom>
          <a:noFill/>
          <a:ln/>
        </p:spPr>
        <p:txBody>
          <a:bodyPr wrap="square" lIns="0" tIns="0" rIns="0" bIns="0" rtlCol="0" anchor="ctr"/>
          <a:lstStyle/>
          <a:p>
            <a:pPr marL="0" indent="0">
              <a:buNone/>
            </a:pPr>
            <a:r>
              <a:rPr lang="en-US" sz="5600" b="1" kern="0" spc="200" dirty="0">
                <a:solidFill>
                  <a:srgbClr val="FFFFFF"/>
                </a:solidFill>
                <a:latin typeface="Calibri" pitchFamily="34" charset="0"/>
                <a:ea typeface="Calibri" pitchFamily="34" charset="-122"/>
                <a:cs typeface="Calibri" pitchFamily="34" charset="-120"/>
              </a:rPr>
              <a:t>TEXT CLASSIFICATION</a:t>
            </a:r>
            <a:endParaRPr lang="en-US" sz="5600" dirty="0"/>
          </a:p>
        </p:txBody>
      </p:sp>
      <p:sp>
        <p:nvSpPr>
          <p:cNvPr id="7" name="Text 5"/>
          <p:cNvSpPr/>
          <p:nvPr/>
        </p:nvSpPr>
        <p:spPr>
          <a:xfrm>
            <a:off x="548640" y="2926080"/>
            <a:ext cx="10972800" cy="640080"/>
          </a:xfrm>
          <a:prstGeom prst="rect">
            <a:avLst/>
          </a:prstGeom>
          <a:noFill/>
          <a:ln/>
        </p:spPr>
        <p:txBody>
          <a:bodyPr wrap="square" lIns="0" tIns="0" rIns="0" bIns="0" rtlCol="0" anchor="ctr"/>
          <a:lstStyle/>
          <a:p>
            <a:pPr marL="0" indent="0">
              <a:buNone/>
            </a:pPr>
            <a:r>
              <a:rPr lang="en-US" sz="2800" i="1" dirty="0">
                <a:solidFill>
                  <a:srgbClr val="F77F00"/>
                </a:solidFill>
                <a:latin typeface="Calibri" pitchFamily="34" charset="0"/>
                <a:ea typeface="Calibri" pitchFamily="34" charset="-122"/>
                <a:cs typeface="Calibri" pitchFamily="34" charset="-120"/>
              </a:rPr>
              <a:t>Building, Evaluating &amp; Explaining Models</a:t>
            </a:r>
            <a:endParaRPr lang="en-US" sz="2800" dirty="0"/>
          </a:p>
        </p:txBody>
      </p:sp>
      <p:sp>
        <p:nvSpPr>
          <p:cNvPr id="8" name="Shape 6"/>
          <p:cNvSpPr/>
          <p:nvPr/>
        </p:nvSpPr>
        <p:spPr>
          <a:xfrm>
            <a:off x="548640" y="3840480"/>
            <a:ext cx="548640" cy="54864"/>
          </a:xfrm>
          <a:prstGeom prst="rect">
            <a:avLst/>
          </a:prstGeom>
          <a:solidFill>
            <a:srgbClr val="F77F00"/>
          </a:solidFill>
          <a:ln w="12700">
            <a:solidFill>
              <a:srgbClr val="F77F00"/>
            </a:solidFill>
            <a:prstDash val="solid"/>
          </a:ln>
        </p:spPr>
        <p:txBody>
          <a:bodyPr/>
          <a:lstStyle/>
          <a:p>
            <a:endParaRPr lang="en-GB"/>
          </a:p>
        </p:txBody>
      </p:sp>
      <p:sp>
        <p:nvSpPr>
          <p:cNvPr id="9" name="Text 7"/>
          <p:cNvSpPr/>
          <p:nvPr/>
        </p:nvSpPr>
        <p:spPr>
          <a:xfrm>
            <a:off x="548640" y="4023360"/>
            <a:ext cx="10972800" cy="365760"/>
          </a:xfrm>
          <a:prstGeom prst="rect">
            <a:avLst/>
          </a:prstGeom>
          <a:noFill/>
          <a:ln/>
        </p:spPr>
        <p:txBody>
          <a:bodyPr wrap="square" lIns="0" tIns="0" rIns="0" bIns="0" rtlCol="0" anchor="ctr"/>
          <a:lstStyle/>
          <a:p>
            <a:pPr marL="0" indent="0">
              <a:buNone/>
            </a:pPr>
            <a:r>
              <a:rPr lang="en-US" sz="1600" dirty="0">
                <a:solidFill>
                  <a:srgbClr val="CFE5F8"/>
                </a:solidFill>
                <a:latin typeface="Calibri" pitchFamily="34" charset="0"/>
                <a:ea typeface="Calibri" pitchFamily="34" charset="-122"/>
                <a:cs typeface="Calibri" pitchFamily="34" charset="-120"/>
              </a:rPr>
              <a:t>A guest lecture for </a:t>
            </a:r>
            <a:r>
              <a:rPr lang="en-US" sz="1600" b="1" dirty="0">
                <a:solidFill>
                  <a:srgbClr val="FFFFFF"/>
                </a:solidFill>
                <a:latin typeface="Calibri" pitchFamily="34" charset="0"/>
                <a:ea typeface="Calibri" pitchFamily="34" charset="-122"/>
                <a:cs typeface="Calibri" pitchFamily="34" charset="-120"/>
              </a:rPr>
              <a:t>BINUS University, Indonesia</a:t>
            </a:r>
            <a:endParaRPr lang="en-US" sz="1600" dirty="0"/>
          </a:p>
        </p:txBody>
      </p:sp>
      <p:sp>
        <p:nvSpPr>
          <p:cNvPr id="11" name="Text 9"/>
          <p:cNvSpPr/>
          <p:nvPr/>
        </p:nvSpPr>
        <p:spPr>
          <a:xfrm>
            <a:off x="548640" y="5943600"/>
            <a:ext cx="10972800" cy="457200"/>
          </a:xfrm>
          <a:prstGeom prst="rect">
            <a:avLst/>
          </a:prstGeom>
          <a:noFill/>
          <a:ln/>
        </p:spPr>
        <p:txBody>
          <a:bodyPr wrap="square" lIns="0" tIns="0" rIns="0" bIns="0" rtlCol="0" anchor="ctr"/>
          <a:lstStyle/>
          <a:p>
            <a:pPr marL="0" indent="0">
              <a:buNone/>
            </a:pPr>
            <a:r>
              <a:rPr lang="en-US" sz="2000" i="1" dirty="0">
                <a:solidFill>
                  <a:srgbClr val="FFFFFF"/>
                </a:solidFill>
                <a:latin typeface="Calibri" pitchFamily="34" charset="0"/>
                <a:ea typeface="Calibri" pitchFamily="34" charset="-122"/>
                <a:cs typeface="Calibri" pitchFamily="34" charset="-120"/>
              </a:rPr>
              <a:t>Selamat datang!  Welcome.</a:t>
            </a:r>
            <a:endParaRPr lang="en-US" sz="2000" dirty="0"/>
          </a:p>
        </p:txBody>
      </p:sp>
      <p:sp>
        <p:nvSpPr>
          <p:cNvPr id="12" name="Text 10"/>
          <p:cNvSpPr/>
          <p:nvPr/>
        </p:nvSpPr>
        <p:spPr>
          <a:xfrm>
            <a:off x="11064240" y="6446520"/>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1 / 35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B487-1407-FB5E-CB96-6D79AF57DB9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E91245F-F445-4574-1FD8-6D2896C63345}"/>
              </a:ext>
            </a:extLst>
          </p:cNvPr>
          <p:cNvSpPr/>
          <p:nvPr/>
        </p:nvSpPr>
        <p:spPr>
          <a:xfrm>
            <a:off x="609600" y="365760"/>
            <a:ext cx="10972800" cy="853440"/>
          </a:xfrm>
          <a:prstGeom prst="rect">
            <a:avLst/>
          </a:prstGeom>
          <a:noFill/>
          <a:ln/>
        </p:spPr>
        <p:txBody>
          <a:bodyPr wrap="square" rtlCol="0" anchor="ctr"/>
          <a:lstStyle/>
          <a:p>
            <a:r>
              <a:rPr lang="en-US" sz="4267" b="1" dirty="0">
                <a:solidFill>
                  <a:srgbClr val="0F172A"/>
                </a:solidFill>
                <a:latin typeface="Arial Black" pitchFamily="34" charset="0"/>
                <a:ea typeface="Arial Black" pitchFamily="34" charset="-122"/>
                <a:cs typeface="Arial Black" pitchFamily="34" charset="-120"/>
              </a:rPr>
              <a:t>Brief Self-Introduction</a:t>
            </a:r>
            <a:endParaRPr lang="en-US" sz="4267" dirty="0"/>
          </a:p>
        </p:txBody>
      </p:sp>
      <p:grpSp>
        <p:nvGrpSpPr>
          <p:cNvPr id="44" name="Group 43">
            <a:extLst>
              <a:ext uri="{FF2B5EF4-FFF2-40B4-BE49-F238E27FC236}">
                <a16:creationId xmlns:a16="http://schemas.microsoft.com/office/drawing/2014/main" id="{AE42AD6F-2D17-2958-DF59-906FD0896DDB}"/>
              </a:ext>
            </a:extLst>
          </p:cNvPr>
          <p:cNvGrpSpPr/>
          <p:nvPr/>
        </p:nvGrpSpPr>
        <p:grpSpPr>
          <a:xfrm>
            <a:off x="3026072" y="1333189"/>
            <a:ext cx="8556328" cy="1895319"/>
            <a:chOff x="457200" y="962269"/>
            <a:chExt cx="8229600" cy="1290930"/>
          </a:xfrm>
        </p:grpSpPr>
        <p:sp>
          <p:nvSpPr>
            <p:cNvPr id="3" name="Shape 1">
              <a:extLst>
                <a:ext uri="{FF2B5EF4-FFF2-40B4-BE49-F238E27FC236}">
                  <a16:creationId xmlns:a16="http://schemas.microsoft.com/office/drawing/2014/main" id="{4B1E8113-D1F6-3A7B-BD15-4EFA08E18AB0}"/>
                </a:ext>
              </a:extLst>
            </p:cNvPr>
            <p:cNvSpPr/>
            <p:nvPr/>
          </p:nvSpPr>
          <p:spPr>
            <a:xfrm>
              <a:off x="457200" y="962270"/>
              <a:ext cx="8229600" cy="1290929"/>
            </a:xfrm>
            <a:prstGeom prst="rect">
              <a:avLst/>
            </a:prstGeom>
            <a:solidFill>
              <a:srgbClr val="FFFFFF"/>
            </a:solidFill>
            <a:ln/>
            <a:effectLst>
              <a:outerShdw blurRad="101600" dist="38100" dir="8100000" algn="bl" rotWithShape="0">
                <a:srgbClr val="000000">
                  <a:alpha val="15000"/>
                </a:srgbClr>
              </a:outerShdw>
            </a:effectLst>
          </p:spPr>
          <p:txBody>
            <a:bodyPr/>
            <a:lstStyle/>
            <a:p>
              <a:endParaRPr lang="en-GB" sz="2400"/>
            </a:p>
          </p:txBody>
        </p:sp>
        <p:sp>
          <p:nvSpPr>
            <p:cNvPr id="4" name="Shape 2">
              <a:extLst>
                <a:ext uri="{FF2B5EF4-FFF2-40B4-BE49-F238E27FC236}">
                  <a16:creationId xmlns:a16="http://schemas.microsoft.com/office/drawing/2014/main" id="{D3EAC14B-C0AB-650C-D824-CB6DF20F3734}"/>
                </a:ext>
              </a:extLst>
            </p:cNvPr>
            <p:cNvSpPr/>
            <p:nvPr/>
          </p:nvSpPr>
          <p:spPr>
            <a:xfrm>
              <a:off x="464173" y="962269"/>
              <a:ext cx="73152" cy="1290929"/>
            </a:xfrm>
            <a:prstGeom prst="rect">
              <a:avLst/>
            </a:prstGeom>
            <a:solidFill>
              <a:srgbClr val="0D9488"/>
            </a:solidFill>
            <a:ln/>
          </p:spPr>
          <p:txBody>
            <a:bodyPr/>
            <a:lstStyle/>
            <a:p>
              <a:endParaRPr lang="en-GB" sz="2400"/>
            </a:p>
          </p:txBody>
        </p:sp>
      </p:grpSp>
      <p:sp>
        <p:nvSpPr>
          <p:cNvPr id="5" name="Text 3">
            <a:extLst>
              <a:ext uri="{FF2B5EF4-FFF2-40B4-BE49-F238E27FC236}">
                <a16:creationId xmlns:a16="http://schemas.microsoft.com/office/drawing/2014/main" id="{94CC3635-D626-4279-A9AB-917C9C72A727}"/>
              </a:ext>
            </a:extLst>
          </p:cNvPr>
          <p:cNvSpPr/>
          <p:nvPr/>
        </p:nvSpPr>
        <p:spPr>
          <a:xfrm>
            <a:off x="3400791" y="1362229"/>
            <a:ext cx="7878183" cy="426720"/>
          </a:xfrm>
          <a:prstGeom prst="rect">
            <a:avLst/>
          </a:prstGeom>
          <a:noFill/>
          <a:ln/>
        </p:spPr>
        <p:txBody>
          <a:bodyPr wrap="square" rtlCol="0" anchor="ctr"/>
          <a:lstStyle/>
          <a:p>
            <a:r>
              <a:rPr lang="en-US" sz="1867" b="1" dirty="0">
                <a:solidFill>
                  <a:srgbClr val="0D9488"/>
                </a:solidFill>
                <a:latin typeface="Arial" pitchFamily="34" charset="0"/>
                <a:ea typeface="Arial" pitchFamily="34" charset="-122"/>
                <a:cs typeface="Arial" pitchFamily="34" charset="-120"/>
              </a:rPr>
              <a:t>Education Background</a:t>
            </a:r>
            <a:endParaRPr lang="en-US" sz="1867" dirty="0"/>
          </a:p>
        </p:txBody>
      </p:sp>
      <p:sp>
        <p:nvSpPr>
          <p:cNvPr id="6" name="Text 4">
            <a:extLst>
              <a:ext uri="{FF2B5EF4-FFF2-40B4-BE49-F238E27FC236}">
                <a16:creationId xmlns:a16="http://schemas.microsoft.com/office/drawing/2014/main" id="{5AE13CAA-0D80-6160-E09D-36C54B66843E}"/>
              </a:ext>
            </a:extLst>
          </p:cNvPr>
          <p:cNvSpPr/>
          <p:nvPr/>
        </p:nvSpPr>
        <p:spPr>
          <a:xfrm>
            <a:off x="3405681" y="1630465"/>
            <a:ext cx="7863995" cy="1443305"/>
          </a:xfrm>
          <a:prstGeom prst="rect">
            <a:avLst/>
          </a:prstGeom>
          <a:noFill/>
          <a:ln/>
        </p:spPr>
        <p:txBody>
          <a:bodyPr wrap="square" rtlCol="0" anchor="ctr"/>
          <a:lstStyle/>
          <a:p>
            <a:pPr marL="380990" indent="-380990">
              <a:buFont typeface="Arial" panose="020B0604020202020204" pitchFamily="34" charset="0"/>
              <a:buChar char="•"/>
            </a:pPr>
            <a:r>
              <a:rPr lang="en-US" sz="1867" dirty="0">
                <a:solidFill>
                  <a:srgbClr val="1E293B"/>
                </a:solidFill>
                <a:latin typeface="Arial" pitchFamily="34" charset="0"/>
                <a:ea typeface="Arial" pitchFamily="34" charset="-122"/>
                <a:cs typeface="Arial" pitchFamily="34" charset="-120"/>
              </a:rPr>
              <a:t>Dr.-Ing. and MSc in Electrical Communication Engineering, University of Kassel, Germany</a:t>
            </a:r>
          </a:p>
          <a:p>
            <a:pPr marL="380990" indent="-380990">
              <a:buFont typeface="Arial" panose="020B0604020202020204" pitchFamily="34" charset="0"/>
              <a:buChar char="•"/>
            </a:pPr>
            <a:r>
              <a:rPr lang="en-US" sz="1867" dirty="0">
                <a:solidFill>
                  <a:srgbClr val="1E293B"/>
                </a:solidFill>
                <a:latin typeface="Arial" pitchFamily="34" charset="0"/>
                <a:ea typeface="Arial" pitchFamily="34" charset="-122"/>
                <a:cs typeface="Arial" pitchFamily="34" charset="-120"/>
              </a:rPr>
              <a:t>BEng with Hons in Electronic and Telecommunications </a:t>
            </a:r>
            <a:br>
              <a:rPr lang="en-US" sz="1867" dirty="0">
                <a:solidFill>
                  <a:srgbClr val="1E293B"/>
                </a:solidFill>
                <a:latin typeface="Arial" pitchFamily="34" charset="0"/>
                <a:ea typeface="Arial" pitchFamily="34" charset="-122"/>
                <a:cs typeface="Arial" pitchFamily="34" charset="-120"/>
              </a:rPr>
            </a:br>
            <a:r>
              <a:rPr lang="en-US" sz="1867" dirty="0">
                <a:solidFill>
                  <a:srgbClr val="1E293B"/>
                </a:solidFill>
                <a:latin typeface="Arial" pitchFamily="34" charset="0"/>
                <a:ea typeface="Arial" pitchFamily="34" charset="-122"/>
                <a:cs typeface="Arial" pitchFamily="34" charset="-120"/>
              </a:rPr>
              <a:t>Engineering, </a:t>
            </a:r>
            <a:r>
              <a:rPr lang="en-US" sz="1867" dirty="0" err="1">
                <a:solidFill>
                  <a:srgbClr val="1E293B"/>
                </a:solidFill>
                <a:latin typeface="Arial" pitchFamily="34" charset="0"/>
                <a:ea typeface="Arial" pitchFamily="34" charset="-122"/>
                <a:cs typeface="Arial" pitchFamily="34" charset="-120"/>
              </a:rPr>
              <a:t>Universiti</a:t>
            </a:r>
            <a:r>
              <a:rPr lang="en-US" sz="1867" dirty="0">
                <a:solidFill>
                  <a:srgbClr val="1E293B"/>
                </a:solidFill>
                <a:latin typeface="Arial" pitchFamily="34" charset="0"/>
                <a:ea typeface="Arial" pitchFamily="34" charset="-122"/>
                <a:cs typeface="Arial" pitchFamily="34" charset="-120"/>
              </a:rPr>
              <a:t> Malaysia Sarawak (UNIMAS), Malaysia</a:t>
            </a:r>
          </a:p>
        </p:txBody>
      </p:sp>
      <p:grpSp>
        <p:nvGrpSpPr>
          <p:cNvPr id="43" name="Group 42">
            <a:extLst>
              <a:ext uri="{FF2B5EF4-FFF2-40B4-BE49-F238E27FC236}">
                <a16:creationId xmlns:a16="http://schemas.microsoft.com/office/drawing/2014/main" id="{09E1F42E-C0C7-33F9-6F8A-0EE692537FEA}"/>
              </a:ext>
            </a:extLst>
          </p:cNvPr>
          <p:cNvGrpSpPr/>
          <p:nvPr/>
        </p:nvGrpSpPr>
        <p:grpSpPr>
          <a:xfrm>
            <a:off x="3026071" y="3394935"/>
            <a:ext cx="8556328" cy="2360996"/>
            <a:chOff x="457200" y="2626640"/>
            <a:chExt cx="8229600" cy="1770747"/>
          </a:xfrm>
        </p:grpSpPr>
        <p:sp>
          <p:nvSpPr>
            <p:cNvPr id="33" name="Shape 1">
              <a:extLst>
                <a:ext uri="{FF2B5EF4-FFF2-40B4-BE49-F238E27FC236}">
                  <a16:creationId xmlns:a16="http://schemas.microsoft.com/office/drawing/2014/main" id="{57DEDBF5-8E6A-D821-BDC5-85C54D4B396C}"/>
                </a:ext>
              </a:extLst>
            </p:cNvPr>
            <p:cNvSpPr/>
            <p:nvPr/>
          </p:nvSpPr>
          <p:spPr>
            <a:xfrm>
              <a:off x="457200" y="2626640"/>
              <a:ext cx="8229600" cy="1770747"/>
            </a:xfrm>
            <a:prstGeom prst="rect">
              <a:avLst/>
            </a:prstGeom>
            <a:solidFill>
              <a:srgbClr val="FFFFFF"/>
            </a:solidFill>
            <a:ln/>
            <a:effectLst>
              <a:outerShdw blurRad="101600" dist="38100" dir="8100000" algn="bl" rotWithShape="0">
                <a:srgbClr val="000000">
                  <a:alpha val="15000"/>
                </a:srgbClr>
              </a:outerShdw>
            </a:effectLst>
          </p:spPr>
          <p:txBody>
            <a:bodyPr/>
            <a:lstStyle/>
            <a:p>
              <a:endParaRPr lang="en-GB" sz="2400"/>
            </a:p>
          </p:txBody>
        </p:sp>
        <p:sp>
          <p:nvSpPr>
            <p:cNvPr id="34" name="Shape 2">
              <a:extLst>
                <a:ext uri="{FF2B5EF4-FFF2-40B4-BE49-F238E27FC236}">
                  <a16:creationId xmlns:a16="http://schemas.microsoft.com/office/drawing/2014/main" id="{5C785CDC-1366-3DEF-570E-CEC358385D02}"/>
                </a:ext>
              </a:extLst>
            </p:cNvPr>
            <p:cNvSpPr/>
            <p:nvPr/>
          </p:nvSpPr>
          <p:spPr>
            <a:xfrm>
              <a:off x="457200" y="2626640"/>
              <a:ext cx="73152" cy="1770747"/>
            </a:xfrm>
            <a:prstGeom prst="rect">
              <a:avLst/>
            </a:prstGeom>
            <a:solidFill>
              <a:srgbClr val="0D9488"/>
            </a:solidFill>
            <a:ln/>
          </p:spPr>
          <p:txBody>
            <a:bodyPr/>
            <a:lstStyle/>
            <a:p>
              <a:endParaRPr lang="en-GB" sz="2400"/>
            </a:p>
          </p:txBody>
        </p:sp>
      </p:grpSp>
      <p:sp>
        <p:nvSpPr>
          <p:cNvPr id="35" name="Text 3">
            <a:extLst>
              <a:ext uri="{FF2B5EF4-FFF2-40B4-BE49-F238E27FC236}">
                <a16:creationId xmlns:a16="http://schemas.microsoft.com/office/drawing/2014/main" id="{BA8E082C-FB1D-E1B0-0FEC-FF6027CC36C2}"/>
              </a:ext>
            </a:extLst>
          </p:cNvPr>
          <p:cNvSpPr/>
          <p:nvPr/>
        </p:nvSpPr>
        <p:spPr>
          <a:xfrm>
            <a:off x="3400790" y="3428069"/>
            <a:ext cx="7868887" cy="426720"/>
          </a:xfrm>
          <a:prstGeom prst="rect">
            <a:avLst/>
          </a:prstGeom>
          <a:noFill/>
          <a:ln/>
        </p:spPr>
        <p:txBody>
          <a:bodyPr wrap="square" rtlCol="0" anchor="ctr"/>
          <a:lstStyle/>
          <a:p>
            <a:r>
              <a:rPr lang="en-US" sz="1867" b="1" dirty="0">
                <a:solidFill>
                  <a:srgbClr val="0D9488"/>
                </a:solidFill>
                <a:latin typeface="Arial" pitchFamily="34" charset="0"/>
                <a:ea typeface="Arial" pitchFamily="34" charset="-122"/>
                <a:cs typeface="Arial" pitchFamily="34" charset="-120"/>
              </a:rPr>
              <a:t>Research and Professional Experience</a:t>
            </a:r>
            <a:endParaRPr lang="en-US" sz="1867" dirty="0"/>
          </a:p>
        </p:txBody>
      </p:sp>
      <p:sp>
        <p:nvSpPr>
          <p:cNvPr id="36" name="Text 4">
            <a:extLst>
              <a:ext uri="{FF2B5EF4-FFF2-40B4-BE49-F238E27FC236}">
                <a16:creationId xmlns:a16="http://schemas.microsoft.com/office/drawing/2014/main" id="{74BBCC68-329B-CD4B-60E2-DE0E1A96A718}"/>
              </a:ext>
            </a:extLst>
          </p:cNvPr>
          <p:cNvSpPr/>
          <p:nvPr/>
        </p:nvSpPr>
        <p:spPr>
          <a:xfrm>
            <a:off x="3400792" y="3624501"/>
            <a:ext cx="7878181" cy="2053179"/>
          </a:xfrm>
          <a:prstGeom prst="rect">
            <a:avLst/>
          </a:prstGeom>
          <a:noFill/>
          <a:ln/>
        </p:spPr>
        <p:txBody>
          <a:bodyPr wrap="square" rtlCol="0" anchor="ctr"/>
          <a:lstStyle/>
          <a:p>
            <a:pPr marL="380990" indent="-380990">
              <a:buFont typeface="Arial" panose="020B0604020202020204" pitchFamily="34" charset="0"/>
              <a:buChar char="•"/>
            </a:pPr>
            <a:r>
              <a:rPr lang="en-US" sz="1867" dirty="0">
                <a:solidFill>
                  <a:srgbClr val="1E293B"/>
                </a:solidFill>
                <a:latin typeface="Arial" pitchFamily="34" charset="0"/>
                <a:ea typeface="Arial" pitchFamily="34" charset="-122"/>
                <a:cs typeface="Arial" pitchFamily="34" charset="-120"/>
              </a:rPr>
              <a:t>Professor at the School of Computing and Artificial Intelligence, Faculty of Engineering and Technology, Sunway University, Malaysia</a:t>
            </a:r>
          </a:p>
          <a:p>
            <a:pPr marL="380990" indent="-380990">
              <a:buFont typeface="Arial" panose="020B0604020202020204" pitchFamily="34" charset="0"/>
              <a:buChar char="•"/>
            </a:pPr>
            <a:r>
              <a:rPr lang="en-US" sz="1867" dirty="0">
                <a:solidFill>
                  <a:srgbClr val="1E293B"/>
                </a:solidFill>
                <a:latin typeface="Arial" pitchFamily="34" charset="0"/>
                <a:ea typeface="Arial" pitchFamily="34" charset="-122"/>
                <a:cs typeface="Arial" pitchFamily="34" charset="-120"/>
              </a:rPr>
              <a:t>Adjunct Professor, VIT Chennai Campus, India</a:t>
            </a:r>
          </a:p>
          <a:p>
            <a:pPr marL="380990" indent="-380990">
              <a:buFont typeface="Arial" panose="020B0604020202020204" pitchFamily="34" charset="0"/>
              <a:buChar char="•"/>
            </a:pPr>
            <a:r>
              <a:rPr lang="en-US" sz="1867" dirty="0">
                <a:solidFill>
                  <a:srgbClr val="1E293B"/>
                </a:solidFill>
                <a:latin typeface="Arial" pitchFamily="34" charset="0"/>
                <a:ea typeface="Arial" pitchFamily="34" charset="-122"/>
                <a:cs typeface="Arial" pitchFamily="34" charset="-120"/>
              </a:rPr>
              <a:t>Vice Chair/Chair-elect, IEEE Computer Society Malaysia Chapter</a:t>
            </a:r>
          </a:p>
          <a:p>
            <a:pPr marL="380990" indent="-380990">
              <a:buFont typeface="Arial" panose="020B0604020202020204" pitchFamily="34" charset="0"/>
              <a:buChar char="•"/>
            </a:pPr>
            <a:r>
              <a:rPr lang="en-US" sz="1867" dirty="0">
                <a:solidFill>
                  <a:srgbClr val="1E293B"/>
                </a:solidFill>
                <a:latin typeface="Arial" pitchFamily="34" charset="0"/>
                <a:ea typeface="Arial" pitchFamily="34" charset="-122"/>
                <a:cs typeface="Arial" pitchFamily="34" charset="-120"/>
              </a:rPr>
              <a:t>Previously</a:t>
            </a:r>
          </a:p>
          <a:p>
            <a:pPr marL="990575" lvl="1" indent="-380990">
              <a:buFont typeface="Arial" panose="020B0604020202020204" pitchFamily="34" charset="0"/>
              <a:buChar char="•"/>
            </a:pPr>
            <a:r>
              <a:rPr lang="en-US" sz="1867" dirty="0">
                <a:solidFill>
                  <a:srgbClr val="1E293B"/>
                </a:solidFill>
                <a:latin typeface="Arial" pitchFamily="34" charset="0"/>
                <a:ea typeface="Arial" pitchFamily="34" charset="-122"/>
                <a:cs typeface="Arial" pitchFamily="34" charset="-120"/>
              </a:rPr>
              <a:t>Researcher at </a:t>
            </a:r>
            <a:r>
              <a:rPr lang="en-US" sz="1867" dirty="0" err="1">
                <a:solidFill>
                  <a:srgbClr val="1E293B"/>
                </a:solidFill>
                <a:latin typeface="Arial" pitchFamily="34" charset="0"/>
                <a:ea typeface="Arial" pitchFamily="34" charset="-122"/>
                <a:cs typeface="Arial" pitchFamily="34" charset="-120"/>
              </a:rPr>
              <a:t>ComTec</a:t>
            </a:r>
            <a:r>
              <a:rPr lang="en-US" sz="1867" dirty="0">
                <a:solidFill>
                  <a:srgbClr val="1E293B"/>
                </a:solidFill>
                <a:latin typeface="Arial" pitchFamily="34" charset="0"/>
                <a:ea typeface="Arial" pitchFamily="34" charset="-122"/>
                <a:cs typeface="Arial" pitchFamily="34" charset="-120"/>
              </a:rPr>
              <a:t>, University of Kassel</a:t>
            </a:r>
          </a:p>
        </p:txBody>
      </p:sp>
      <p:grpSp>
        <p:nvGrpSpPr>
          <p:cNvPr id="42" name="Group 41">
            <a:extLst>
              <a:ext uri="{FF2B5EF4-FFF2-40B4-BE49-F238E27FC236}">
                <a16:creationId xmlns:a16="http://schemas.microsoft.com/office/drawing/2014/main" id="{61906AAE-B58F-4B3A-481A-51D18A28524C}"/>
              </a:ext>
            </a:extLst>
          </p:cNvPr>
          <p:cNvGrpSpPr/>
          <p:nvPr/>
        </p:nvGrpSpPr>
        <p:grpSpPr>
          <a:xfrm>
            <a:off x="1017873" y="5789065"/>
            <a:ext cx="10156255" cy="994027"/>
            <a:chOff x="601020" y="4325524"/>
            <a:chExt cx="7906026" cy="817976"/>
          </a:xfrm>
        </p:grpSpPr>
        <p:pic>
          <p:nvPicPr>
            <p:cNvPr id="38" name="Picture 4" descr="UNIMAS Official Website">
              <a:extLst>
                <a:ext uri="{FF2B5EF4-FFF2-40B4-BE49-F238E27FC236}">
                  <a16:creationId xmlns:a16="http://schemas.microsoft.com/office/drawing/2014/main" id="{42D4BCD0-BA15-2CE8-D693-FDE258BD18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020" y="4542497"/>
              <a:ext cx="808709" cy="384031"/>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10">
              <a:extLst>
                <a:ext uri="{FF2B5EF4-FFF2-40B4-BE49-F238E27FC236}">
                  <a16:creationId xmlns:a16="http://schemas.microsoft.com/office/drawing/2014/main" id="{5C8796F9-38D8-EEB5-67CF-7A68C6EA87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7599" y="4542515"/>
              <a:ext cx="1783354" cy="383994"/>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IEEE Computer Society">
              <a:extLst>
                <a:ext uri="{FF2B5EF4-FFF2-40B4-BE49-F238E27FC236}">
                  <a16:creationId xmlns:a16="http://schemas.microsoft.com/office/drawing/2014/main" id="{ECBA650E-E294-EA41-7CEB-1B70725A61F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87065" y="4542516"/>
              <a:ext cx="1119981" cy="383993"/>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0" descr="A logo of a university of engineering and technology&#10;&#10;AI-generated content may be incorrect.">
              <a:extLst>
                <a:ext uri="{FF2B5EF4-FFF2-40B4-BE49-F238E27FC236}">
                  <a16:creationId xmlns:a16="http://schemas.microsoft.com/office/drawing/2014/main" id="{2790E1C9-171A-0CCA-0781-9323F58FF55D}"/>
                </a:ext>
              </a:extLst>
            </p:cNvPr>
            <p:cNvPicPr>
              <a:picLocks noChangeAspect="1"/>
            </p:cNvPicPr>
            <p:nvPr/>
          </p:nvPicPr>
          <p:blipFill>
            <a:blip r:embed="rId6"/>
            <a:stretch>
              <a:fillRect/>
            </a:stretch>
          </p:blipFill>
          <p:spPr>
            <a:xfrm>
              <a:off x="4148823" y="4325524"/>
              <a:ext cx="1078626" cy="817976"/>
            </a:xfrm>
            <a:prstGeom prst="rect">
              <a:avLst/>
            </a:prstGeom>
          </p:spPr>
        </p:pic>
        <p:pic>
          <p:nvPicPr>
            <p:cNvPr id="1026" name="Picture 2" descr="VIT Chennai | LinkedIn">
              <a:extLst>
                <a:ext uri="{FF2B5EF4-FFF2-40B4-BE49-F238E27FC236}">
                  <a16:creationId xmlns:a16="http://schemas.microsoft.com/office/drawing/2014/main" id="{C28D6492-950A-F999-2277-519F547F1F01}"/>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31166" b="29968"/>
            <a:stretch>
              <a:fillRect/>
            </a:stretch>
          </p:blipFill>
          <p:spPr bwMode="auto">
            <a:xfrm>
              <a:off x="5705319" y="4500568"/>
              <a:ext cx="1203876" cy="467888"/>
            </a:xfrm>
            <a:prstGeom prst="rect">
              <a:avLst/>
            </a:prstGeom>
            <a:noFill/>
            <a:extLst>
              <a:ext uri="{909E8E84-426E-40DD-AFC4-6F175D3DCCD1}">
                <a14:hiddenFill xmlns:a14="http://schemas.microsoft.com/office/drawing/2010/main">
                  <a:solidFill>
                    <a:srgbClr val="FFFFFF"/>
                  </a:solidFill>
                </a14:hiddenFill>
              </a:ext>
            </a:extLst>
          </p:spPr>
        </p:pic>
      </p:grpSp>
      <p:pic>
        <p:nvPicPr>
          <p:cNvPr id="45" name="Picture 44" descr="A person in a suit and tie&#10;&#10;Description automatically generated">
            <a:extLst>
              <a:ext uri="{FF2B5EF4-FFF2-40B4-BE49-F238E27FC236}">
                <a16:creationId xmlns:a16="http://schemas.microsoft.com/office/drawing/2014/main" id="{40669703-69A4-27E0-C5CD-6B80FC38305D}"/>
              </a:ext>
            </a:extLst>
          </p:cNvPr>
          <p:cNvPicPr>
            <a:picLocks noChangeAspect="1"/>
          </p:cNvPicPr>
          <p:nvPr/>
        </p:nvPicPr>
        <p:blipFill>
          <a:blip r:embed="rId8">
            <a:extLst>
              <a:ext uri="{28A0092B-C50C-407E-A947-70E740481C1C}">
                <a14:useLocalDpi xmlns:a14="http://schemas.microsoft.com/office/drawing/2010/main" val="0"/>
              </a:ext>
            </a:extLst>
          </a:blip>
          <a:srcRect l="324" t="4210" b="16049"/>
          <a:stretch>
            <a:fillRect/>
          </a:stretch>
        </p:blipFill>
        <p:spPr>
          <a:xfrm>
            <a:off x="609600" y="2125325"/>
            <a:ext cx="2206360" cy="2206360"/>
          </a:xfrm>
          <a:custGeom>
            <a:avLst/>
            <a:gdLst>
              <a:gd name="connsiteX0" fmla="*/ 1440000 w 2880000"/>
              <a:gd name="connsiteY0" fmla="*/ 0 h 2880000"/>
              <a:gd name="connsiteX1" fmla="*/ 2880000 w 2880000"/>
              <a:gd name="connsiteY1" fmla="*/ 1440000 h 2880000"/>
              <a:gd name="connsiteX2" fmla="*/ 1440000 w 2880000"/>
              <a:gd name="connsiteY2" fmla="*/ 2880000 h 2880000"/>
              <a:gd name="connsiteX3" fmla="*/ 0 w 2880000"/>
              <a:gd name="connsiteY3" fmla="*/ 1440000 h 2880000"/>
              <a:gd name="connsiteX4" fmla="*/ 1440000 w 2880000"/>
              <a:gd name="connsiteY4" fmla="*/ 0 h 288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000" h="2880000">
                <a:moveTo>
                  <a:pt x="1440000" y="0"/>
                </a:moveTo>
                <a:cubicBezTo>
                  <a:pt x="2235290" y="0"/>
                  <a:pt x="2880000" y="644710"/>
                  <a:pt x="2880000" y="1440000"/>
                </a:cubicBezTo>
                <a:cubicBezTo>
                  <a:pt x="2880000" y="2235290"/>
                  <a:pt x="2235290" y="2880000"/>
                  <a:pt x="1440000" y="2880000"/>
                </a:cubicBezTo>
                <a:cubicBezTo>
                  <a:pt x="644710" y="2880000"/>
                  <a:pt x="0" y="2235290"/>
                  <a:pt x="0" y="1440000"/>
                </a:cubicBezTo>
                <a:cubicBezTo>
                  <a:pt x="0" y="644710"/>
                  <a:pt x="644710" y="0"/>
                  <a:pt x="1440000" y="0"/>
                </a:cubicBezTo>
                <a:close/>
              </a:path>
            </a:pathLst>
          </a:custGeom>
        </p:spPr>
      </p:pic>
    </p:spTree>
    <p:extLst>
      <p:ext uri="{BB962C8B-B14F-4D97-AF65-F5344CB8AC3E}">
        <p14:creationId xmlns:p14="http://schemas.microsoft.com/office/powerpoint/2010/main" val="1262540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1E3A5F"/>
          </a:solidFill>
          <a:ln w="12700">
            <a:solidFill>
              <a:srgbClr val="1E3A5F"/>
            </a:solidFill>
            <a:prstDash val="solid"/>
          </a:ln>
        </p:spPr>
        <p:txBody>
          <a:bodyPr/>
          <a:lstStyle/>
          <a:p>
            <a:endParaRPr lang="en-GB"/>
          </a:p>
        </p:txBody>
      </p:sp>
      <p:sp>
        <p:nvSpPr>
          <p:cNvPr id="3" name="Shape 1"/>
          <p:cNvSpPr/>
          <p:nvPr/>
        </p:nvSpPr>
        <p:spPr>
          <a:xfrm>
            <a:off x="0" y="0"/>
            <a:ext cx="2377440" cy="164592"/>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457200" y="292608"/>
            <a:ext cx="10972800" cy="320040"/>
          </a:xfrm>
          <a:prstGeom prst="rect">
            <a:avLst/>
          </a:prstGeom>
          <a:noFill/>
          <a:ln/>
        </p:spPr>
        <p:txBody>
          <a:bodyPr wrap="square" rtlCol="0" anchor="ctr"/>
          <a:lstStyle/>
          <a:p>
            <a:pPr marL="0" indent="0">
              <a:buNone/>
            </a:pPr>
            <a:r>
              <a:rPr lang="en-US" sz="1100" b="1" kern="0" spc="400" dirty="0">
                <a:solidFill>
                  <a:srgbClr val="F77F00"/>
                </a:solidFill>
                <a:latin typeface="Calibri" pitchFamily="34" charset="0"/>
                <a:ea typeface="Calibri" pitchFamily="34" charset="-122"/>
                <a:cs typeface="Calibri" pitchFamily="34" charset="-120"/>
              </a:rPr>
              <a:t>AGENDA</a:t>
            </a:r>
            <a:endParaRPr lang="en-US" sz="1100" dirty="0"/>
          </a:p>
        </p:txBody>
      </p:sp>
      <p:sp>
        <p:nvSpPr>
          <p:cNvPr id="5" name="Text 3"/>
          <p:cNvSpPr/>
          <p:nvPr/>
        </p:nvSpPr>
        <p:spPr>
          <a:xfrm>
            <a:off x="457200" y="594360"/>
            <a:ext cx="11247120" cy="777240"/>
          </a:xfrm>
          <a:prstGeom prst="rect">
            <a:avLst/>
          </a:prstGeom>
          <a:noFill/>
          <a:ln/>
        </p:spPr>
        <p:txBody>
          <a:bodyPr wrap="square" lIns="0" tIns="0" rIns="0" bIns="0" rtlCol="0" anchor="ctr"/>
          <a:lstStyle/>
          <a:p>
            <a:pPr marL="0" indent="0">
              <a:buNone/>
            </a:pPr>
            <a:r>
              <a:rPr lang="en-US" sz="3000" b="1" dirty="0">
                <a:solidFill>
                  <a:srgbClr val="0F2440"/>
                </a:solidFill>
                <a:latin typeface="Calibri" pitchFamily="34" charset="0"/>
                <a:ea typeface="Calibri" pitchFamily="34" charset="-122"/>
                <a:cs typeface="Calibri" pitchFamily="34" charset="-120"/>
              </a:rPr>
              <a:t>What we'll do today</a:t>
            </a:r>
            <a:endParaRPr lang="en-US" sz="3000" dirty="0"/>
          </a:p>
        </p:txBody>
      </p:sp>
      <p:sp>
        <p:nvSpPr>
          <p:cNvPr id="6" name="Shape 4"/>
          <p:cNvSpPr/>
          <p:nvPr/>
        </p:nvSpPr>
        <p:spPr>
          <a:xfrm>
            <a:off x="457200" y="137160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2 / 35</a:t>
            </a:r>
            <a:endParaRPr lang="en-US" sz="900" dirty="0"/>
          </a:p>
        </p:txBody>
      </p:sp>
      <p:sp>
        <p:nvSpPr>
          <p:cNvPr id="10" name="Shape 8"/>
          <p:cNvSpPr/>
          <p:nvPr/>
        </p:nvSpPr>
        <p:spPr>
          <a:xfrm>
            <a:off x="548640" y="1737360"/>
            <a:ext cx="777240" cy="411480"/>
          </a:xfrm>
          <a:prstGeom prst="ellipse">
            <a:avLst/>
          </a:prstGeom>
          <a:solidFill>
            <a:srgbClr val="F77F00"/>
          </a:solidFill>
          <a:ln w="12700">
            <a:solidFill>
              <a:srgbClr val="F77F00"/>
            </a:solidFill>
            <a:prstDash val="solid"/>
          </a:ln>
        </p:spPr>
        <p:txBody>
          <a:bodyPr/>
          <a:lstStyle/>
          <a:p>
            <a:endParaRPr lang="en-GB"/>
          </a:p>
        </p:txBody>
      </p:sp>
      <p:sp>
        <p:nvSpPr>
          <p:cNvPr id="11" name="Text 9"/>
          <p:cNvSpPr/>
          <p:nvPr/>
        </p:nvSpPr>
        <p:spPr>
          <a:xfrm>
            <a:off x="548640" y="1737360"/>
            <a:ext cx="77724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0:00</a:t>
            </a:r>
            <a:endParaRPr lang="en-US" sz="1100" dirty="0"/>
          </a:p>
        </p:txBody>
      </p:sp>
      <p:sp>
        <p:nvSpPr>
          <p:cNvPr id="12" name="Text 10"/>
          <p:cNvSpPr/>
          <p:nvPr/>
        </p:nvSpPr>
        <p:spPr>
          <a:xfrm>
            <a:off x="1554480" y="1691640"/>
            <a:ext cx="4114800" cy="502920"/>
          </a:xfrm>
          <a:prstGeom prst="rect">
            <a:avLst/>
          </a:prstGeom>
          <a:noFill/>
          <a:ln/>
        </p:spPr>
        <p:txBody>
          <a:bodyPr wrap="square" lIns="0" tIns="0" rIns="0" bIns="0" rtlCol="0" anchor="ctr"/>
          <a:lstStyle/>
          <a:p>
            <a:pPr marL="0" indent="0">
              <a:buNone/>
            </a:pPr>
            <a:r>
              <a:rPr lang="en-US" sz="1500" b="1" dirty="0">
                <a:solidFill>
                  <a:srgbClr val="0F2440"/>
                </a:solidFill>
                <a:latin typeface="Calibri" pitchFamily="34" charset="0"/>
                <a:ea typeface="Calibri" pitchFamily="34" charset="-122"/>
                <a:cs typeface="Calibri" pitchFamily="34" charset="-120"/>
              </a:rPr>
              <a:t>Recap &amp; framing</a:t>
            </a:r>
            <a:endParaRPr lang="en-US" sz="1500" dirty="0"/>
          </a:p>
        </p:txBody>
      </p:sp>
      <p:sp>
        <p:nvSpPr>
          <p:cNvPr id="13" name="Text 11"/>
          <p:cNvSpPr/>
          <p:nvPr/>
        </p:nvSpPr>
        <p:spPr>
          <a:xfrm>
            <a:off x="5760720" y="1691640"/>
            <a:ext cx="6126480" cy="502920"/>
          </a:xfrm>
          <a:prstGeom prst="rect">
            <a:avLst/>
          </a:prstGeom>
          <a:noFill/>
          <a:ln/>
        </p:spPr>
        <p:txBody>
          <a:bodyPr wrap="square" lIns="0" tIns="0" rIns="0" bIns="0" rtlCol="0" anchor="ctr"/>
          <a:lstStyle/>
          <a:p>
            <a:pPr marL="0" indent="0">
              <a:buNone/>
            </a:pPr>
            <a:r>
              <a:rPr lang="en-US" sz="1200" dirty="0">
                <a:solidFill>
                  <a:srgbClr val="6C757D"/>
                </a:solidFill>
                <a:latin typeface="Calibri" pitchFamily="34" charset="0"/>
                <a:ea typeface="Calibri" pitchFamily="34" charset="-122"/>
                <a:cs typeface="Calibri" pitchFamily="34" charset="-120"/>
              </a:rPr>
              <a:t>Last week's transformers + classification basics; where today fits</a:t>
            </a:r>
            <a:endParaRPr lang="en-US" sz="1200" dirty="0"/>
          </a:p>
        </p:txBody>
      </p:sp>
      <p:sp>
        <p:nvSpPr>
          <p:cNvPr id="14" name="Shape 12"/>
          <p:cNvSpPr/>
          <p:nvPr/>
        </p:nvSpPr>
        <p:spPr>
          <a:xfrm>
            <a:off x="548640" y="2331720"/>
            <a:ext cx="777240" cy="411480"/>
          </a:xfrm>
          <a:prstGeom prst="ellipse">
            <a:avLst/>
          </a:prstGeom>
          <a:solidFill>
            <a:srgbClr val="F77F00"/>
          </a:solidFill>
          <a:ln w="12700">
            <a:solidFill>
              <a:srgbClr val="F77F00"/>
            </a:solidFill>
            <a:prstDash val="solid"/>
          </a:ln>
        </p:spPr>
        <p:txBody>
          <a:bodyPr/>
          <a:lstStyle/>
          <a:p>
            <a:endParaRPr lang="en-GB"/>
          </a:p>
        </p:txBody>
      </p:sp>
      <p:sp>
        <p:nvSpPr>
          <p:cNvPr id="15" name="Text 13"/>
          <p:cNvSpPr/>
          <p:nvPr/>
        </p:nvSpPr>
        <p:spPr>
          <a:xfrm>
            <a:off x="548640" y="2331720"/>
            <a:ext cx="77724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0:10</a:t>
            </a:r>
            <a:endParaRPr lang="en-US" sz="1100" dirty="0"/>
          </a:p>
        </p:txBody>
      </p:sp>
      <p:sp>
        <p:nvSpPr>
          <p:cNvPr id="16" name="Text 14"/>
          <p:cNvSpPr/>
          <p:nvPr/>
        </p:nvSpPr>
        <p:spPr>
          <a:xfrm>
            <a:off x="1554480" y="2286000"/>
            <a:ext cx="4114800" cy="502920"/>
          </a:xfrm>
          <a:prstGeom prst="rect">
            <a:avLst/>
          </a:prstGeom>
          <a:noFill/>
          <a:ln/>
        </p:spPr>
        <p:txBody>
          <a:bodyPr wrap="square" lIns="0" tIns="0" rIns="0" bIns="0" rtlCol="0" anchor="ctr"/>
          <a:lstStyle/>
          <a:p>
            <a:pPr marL="0" indent="0">
              <a:buNone/>
            </a:pPr>
            <a:r>
              <a:rPr lang="en-US" sz="1500" b="1" dirty="0">
                <a:solidFill>
                  <a:srgbClr val="0F2440"/>
                </a:solidFill>
                <a:latin typeface="Calibri" pitchFamily="34" charset="0"/>
                <a:ea typeface="Calibri" pitchFamily="34" charset="-122"/>
                <a:cs typeface="Calibri" pitchFamily="34" charset="-120"/>
              </a:rPr>
              <a:t>Build a classification system</a:t>
            </a:r>
            <a:endParaRPr lang="en-US" sz="1500" dirty="0"/>
          </a:p>
        </p:txBody>
      </p:sp>
      <p:sp>
        <p:nvSpPr>
          <p:cNvPr id="17" name="Text 15"/>
          <p:cNvSpPr/>
          <p:nvPr/>
        </p:nvSpPr>
        <p:spPr>
          <a:xfrm>
            <a:off x="5760720" y="2286000"/>
            <a:ext cx="6126480" cy="502920"/>
          </a:xfrm>
          <a:prstGeom prst="rect">
            <a:avLst/>
          </a:prstGeom>
          <a:noFill/>
          <a:ln/>
        </p:spPr>
        <p:txBody>
          <a:bodyPr wrap="square" lIns="0" tIns="0" rIns="0" bIns="0" rtlCol="0" anchor="ctr"/>
          <a:lstStyle/>
          <a:p>
            <a:pPr marL="0" indent="0">
              <a:buNone/>
            </a:pPr>
            <a:r>
              <a:rPr lang="en-US" sz="1200" dirty="0">
                <a:solidFill>
                  <a:srgbClr val="6C757D"/>
                </a:solidFill>
                <a:latin typeface="Calibri" pitchFamily="34" charset="0"/>
                <a:ea typeface="Calibri" pitchFamily="34" charset="-122"/>
                <a:cs typeface="Calibri" pitchFamily="34" charset="-120"/>
              </a:rPr>
              <a:t>Pipeline → preprocessing (Sastrawi) → TF-IDF → Logistic Regression</a:t>
            </a:r>
            <a:endParaRPr lang="en-US" sz="1200" dirty="0"/>
          </a:p>
        </p:txBody>
      </p:sp>
      <p:sp>
        <p:nvSpPr>
          <p:cNvPr id="18" name="Shape 16"/>
          <p:cNvSpPr/>
          <p:nvPr/>
        </p:nvSpPr>
        <p:spPr>
          <a:xfrm>
            <a:off x="548640" y="2926080"/>
            <a:ext cx="777240" cy="411480"/>
          </a:xfrm>
          <a:prstGeom prst="ellipse">
            <a:avLst/>
          </a:prstGeom>
          <a:solidFill>
            <a:srgbClr val="F77F00"/>
          </a:solidFill>
          <a:ln w="12700">
            <a:solidFill>
              <a:srgbClr val="F77F00"/>
            </a:solidFill>
            <a:prstDash val="solid"/>
          </a:ln>
        </p:spPr>
        <p:txBody>
          <a:bodyPr/>
          <a:lstStyle/>
          <a:p>
            <a:endParaRPr lang="en-GB"/>
          </a:p>
        </p:txBody>
      </p:sp>
      <p:sp>
        <p:nvSpPr>
          <p:cNvPr id="19" name="Text 17"/>
          <p:cNvSpPr/>
          <p:nvPr/>
        </p:nvSpPr>
        <p:spPr>
          <a:xfrm>
            <a:off x="548640" y="2926080"/>
            <a:ext cx="77724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0:25</a:t>
            </a:r>
            <a:endParaRPr lang="en-US" sz="1100" dirty="0"/>
          </a:p>
        </p:txBody>
      </p:sp>
      <p:sp>
        <p:nvSpPr>
          <p:cNvPr id="20" name="Text 18"/>
          <p:cNvSpPr/>
          <p:nvPr/>
        </p:nvSpPr>
        <p:spPr>
          <a:xfrm>
            <a:off x="1554480" y="2880360"/>
            <a:ext cx="4114800" cy="502920"/>
          </a:xfrm>
          <a:prstGeom prst="rect">
            <a:avLst/>
          </a:prstGeom>
          <a:noFill/>
          <a:ln/>
        </p:spPr>
        <p:txBody>
          <a:bodyPr wrap="square" lIns="0" tIns="0" rIns="0" bIns="0" rtlCol="0" anchor="ctr"/>
          <a:lstStyle/>
          <a:p>
            <a:pPr marL="0" indent="0">
              <a:buNone/>
            </a:pPr>
            <a:r>
              <a:rPr lang="en-US" sz="1500" b="1" dirty="0">
                <a:solidFill>
                  <a:srgbClr val="0F2440"/>
                </a:solidFill>
                <a:latin typeface="Calibri" pitchFamily="34" charset="0"/>
                <a:ea typeface="Calibri" pitchFamily="34" charset="-122"/>
                <a:cs typeface="Calibri" pitchFamily="34" charset="-120"/>
              </a:rPr>
              <a:t>Cross-Validation</a:t>
            </a:r>
            <a:endParaRPr lang="en-US" sz="1500" dirty="0"/>
          </a:p>
        </p:txBody>
      </p:sp>
      <p:sp>
        <p:nvSpPr>
          <p:cNvPr id="21" name="Text 19"/>
          <p:cNvSpPr/>
          <p:nvPr/>
        </p:nvSpPr>
        <p:spPr>
          <a:xfrm>
            <a:off x="5760720" y="2880360"/>
            <a:ext cx="6126480" cy="502920"/>
          </a:xfrm>
          <a:prstGeom prst="rect">
            <a:avLst/>
          </a:prstGeom>
          <a:noFill/>
          <a:ln/>
        </p:spPr>
        <p:txBody>
          <a:bodyPr wrap="square" lIns="0" tIns="0" rIns="0" bIns="0" rtlCol="0" anchor="ctr"/>
          <a:lstStyle/>
          <a:p>
            <a:pPr marL="0" indent="0">
              <a:buNone/>
            </a:pPr>
            <a:r>
              <a:rPr lang="en-US" sz="1200" dirty="0">
                <a:solidFill>
                  <a:srgbClr val="6C757D"/>
                </a:solidFill>
                <a:latin typeface="Calibri" pitchFamily="34" charset="0"/>
                <a:ea typeface="Calibri" pitchFamily="34" charset="-122"/>
                <a:cs typeface="Calibri" pitchFamily="34" charset="-120"/>
              </a:rPr>
              <a:t>Why one test split lies; K-fold in 12 lines of code</a:t>
            </a:r>
            <a:endParaRPr lang="en-US" sz="1200" dirty="0"/>
          </a:p>
        </p:txBody>
      </p:sp>
      <p:sp>
        <p:nvSpPr>
          <p:cNvPr id="22" name="Shape 20"/>
          <p:cNvSpPr/>
          <p:nvPr/>
        </p:nvSpPr>
        <p:spPr>
          <a:xfrm>
            <a:off x="548640" y="3520440"/>
            <a:ext cx="777240" cy="411480"/>
          </a:xfrm>
          <a:prstGeom prst="ellipse">
            <a:avLst/>
          </a:prstGeom>
          <a:solidFill>
            <a:srgbClr val="F77F00"/>
          </a:solidFill>
          <a:ln w="12700">
            <a:solidFill>
              <a:srgbClr val="F77F00"/>
            </a:solidFill>
            <a:prstDash val="solid"/>
          </a:ln>
        </p:spPr>
        <p:txBody>
          <a:bodyPr/>
          <a:lstStyle/>
          <a:p>
            <a:endParaRPr lang="en-GB"/>
          </a:p>
        </p:txBody>
      </p:sp>
      <p:sp>
        <p:nvSpPr>
          <p:cNvPr id="23" name="Text 21"/>
          <p:cNvSpPr/>
          <p:nvPr/>
        </p:nvSpPr>
        <p:spPr>
          <a:xfrm>
            <a:off x="548640" y="3520440"/>
            <a:ext cx="77724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0:35</a:t>
            </a:r>
            <a:endParaRPr lang="en-US" sz="1100" dirty="0"/>
          </a:p>
        </p:txBody>
      </p:sp>
      <p:sp>
        <p:nvSpPr>
          <p:cNvPr id="24" name="Text 22"/>
          <p:cNvSpPr/>
          <p:nvPr/>
        </p:nvSpPr>
        <p:spPr>
          <a:xfrm>
            <a:off x="1554480" y="3474720"/>
            <a:ext cx="4114800" cy="502920"/>
          </a:xfrm>
          <a:prstGeom prst="rect">
            <a:avLst/>
          </a:prstGeom>
          <a:noFill/>
          <a:ln/>
        </p:spPr>
        <p:txBody>
          <a:bodyPr wrap="square" lIns="0" tIns="0" rIns="0" bIns="0" rtlCol="0" anchor="ctr"/>
          <a:lstStyle/>
          <a:p>
            <a:pPr marL="0" indent="0">
              <a:buNone/>
            </a:pPr>
            <a:r>
              <a:rPr lang="en-US" sz="1500" b="1" dirty="0">
                <a:solidFill>
                  <a:srgbClr val="0F2440"/>
                </a:solidFill>
                <a:latin typeface="Calibri" pitchFamily="34" charset="0"/>
                <a:ea typeface="Calibri" pitchFamily="34" charset="-122"/>
                <a:cs typeface="Calibri" pitchFamily="34" charset="-120"/>
              </a:rPr>
              <a:t>Feature Importance</a:t>
            </a:r>
            <a:endParaRPr lang="en-US" sz="1500" dirty="0"/>
          </a:p>
        </p:txBody>
      </p:sp>
      <p:sp>
        <p:nvSpPr>
          <p:cNvPr id="25" name="Text 23"/>
          <p:cNvSpPr/>
          <p:nvPr/>
        </p:nvSpPr>
        <p:spPr>
          <a:xfrm>
            <a:off x="5760720" y="3474720"/>
            <a:ext cx="6126480" cy="502920"/>
          </a:xfrm>
          <a:prstGeom prst="rect">
            <a:avLst/>
          </a:prstGeom>
          <a:noFill/>
          <a:ln/>
        </p:spPr>
        <p:txBody>
          <a:bodyPr wrap="square" lIns="0" tIns="0" rIns="0" bIns="0" rtlCol="0" anchor="ctr"/>
          <a:lstStyle/>
          <a:p>
            <a:pPr marL="0" indent="0">
              <a:buNone/>
            </a:pPr>
            <a:r>
              <a:rPr lang="en-US" sz="1200" dirty="0">
                <a:solidFill>
                  <a:srgbClr val="6C757D"/>
                </a:solidFill>
                <a:latin typeface="Calibri" pitchFamily="34" charset="0"/>
                <a:ea typeface="Calibri" pitchFamily="34" charset="-122"/>
                <a:cs typeface="Calibri" pitchFamily="34" charset="-120"/>
              </a:rPr>
              <a:t>Reading the coefficients — which Bahasa words drive sentiment?</a:t>
            </a:r>
            <a:endParaRPr lang="en-US" sz="1200" dirty="0"/>
          </a:p>
        </p:txBody>
      </p:sp>
      <p:sp>
        <p:nvSpPr>
          <p:cNvPr id="26" name="Shape 24"/>
          <p:cNvSpPr/>
          <p:nvPr/>
        </p:nvSpPr>
        <p:spPr>
          <a:xfrm>
            <a:off x="548640" y="4114800"/>
            <a:ext cx="777240" cy="411480"/>
          </a:xfrm>
          <a:prstGeom prst="ellipse">
            <a:avLst/>
          </a:prstGeom>
          <a:solidFill>
            <a:srgbClr val="F77F00"/>
          </a:solidFill>
          <a:ln w="12700">
            <a:solidFill>
              <a:srgbClr val="F77F00"/>
            </a:solidFill>
            <a:prstDash val="solid"/>
          </a:ln>
        </p:spPr>
        <p:txBody>
          <a:bodyPr/>
          <a:lstStyle/>
          <a:p>
            <a:endParaRPr lang="en-GB"/>
          </a:p>
        </p:txBody>
      </p:sp>
      <p:sp>
        <p:nvSpPr>
          <p:cNvPr id="27" name="Text 25"/>
          <p:cNvSpPr/>
          <p:nvPr/>
        </p:nvSpPr>
        <p:spPr>
          <a:xfrm>
            <a:off x="548640" y="4114800"/>
            <a:ext cx="77724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0:45</a:t>
            </a:r>
            <a:endParaRPr lang="en-US" sz="1100" dirty="0"/>
          </a:p>
        </p:txBody>
      </p:sp>
      <p:sp>
        <p:nvSpPr>
          <p:cNvPr id="28" name="Text 26"/>
          <p:cNvSpPr/>
          <p:nvPr/>
        </p:nvSpPr>
        <p:spPr>
          <a:xfrm>
            <a:off x="1554480" y="4069080"/>
            <a:ext cx="4114800" cy="502920"/>
          </a:xfrm>
          <a:prstGeom prst="rect">
            <a:avLst/>
          </a:prstGeom>
          <a:noFill/>
          <a:ln/>
        </p:spPr>
        <p:txBody>
          <a:bodyPr wrap="square" lIns="0" tIns="0" rIns="0" bIns="0" rtlCol="0" anchor="ctr"/>
          <a:lstStyle/>
          <a:p>
            <a:pPr marL="0" indent="0">
              <a:buNone/>
            </a:pPr>
            <a:r>
              <a:rPr lang="en-US" sz="1500" b="1" dirty="0">
                <a:solidFill>
                  <a:srgbClr val="0F2440"/>
                </a:solidFill>
                <a:latin typeface="Calibri" pitchFamily="34" charset="0"/>
                <a:ea typeface="Calibri" pitchFamily="34" charset="-122"/>
                <a:cs typeface="Calibri" pitchFamily="34" charset="-120"/>
              </a:rPr>
              <a:t>GridSearchCV</a:t>
            </a:r>
            <a:endParaRPr lang="en-US" sz="1500" dirty="0"/>
          </a:p>
        </p:txBody>
      </p:sp>
      <p:sp>
        <p:nvSpPr>
          <p:cNvPr id="29" name="Text 27"/>
          <p:cNvSpPr/>
          <p:nvPr/>
        </p:nvSpPr>
        <p:spPr>
          <a:xfrm>
            <a:off x="5760720" y="4069080"/>
            <a:ext cx="6126480" cy="502920"/>
          </a:xfrm>
          <a:prstGeom prst="rect">
            <a:avLst/>
          </a:prstGeom>
          <a:noFill/>
          <a:ln/>
        </p:spPr>
        <p:txBody>
          <a:bodyPr wrap="square" lIns="0" tIns="0" rIns="0" bIns="0" rtlCol="0" anchor="ctr"/>
          <a:lstStyle/>
          <a:p>
            <a:pPr marL="0" indent="0">
              <a:buNone/>
            </a:pPr>
            <a:r>
              <a:rPr lang="en-US" sz="1200" dirty="0">
                <a:solidFill>
                  <a:srgbClr val="6C757D"/>
                </a:solidFill>
                <a:latin typeface="Calibri" pitchFamily="34" charset="0"/>
                <a:ea typeface="Calibri" pitchFamily="34" charset="-122"/>
                <a:cs typeface="Calibri" pitchFamily="34" charset="-120"/>
              </a:rPr>
              <a:t>Tuning min_df, ngram_range, C — without overfitting on the test set</a:t>
            </a:r>
            <a:endParaRPr lang="en-US" sz="1200" dirty="0"/>
          </a:p>
        </p:txBody>
      </p:sp>
      <p:sp>
        <p:nvSpPr>
          <p:cNvPr id="30" name="Shape 28"/>
          <p:cNvSpPr/>
          <p:nvPr/>
        </p:nvSpPr>
        <p:spPr>
          <a:xfrm>
            <a:off x="548640" y="4709160"/>
            <a:ext cx="777240" cy="411480"/>
          </a:xfrm>
          <a:prstGeom prst="ellipse">
            <a:avLst/>
          </a:prstGeom>
          <a:solidFill>
            <a:srgbClr val="F77F00"/>
          </a:solidFill>
          <a:ln w="12700">
            <a:solidFill>
              <a:srgbClr val="F77F00"/>
            </a:solidFill>
            <a:prstDash val="solid"/>
          </a:ln>
        </p:spPr>
        <p:txBody>
          <a:bodyPr/>
          <a:lstStyle/>
          <a:p>
            <a:endParaRPr lang="en-GB"/>
          </a:p>
        </p:txBody>
      </p:sp>
      <p:sp>
        <p:nvSpPr>
          <p:cNvPr id="31" name="Text 29"/>
          <p:cNvSpPr/>
          <p:nvPr/>
        </p:nvSpPr>
        <p:spPr>
          <a:xfrm>
            <a:off x="548640" y="4709160"/>
            <a:ext cx="77724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0:55</a:t>
            </a:r>
            <a:endParaRPr lang="en-US" sz="1100" dirty="0"/>
          </a:p>
        </p:txBody>
      </p:sp>
      <p:sp>
        <p:nvSpPr>
          <p:cNvPr id="32" name="Text 30"/>
          <p:cNvSpPr/>
          <p:nvPr/>
        </p:nvSpPr>
        <p:spPr>
          <a:xfrm>
            <a:off x="1554480" y="4663440"/>
            <a:ext cx="4114800" cy="502920"/>
          </a:xfrm>
          <a:prstGeom prst="rect">
            <a:avLst/>
          </a:prstGeom>
          <a:noFill/>
          <a:ln/>
        </p:spPr>
        <p:txBody>
          <a:bodyPr wrap="square" lIns="0" tIns="0" rIns="0" bIns="0" rtlCol="0" anchor="ctr"/>
          <a:lstStyle/>
          <a:p>
            <a:pPr marL="0" indent="0">
              <a:buNone/>
            </a:pPr>
            <a:r>
              <a:rPr lang="en-US" sz="1500" b="1" dirty="0">
                <a:solidFill>
                  <a:srgbClr val="0F2440"/>
                </a:solidFill>
                <a:latin typeface="Calibri" pitchFamily="34" charset="0"/>
                <a:ea typeface="Calibri" pitchFamily="34" charset="-122"/>
                <a:cs typeface="Calibri" pitchFamily="34" charset="-120"/>
              </a:rPr>
              <a:t>Explaining results with LIME</a:t>
            </a:r>
            <a:endParaRPr lang="en-US" sz="1500" dirty="0"/>
          </a:p>
        </p:txBody>
      </p:sp>
      <p:sp>
        <p:nvSpPr>
          <p:cNvPr id="33" name="Text 31"/>
          <p:cNvSpPr/>
          <p:nvPr/>
        </p:nvSpPr>
        <p:spPr>
          <a:xfrm>
            <a:off x="5760720" y="4663440"/>
            <a:ext cx="6126480" cy="502920"/>
          </a:xfrm>
          <a:prstGeom prst="rect">
            <a:avLst/>
          </a:prstGeom>
          <a:noFill/>
          <a:ln/>
        </p:spPr>
        <p:txBody>
          <a:bodyPr wrap="square" lIns="0" tIns="0" rIns="0" bIns="0" rtlCol="0" anchor="ctr"/>
          <a:lstStyle/>
          <a:p>
            <a:pPr marL="0" indent="0">
              <a:buNone/>
            </a:pPr>
            <a:r>
              <a:rPr lang="en-US" sz="1200" dirty="0">
                <a:solidFill>
                  <a:srgbClr val="6C757D"/>
                </a:solidFill>
                <a:latin typeface="Calibri" pitchFamily="34" charset="0"/>
                <a:ea typeface="Calibri" pitchFamily="34" charset="-122"/>
                <a:cs typeface="Calibri" pitchFamily="34" charset="-120"/>
              </a:rPr>
              <a:t>From last week's Anchors to a richer local explanation</a:t>
            </a:r>
            <a:endParaRPr lang="en-US" sz="1200" dirty="0"/>
          </a:p>
        </p:txBody>
      </p:sp>
      <p:sp>
        <p:nvSpPr>
          <p:cNvPr id="34" name="Shape 32"/>
          <p:cNvSpPr/>
          <p:nvPr/>
        </p:nvSpPr>
        <p:spPr>
          <a:xfrm>
            <a:off x="548640" y="5303520"/>
            <a:ext cx="777240" cy="411480"/>
          </a:xfrm>
          <a:prstGeom prst="ellipse">
            <a:avLst/>
          </a:prstGeom>
          <a:solidFill>
            <a:srgbClr val="F77F00"/>
          </a:solidFill>
          <a:ln w="12700">
            <a:solidFill>
              <a:srgbClr val="F77F00"/>
            </a:solidFill>
            <a:prstDash val="solid"/>
          </a:ln>
        </p:spPr>
        <p:txBody>
          <a:bodyPr/>
          <a:lstStyle/>
          <a:p>
            <a:endParaRPr lang="en-GB"/>
          </a:p>
        </p:txBody>
      </p:sp>
      <p:sp>
        <p:nvSpPr>
          <p:cNvPr id="35" name="Text 33"/>
          <p:cNvSpPr/>
          <p:nvPr/>
        </p:nvSpPr>
        <p:spPr>
          <a:xfrm>
            <a:off x="548640" y="5303520"/>
            <a:ext cx="77724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1:03</a:t>
            </a:r>
            <a:endParaRPr lang="en-US" sz="1100" dirty="0"/>
          </a:p>
        </p:txBody>
      </p:sp>
      <p:sp>
        <p:nvSpPr>
          <p:cNvPr id="36" name="Text 34"/>
          <p:cNvSpPr/>
          <p:nvPr/>
        </p:nvSpPr>
        <p:spPr>
          <a:xfrm>
            <a:off x="1554480" y="5257800"/>
            <a:ext cx="4114800" cy="502920"/>
          </a:xfrm>
          <a:prstGeom prst="rect">
            <a:avLst/>
          </a:prstGeom>
          <a:noFill/>
          <a:ln/>
        </p:spPr>
        <p:txBody>
          <a:bodyPr wrap="square" lIns="0" tIns="0" rIns="0" bIns="0" rtlCol="0" anchor="ctr"/>
          <a:lstStyle/>
          <a:p>
            <a:pPr marL="0" indent="0">
              <a:buNone/>
            </a:pPr>
            <a:r>
              <a:rPr lang="en-US" sz="1500" b="1" dirty="0">
                <a:solidFill>
                  <a:srgbClr val="0F2440"/>
                </a:solidFill>
                <a:latin typeface="Calibri" pitchFamily="34" charset="0"/>
                <a:ea typeface="Calibri" pitchFamily="34" charset="-122"/>
                <a:cs typeface="Calibri" pitchFamily="34" charset="-120"/>
              </a:rPr>
              <a:t>Reflection &amp; Q&amp;A</a:t>
            </a:r>
            <a:endParaRPr lang="en-US" sz="1500" dirty="0"/>
          </a:p>
        </p:txBody>
      </p:sp>
      <p:sp>
        <p:nvSpPr>
          <p:cNvPr id="37" name="Text 35"/>
          <p:cNvSpPr/>
          <p:nvPr/>
        </p:nvSpPr>
        <p:spPr>
          <a:xfrm>
            <a:off x="5760720" y="5257800"/>
            <a:ext cx="6126480" cy="502920"/>
          </a:xfrm>
          <a:prstGeom prst="rect">
            <a:avLst/>
          </a:prstGeom>
          <a:noFill/>
          <a:ln/>
        </p:spPr>
        <p:txBody>
          <a:bodyPr wrap="square" lIns="0" tIns="0" rIns="0" bIns="0" rtlCol="0" anchor="ctr"/>
          <a:lstStyle/>
          <a:p>
            <a:pPr marL="0" indent="0">
              <a:buNone/>
            </a:pPr>
            <a:r>
              <a:rPr lang="en-US" sz="1200" dirty="0">
                <a:solidFill>
                  <a:srgbClr val="6C757D"/>
                </a:solidFill>
                <a:latin typeface="Calibri" pitchFamily="34" charset="0"/>
                <a:ea typeface="Calibri" pitchFamily="34" charset="-122"/>
                <a:cs typeface="Calibri" pitchFamily="34" charset="-120"/>
              </a:rPr>
              <a:t>Live polls, your turn to apply C2 / C3 / C4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1E3A5F"/>
          </a:solidFill>
          <a:ln w="12700">
            <a:solidFill>
              <a:srgbClr val="1E3A5F"/>
            </a:solidFill>
            <a:prstDash val="solid"/>
          </a:ln>
        </p:spPr>
        <p:txBody>
          <a:bodyPr/>
          <a:lstStyle/>
          <a:p>
            <a:endParaRPr lang="en-GB"/>
          </a:p>
        </p:txBody>
      </p:sp>
      <p:sp>
        <p:nvSpPr>
          <p:cNvPr id="3" name="Shape 1"/>
          <p:cNvSpPr/>
          <p:nvPr/>
        </p:nvSpPr>
        <p:spPr>
          <a:xfrm>
            <a:off x="0" y="0"/>
            <a:ext cx="2377440" cy="164592"/>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457200" y="292608"/>
            <a:ext cx="10972800" cy="320040"/>
          </a:xfrm>
          <a:prstGeom prst="rect">
            <a:avLst/>
          </a:prstGeom>
          <a:noFill/>
          <a:ln/>
        </p:spPr>
        <p:txBody>
          <a:bodyPr wrap="square" rtlCol="0" anchor="ctr"/>
          <a:lstStyle/>
          <a:p>
            <a:pPr marL="0" indent="0">
              <a:buNone/>
            </a:pPr>
            <a:r>
              <a:rPr lang="en-US" sz="1100" b="1" kern="0" spc="400" dirty="0">
                <a:solidFill>
                  <a:srgbClr val="F77F00"/>
                </a:solidFill>
                <a:latin typeface="Calibri" pitchFamily="34" charset="0"/>
                <a:ea typeface="Calibri" pitchFamily="34" charset="-122"/>
                <a:cs typeface="Calibri" pitchFamily="34" charset="-120"/>
              </a:rPr>
              <a:t>WHAT YOU SHOULD LEAVE WITH</a:t>
            </a:r>
            <a:endParaRPr lang="en-US" sz="1100" dirty="0"/>
          </a:p>
        </p:txBody>
      </p:sp>
      <p:sp>
        <p:nvSpPr>
          <p:cNvPr id="5" name="Text 3"/>
          <p:cNvSpPr/>
          <p:nvPr/>
        </p:nvSpPr>
        <p:spPr>
          <a:xfrm>
            <a:off x="457200" y="594360"/>
            <a:ext cx="11247120" cy="777240"/>
          </a:xfrm>
          <a:prstGeom prst="rect">
            <a:avLst/>
          </a:prstGeom>
          <a:noFill/>
          <a:ln/>
        </p:spPr>
        <p:txBody>
          <a:bodyPr wrap="square" lIns="0" tIns="0" rIns="0" bIns="0" rtlCol="0" anchor="ctr"/>
          <a:lstStyle/>
          <a:p>
            <a:pPr marL="0" indent="0">
              <a:buNone/>
            </a:pPr>
            <a:r>
              <a:rPr lang="en-US" sz="3000" b="1" dirty="0">
                <a:solidFill>
                  <a:srgbClr val="0F2440"/>
                </a:solidFill>
                <a:latin typeface="Calibri" pitchFamily="34" charset="0"/>
                <a:ea typeface="Calibri" pitchFamily="34" charset="-122"/>
                <a:cs typeface="Calibri" pitchFamily="34" charset="-120"/>
              </a:rPr>
              <a:t>Learning outcomes for today</a:t>
            </a:r>
            <a:endParaRPr lang="en-US" sz="3000" dirty="0"/>
          </a:p>
        </p:txBody>
      </p:sp>
      <p:sp>
        <p:nvSpPr>
          <p:cNvPr id="6" name="Shape 4"/>
          <p:cNvSpPr/>
          <p:nvPr/>
        </p:nvSpPr>
        <p:spPr>
          <a:xfrm>
            <a:off x="457200" y="137160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3 / 35</a:t>
            </a:r>
            <a:endParaRPr lang="en-US" sz="900" dirty="0"/>
          </a:p>
        </p:txBody>
      </p:sp>
      <p:sp>
        <p:nvSpPr>
          <p:cNvPr id="10" name="Shape 8"/>
          <p:cNvSpPr/>
          <p:nvPr/>
        </p:nvSpPr>
        <p:spPr>
          <a:xfrm>
            <a:off x="548640" y="1828800"/>
            <a:ext cx="11064240" cy="114300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1" name="Shape 9"/>
          <p:cNvSpPr/>
          <p:nvPr/>
        </p:nvSpPr>
        <p:spPr>
          <a:xfrm>
            <a:off x="548640" y="1828800"/>
            <a:ext cx="164592" cy="1143000"/>
          </a:xfrm>
          <a:prstGeom prst="rect">
            <a:avLst/>
          </a:prstGeom>
          <a:solidFill>
            <a:srgbClr val="00B4D8"/>
          </a:solidFill>
          <a:ln w="12700">
            <a:solidFill>
              <a:srgbClr val="00B4D8"/>
            </a:solidFill>
            <a:prstDash val="solid"/>
          </a:ln>
        </p:spPr>
        <p:txBody>
          <a:bodyPr/>
          <a:lstStyle/>
          <a:p>
            <a:endParaRPr lang="en-GB"/>
          </a:p>
        </p:txBody>
      </p:sp>
      <p:sp>
        <p:nvSpPr>
          <p:cNvPr id="12" name="Text 10"/>
          <p:cNvSpPr/>
          <p:nvPr/>
        </p:nvSpPr>
        <p:spPr>
          <a:xfrm>
            <a:off x="868680" y="1920240"/>
            <a:ext cx="822960" cy="411480"/>
          </a:xfrm>
          <a:prstGeom prst="rect">
            <a:avLst/>
          </a:prstGeom>
          <a:noFill/>
          <a:ln/>
        </p:spPr>
        <p:txBody>
          <a:bodyPr wrap="square" lIns="0" tIns="0" rIns="0" bIns="0" rtlCol="0" anchor="ctr"/>
          <a:lstStyle/>
          <a:p>
            <a:pPr marL="0" indent="0">
              <a:buNone/>
            </a:pPr>
            <a:r>
              <a:rPr lang="en-US" sz="2200" b="1" dirty="0">
                <a:solidFill>
                  <a:srgbClr val="00B4D8"/>
                </a:solidFill>
                <a:latin typeface="Calibri" pitchFamily="34" charset="0"/>
                <a:ea typeface="Calibri" pitchFamily="34" charset="-122"/>
                <a:cs typeface="Calibri" pitchFamily="34" charset="-120"/>
              </a:rPr>
              <a:t>C2</a:t>
            </a:r>
            <a:endParaRPr lang="en-US" sz="2200" dirty="0"/>
          </a:p>
        </p:txBody>
      </p:sp>
      <p:sp>
        <p:nvSpPr>
          <p:cNvPr id="13" name="Text 11"/>
          <p:cNvSpPr/>
          <p:nvPr/>
        </p:nvSpPr>
        <p:spPr>
          <a:xfrm>
            <a:off x="1783080" y="1938528"/>
            <a:ext cx="4114800" cy="411480"/>
          </a:xfrm>
          <a:prstGeom prst="rect">
            <a:avLst/>
          </a:prstGeom>
          <a:noFill/>
          <a:ln/>
        </p:spPr>
        <p:txBody>
          <a:bodyPr wrap="square" lIns="0" tIns="0" rIns="0" bIns="0" rtlCol="0" anchor="ctr"/>
          <a:lstStyle/>
          <a:p>
            <a:pPr marL="0" indent="0">
              <a:buNone/>
            </a:pPr>
            <a:r>
              <a:rPr lang="en-US" sz="1800" b="1" dirty="0">
                <a:solidFill>
                  <a:srgbClr val="0F2440"/>
                </a:solidFill>
                <a:latin typeface="Calibri" pitchFamily="34" charset="0"/>
                <a:ea typeface="Calibri" pitchFamily="34" charset="-122"/>
                <a:cs typeface="Calibri" pitchFamily="34" charset="-120"/>
              </a:rPr>
              <a:t>Comprehension</a:t>
            </a:r>
            <a:endParaRPr lang="en-US" sz="1800" dirty="0"/>
          </a:p>
        </p:txBody>
      </p:sp>
      <p:sp>
        <p:nvSpPr>
          <p:cNvPr id="14" name="Text 12"/>
          <p:cNvSpPr/>
          <p:nvPr/>
        </p:nvSpPr>
        <p:spPr>
          <a:xfrm>
            <a:off x="1783080" y="2331720"/>
            <a:ext cx="9601200" cy="640080"/>
          </a:xfrm>
          <a:prstGeom prst="rect">
            <a:avLst/>
          </a:prstGeom>
          <a:noFill/>
          <a:ln/>
        </p:spPr>
        <p:txBody>
          <a:bodyPr wrap="square" lIns="0" tIns="0" rIns="0" bIns="0" rtlCol="0" anchor="ctr"/>
          <a:lstStyle/>
          <a:p>
            <a:pPr marL="0" indent="0">
              <a:buNone/>
            </a:pPr>
            <a:r>
              <a:rPr lang="en-US" sz="1300" dirty="0">
                <a:solidFill>
                  <a:srgbClr val="212529"/>
                </a:solidFill>
                <a:latin typeface="Calibri" pitchFamily="34" charset="0"/>
                <a:ea typeface="Calibri" pitchFamily="34" charset="-122"/>
                <a:cs typeface="Calibri" pitchFamily="34" charset="-120"/>
              </a:rPr>
              <a:t>Explain what a text classification pipeline does and how cross-validation, feature importance, and hyperparameter tuning fit together.</a:t>
            </a:r>
            <a:endParaRPr lang="en-US" sz="1300" dirty="0"/>
          </a:p>
        </p:txBody>
      </p:sp>
      <p:sp>
        <p:nvSpPr>
          <p:cNvPr id="15" name="Shape 13"/>
          <p:cNvSpPr/>
          <p:nvPr/>
        </p:nvSpPr>
        <p:spPr>
          <a:xfrm>
            <a:off x="548640" y="3154680"/>
            <a:ext cx="11064240" cy="114300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6" name="Shape 14"/>
          <p:cNvSpPr/>
          <p:nvPr/>
        </p:nvSpPr>
        <p:spPr>
          <a:xfrm>
            <a:off x="548640" y="3154680"/>
            <a:ext cx="164592" cy="1143000"/>
          </a:xfrm>
          <a:prstGeom prst="rect">
            <a:avLst/>
          </a:prstGeom>
          <a:solidFill>
            <a:srgbClr val="F77F00"/>
          </a:solidFill>
          <a:ln w="12700">
            <a:solidFill>
              <a:srgbClr val="F77F00"/>
            </a:solidFill>
            <a:prstDash val="solid"/>
          </a:ln>
        </p:spPr>
        <p:txBody>
          <a:bodyPr/>
          <a:lstStyle/>
          <a:p>
            <a:endParaRPr lang="en-GB"/>
          </a:p>
        </p:txBody>
      </p:sp>
      <p:sp>
        <p:nvSpPr>
          <p:cNvPr id="17" name="Text 15"/>
          <p:cNvSpPr/>
          <p:nvPr/>
        </p:nvSpPr>
        <p:spPr>
          <a:xfrm>
            <a:off x="868680" y="3246120"/>
            <a:ext cx="822960" cy="411480"/>
          </a:xfrm>
          <a:prstGeom prst="rect">
            <a:avLst/>
          </a:prstGeom>
          <a:noFill/>
          <a:ln/>
        </p:spPr>
        <p:txBody>
          <a:bodyPr wrap="square" lIns="0" tIns="0" rIns="0" bIns="0" rtlCol="0" anchor="ctr"/>
          <a:lstStyle/>
          <a:p>
            <a:pPr marL="0" indent="0">
              <a:buNone/>
            </a:pPr>
            <a:r>
              <a:rPr lang="en-US" sz="2200" b="1" dirty="0">
                <a:solidFill>
                  <a:srgbClr val="F77F00"/>
                </a:solidFill>
                <a:latin typeface="Calibri" pitchFamily="34" charset="0"/>
                <a:ea typeface="Calibri" pitchFamily="34" charset="-122"/>
                <a:cs typeface="Calibri" pitchFamily="34" charset="-120"/>
              </a:rPr>
              <a:t>C3</a:t>
            </a:r>
            <a:endParaRPr lang="en-US" sz="2200" dirty="0"/>
          </a:p>
        </p:txBody>
      </p:sp>
      <p:sp>
        <p:nvSpPr>
          <p:cNvPr id="18" name="Text 16"/>
          <p:cNvSpPr/>
          <p:nvPr/>
        </p:nvSpPr>
        <p:spPr>
          <a:xfrm>
            <a:off x="1783080" y="3264408"/>
            <a:ext cx="4114800" cy="411480"/>
          </a:xfrm>
          <a:prstGeom prst="rect">
            <a:avLst/>
          </a:prstGeom>
          <a:noFill/>
          <a:ln/>
        </p:spPr>
        <p:txBody>
          <a:bodyPr wrap="square" lIns="0" tIns="0" rIns="0" bIns="0" rtlCol="0" anchor="ctr"/>
          <a:lstStyle/>
          <a:p>
            <a:pPr marL="0" indent="0">
              <a:buNone/>
            </a:pPr>
            <a:r>
              <a:rPr lang="en-US" sz="1800" b="1" dirty="0">
                <a:solidFill>
                  <a:srgbClr val="0F2440"/>
                </a:solidFill>
                <a:latin typeface="Calibri" pitchFamily="34" charset="0"/>
                <a:ea typeface="Calibri" pitchFamily="34" charset="-122"/>
                <a:cs typeface="Calibri" pitchFamily="34" charset="-120"/>
              </a:rPr>
              <a:t>Application</a:t>
            </a:r>
            <a:endParaRPr lang="en-US" sz="1800" dirty="0"/>
          </a:p>
        </p:txBody>
      </p:sp>
      <p:sp>
        <p:nvSpPr>
          <p:cNvPr id="19" name="Text 17"/>
          <p:cNvSpPr/>
          <p:nvPr/>
        </p:nvSpPr>
        <p:spPr>
          <a:xfrm>
            <a:off x="1783080" y="3657600"/>
            <a:ext cx="9601200" cy="640080"/>
          </a:xfrm>
          <a:prstGeom prst="rect">
            <a:avLst/>
          </a:prstGeom>
          <a:noFill/>
          <a:ln/>
        </p:spPr>
        <p:txBody>
          <a:bodyPr wrap="square" lIns="0" tIns="0" rIns="0" bIns="0" rtlCol="0" anchor="ctr"/>
          <a:lstStyle/>
          <a:p>
            <a:pPr marL="0" indent="0">
              <a:buNone/>
            </a:pPr>
            <a:r>
              <a:rPr lang="en-US" sz="1300" dirty="0">
                <a:solidFill>
                  <a:srgbClr val="212529"/>
                </a:solidFill>
                <a:latin typeface="Calibri" pitchFamily="34" charset="0"/>
                <a:ea typeface="Calibri" pitchFamily="34" charset="-122"/>
                <a:cs typeface="Calibri" pitchFamily="34" charset="-120"/>
              </a:rPr>
              <a:t>Apply scikit-learn (Pipeline + TfidfVectorizer + LogisticRegression + GridSearchCV) to classify Indonesian product reviews end-to-end.</a:t>
            </a:r>
            <a:endParaRPr lang="en-US" sz="1300" dirty="0"/>
          </a:p>
        </p:txBody>
      </p:sp>
      <p:sp>
        <p:nvSpPr>
          <p:cNvPr id="20" name="Shape 18"/>
          <p:cNvSpPr/>
          <p:nvPr/>
        </p:nvSpPr>
        <p:spPr>
          <a:xfrm>
            <a:off x="548640" y="4480560"/>
            <a:ext cx="11064240" cy="114300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21" name="Shape 19"/>
          <p:cNvSpPr/>
          <p:nvPr/>
        </p:nvSpPr>
        <p:spPr>
          <a:xfrm>
            <a:off x="548640" y="4480560"/>
            <a:ext cx="164592" cy="1143000"/>
          </a:xfrm>
          <a:prstGeom prst="rect">
            <a:avLst/>
          </a:prstGeom>
          <a:solidFill>
            <a:srgbClr val="06A77D"/>
          </a:solidFill>
          <a:ln w="12700">
            <a:solidFill>
              <a:srgbClr val="06A77D"/>
            </a:solidFill>
            <a:prstDash val="solid"/>
          </a:ln>
        </p:spPr>
        <p:txBody>
          <a:bodyPr/>
          <a:lstStyle/>
          <a:p>
            <a:endParaRPr lang="en-GB"/>
          </a:p>
        </p:txBody>
      </p:sp>
      <p:sp>
        <p:nvSpPr>
          <p:cNvPr id="22" name="Text 20"/>
          <p:cNvSpPr/>
          <p:nvPr/>
        </p:nvSpPr>
        <p:spPr>
          <a:xfrm>
            <a:off x="868680" y="4572000"/>
            <a:ext cx="822960" cy="411480"/>
          </a:xfrm>
          <a:prstGeom prst="rect">
            <a:avLst/>
          </a:prstGeom>
          <a:noFill/>
          <a:ln/>
        </p:spPr>
        <p:txBody>
          <a:bodyPr wrap="square" lIns="0" tIns="0" rIns="0" bIns="0" rtlCol="0" anchor="ctr"/>
          <a:lstStyle/>
          <a:p>
            <a:pPr marL="0" indent="0">
              <a:buNone/>
            </a:pPr>
            <a:r>
              <a:rPr lang="en-US" sz="2200" b="1" dirty="0">
                <a:solidFill>
                  <a:srgbClr val="06A77D"/>
                </a:solidFill>
                <a:latin typeface="Calibri" pitchFamily="34" charset="0"/>
                <a:ea typeface="Calibri" pitchFamily="34" charset="-122"/>
                <a:cs typeface="Calibri" pitchFamily="34" charset="-120"/>
              </a:rPr>
              <a:t>C4</a:t>
            </a:r>
            <a:endParaRPr lang="en-US" sz="2200" dirty="0"/>
          </a:p>
        </p:txBody>
      </p:sp>
      <p:sp>
        <p:nvSpPr>
          <p:cNvPr id="23" name="Text 21"/>
          <p:cNvSpPr/>
          <p:nvPr/>
        </p:nvSpPr>
        <p:spPr>
          <a:xfrm>
            <a:off x="1783080" y="4590288"/>
            <a:ext cx="4114800" cy="411480"/>
          </a:xfrm>
          <a:prstGeom prst="rect">
            <a:avLst/>
          </a:prstGeom>
          <a:noFill/>
          <a:ln/>
        </p:spPr>
        <p:txBody>
          <a:bodyPr wrap="square" lIns="0" tIns="0" rIns="0" bIns="0" rtlCol="0" anchor="ctr"/>
          <a:lstStyle/>
          <a:p>
            <a:pPr marL="0" indent="0">
              <a:buNone/>
            </a:pPr>
            <a:r>
              <a:rPr lang="en-US" sz="1800" b="1" dirty="0">
                <a:solidFill>
                  <a:srgbClr val="0F2440"/>
                </a:solidFill>
                <a:latin typeface="Calibri" pitchFamily="34" charset="0"/>
                <a:ea typeface="Calibri" pitchFamily="34" charset="-122"/>
                <a:cs typeface="Calibri" pitchFamily="34" charset="-120"/>
              </a:rPr>
              <a:t>Analysis</a:t>
            </a:r>
            <a:endParaRPr lang="en-US" sz="1800" dirty="0"/>
          </a:p>
        </p:txBody>
      </p:sp>
      <p:sp>
        <p:nvSpPr>
          <p:cNvPr id="24" name="Text 22"/>
          <p:cNvSpPr/>
          <p:nvPr/>
        </p:nvSpPr>
        <p:spPr>
          <a:xfrm>
            <a:off x="1783080" y="4983480"/>
            <a:ext cx="9601200" cy="640080"/>
          </a:xfrm>
          <a:prstGeom prst="rect">
            <a:avLst/>
          </a:prstGeom>
          <a:noFill/>
          <a:ln/>
        </p:spPr>
        <p:txBody>
          <a:bodyPr wrap="square" lIns="0" tIns="0" rIns="0" bIns="0" rtlCol="0" anchor="ctr"/>
          <a:lstStyle/>
          <a:p>
            <a:pPr marL="0" indent="0">
              <a:buNone/>
            </a:pPr>
            <a:r>
              <a:rPr lang="en-US" sz="1300" dirty="0">
                <a:solidFill>
                  <a:srgbClr val="212529"/>
                </a:solidFill>
                <a:latin typeface="Calibri" pitchFamily="34" charset="0"/>
                <a:ea typeface="Calibri" pitchFamily="34" charset="-122"/>
                <a:cs typeface="Calibri" pitchFamily="34" charset="-120"/>
              </a:rPr>
              <a:t>Analyze a model's behaviour: read the coefficients, interpret a confusion matrix, and explain a single prediction with LIME.</a:t>
            </a:r>
            <a:endParaRPr lang="en-US" sz="1300" dirty="0"/>
          </a:p>
        </p:txBody>
      </p:sp>
      <p:sp>
        <p:nvSpPr>
          <p:cNvPr id="25" name="Text 23"/>
          <p:cNvSpPr/>
          <p:nvPr/>
        </p:nvSpPr>
        <p:spPr>
          <a:xfrm>
            <a:off x="548640" y="5943600"/>
            <a:ext cx="10972800" cy="365760"/>
          </a:xfrm>
          <a:prstGeom prst="rect">
            <a:avLst/>
          </a:prstGeom>
          <a:noFill/>
          <a:ln/>
        </p:spPr>
        <p:txBody>
          <a:bodyPr wrap="square" lIns="0" tIns="0" rIns="0" bIns="0" rtlCol="0" anchor="ctr"/>
          <a:lstStyle/>
          <a:p>
            <a:pPr marL="0" indent="0">
              <a:buNone/>
            </a:pPr>
            <a:r>
              <a:rPr lang="en-US" sz="1200" i="1" dirty="0">
                <a:solidFill>
                  <a:srgbClr val="6C757D"/>
                </a:solidFill>
                <a:latin typeface="Calibri" pitchFamily="34" charset="0"/>
                <a:ea typeface="Calibri" pitchFamily="34" charset="-122"/>
                <a:cs typeface="Calibri" pitchFamily="34" charset="-120"/>
              </a:rPr>
              <a:t>These map directly to the Bloom verbs in your syllabus.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1E3A5F"/>
          </a:solidFill>
          <a:ln w="12700">
            <a:solidFill>
              <a:srgbClr val="1E3A5F"/>
            </a:solidFill>
            <a:prstDash val="solid"/>
          </a:ln>
        </p:spPr>
        <p:txBody>
          <a:bodyPr/>
          <a:lstStyle/>
          <a:p>
            <a:endParaRPr lang="en-GB"/>
          </a:p>
        </p:txBody>
      </p:sp>
      <p:sp>
        <p:nvSpPr>
          <p:cNvPr id="3" name="Shape 1"/>
          <p:cNvSpPr/>
          <p:nvPr/>
        </p:nvSpPr>
        <p:spPr>
          <a:xfrm>
            <a:off x="0" y="0"/>
            <a:ext cx="2377440" cy="164592"/>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457200" y="292608"/>
            <a:ext cx="10972800" cy="320040"/>
          </a:xfrm>
          <a:prstGeom prst="rect">
            <a:avLst/>
          </a:prstGeom>
          <a:noFill/>
          <a:ln/>
        </p:spPr>
        <p:txBody>
          <a:bodyPr wrap="square" rtlCol="0" anchor="ctr"/>
          <a:lstStyle/>
          <a:p>
            <a:pPr marL="0" indent="0">
              <a:buNone/>
            </a:pPr>
            <a:r>
              <a:rPr lang="en-US" sz="1100" b="1" kern="0" spc="400" dirty="0">
                <a:solidFill>
                  <a:srgbClr val="F77F00"/>
                </a:solidFill>
                <a:latin typeface="Calibri" pitchFamily="34" charset="0"/>
                <a:ea typeface="Calibri" pitchFamily="34" charset="-122"/>
                <a:cs typeface="Calibri" pitchFamily="34" charset="-120"/>
              </a:rPr>
              <a:t>WHERE WE ARE IN THE JOURNEY</a:t>
            </a:r>
            <a:endParaRPr lang="en-US" sz="1100" dirty="0"/>
          </a:p>
        </p:txBody>
      </p:sp>
      <p:sp>
        <p:nvSpPr>
          <p:cNvPr id="5" name="Text 3"/>
          <p:cNvSpPr/>
          <p:nvPr/>
        </p:nvSpPr>
        <p:spPr>
          <a:xfrm>
            <a:off x="457200" y="594360"/>
            <a:ext cx="11247120" cy="777240"/>
          </a:xfrm>
          <a:prstGeom prst="rect">
            <a:avLst/>
          </a:prstGeom>
          <a:noFill/>
          <a:ln/>
        </p:spPr>
        <p:txBody>
          <a:bodyPr wrap="square" lIns="0" tIns="0" rIns="0" bIns="0" rtlCol="0" anchor="ctr"/>
          <a:lstStyle/>
          <a:p>
            <a:pPr marL="0" indent="0">
              <a:buNone/>
            </a:pPr>
            <a:r>
              <a:rPr lang="en-US" sz="3000" b="1" dirty="0">
                <a:solidFill>
                  <a:srgbClr val="0F2440"/>
                </a:solidFill>
                <a:latin typeface="Calibri" pitchFamily="34" charset="0"/>
                <a:ea typeface="Calibri" pitchFamily="34" charset="-122"/>
                <a:cs typeface="Calibri" pitchFamily="34" charset="-120"/>
              </a:rPr>
              <a:t>Recap from last week</a:t>
            </a:r>
            <a:endParaRPr lang="en-US" sz="3000" dirty="0"/>
          </a:p>
        </p:txBody>
      </p:sp>
      <p:sp>
        <p:nvSpPr>
          <p:cNvPr id="6" name="Shape 4"/>
          <p:cNvSpPr/>
          <p:nvPr/>
        </p:nvSpPr>
        <p:spPr>
          <a:xfrm>
            <a:off x="457200" y="137160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4 / 35</a:t>
            </a:r>
            <a:endParaRPr lang="en-US" sz="900" dirty="0"/>
          </a:p>
        </p:txBody>
      </p:sp>
      <p:sp>
        <p:nvSpPr>
          <p:cNvPr id="10" name="Shape 8"/>
          <p:cNvSpPr/>
          <p:nvPr/>
        </p:nvSpPr>
        <p:spPr>
          <a:xfrm>
            <a:off x="548640" y="1828800"/>
            <a:ext cx="3657600" cy="420624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1" name="Shape 9"/>
          <p:cNvSpPr/>
          <p:nvPr/>
        </p:nvSpPr>
        <p:spPr>
          <a:xfrm>
            <a:off x="822960" y="2103120"/>
            <a:ext cx="777240" cy="777240"/>
          </a:xfrm>
          <a:prstGeom prst="ellipse">
            <a:avLst/>
          </a:prstGeom>
          <a:solidFill>
            <a:srgbClr val="1E3A5F"/>
          </a:solidFill>
          <a:ln w="12700">
            <a:solidFill>
              <a:srgbClr val="1E3A5F"/>
            </a:solidFill>
            <a:prstDash val="solid"/>
          </a:ln>
        </p:spPr>
        <p:txBody>
          <a:bodyPr/>
          <a:lstStyle/>
          <a:p>
            <a:endParaRPr lang="en-GB"/>
          </a:p>
        </p:txBody>
      </p:sp>
      <p:sp>
        <p:nvSpPr>
          <p:cNvPr id="12" name="Text 10"/>
          <p:cNvSpPr/>
          <p:nvPr/>
        </p:nvSpPr>
        <p:spPr>
          <a:xfrm>
            <a:off x="822960" y="2103120"/>
            <a:ext cx="777240" cy="77724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1</a:t>
            </a:r>
            <a:endParaRPr lang="en-US" sz="3000" dirty="0"/>
          </a:p>
        </p:txBody>
      </p:sp>
      <p:sp>
        <p:nvSpPr>
          <p:cNvPr id="13" name="Text 11"/>
          <p:cNvSpPr/>
          <p:nvPr/>
        </p:nvSpPr>
        <p:spPr>
          <a:xfrm>
            <a:off x="822960" y="3108960"/>
            <a:ext cx="3200400" cy="640080"/>
          </a:xfrm>
          <a:prstGeom prst="rect">
            <a:avLst/>
          </a:prstGeom>
          <a:noFill/>
          <a:ln/>
        </p:spPr>
        <p:txBody>
          <a:bodyPr wrap="square" lIns="0" tIns="0" rIns="0" bIns="0" rtlCol="0" anchor="ctr"/>
          <a:lstStyle/>
          <a:p>
            <a:pPr marL="0" indent="0">
              <a:buNone/>
            </a:pPr>
            <a:r>
              <a:rPr lang="en-US" sz="1700" b="1" dirty="0">
                <a:solidFill>
                  <a:srgbClr val="0F2440"/>
                </a:solidFill>
                <a:latin typeface="Calibri" pitchFamily="34" charset="0"/>
                <a:ea typeface="Calibri" pitchFamily="34" charset="-122"/>
                <a:cs typeface="Calibri" pitchFamily="34" charset="-120"/>
              </a:rPr>
              <a:t>Transformers &amp; Attention</a:t>
            </a:r>
            <a:endParaRPr lang="en-US" sz="1700" dirty="0"/>
          </a:p>
        </p:txBody>
      </p:sp>
      <p:sp>
        <p:nvSpPr>
          <p:cNvPr id="14" name="Text 12"/>
          <p:cNvSpPr/>
          <p:nvPr/>
        </p:nvSpPr>
        <p:spPr>
          <a:xfrm>
            <a:off x="822960" y="3840480"/>
            <a:ext cx="3200400" cy="201168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From LSTMs to BERT: every word can attend to every other word. Q/K/V, multi-head attention, positional encoding.</a:t>
            </a:r>
            <a:endParaRPr lang="en-US" sz="1200" dirty="0"/>
          </a:p>
        </p:txBody>
      </p:sp>
      <p:sp>
        <p:nvSpPr>
          <p:cNvPr id="15" name="Shape 13"/>
          <p:cNvSpPr/>
          <p:nvPr/>
        </p:nvSpPr>
        <p:spPr>
          <a:xfrm>
            <a:off x="4389120" y="1828800"/>
            <a:ext cx="3657600" cy="420624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6" name="Shape 14"/>
          <p:cNvSpPr/>
          <p:nvPr/>
        </p:nvSpPr>
        <p:spPr>
          <a:xfrm>
            <a:off x="4663440" y="2103120"/>
            <a:ext cx="777240" cy="777240"/>
          </a:xfrm>
          <a:prstGeom prst="ellipse">
            <a:avLst/>
          </a:prstGeom>
          <a:solidFill>
            <a:srgbClr val="F77F00"/>
          </a:solidFill>
          <a:ln w="12700">
            <a:solidFill>
              <a:srgbClr val="F77F00"/>
            </a:solidFill>
            <a:prstDash val="solid"/>
          </a:ln>
        </p:spPr>
        <p:txBody>
          <a:bodyPr/>
          <a:lstStyle/>
          <a:p>
            <a:endParaRPr lang="en-GB"/>
          </a:p>
        </p:txBody>
      </p:sp>
      <p:sp>
        <p:nvSpPr>
          <p:cNvPr id="17" name="Text 15"/>
          <p:cNvSpPr/>
          <p:nvPr/>
        </p:nvSpPr>
        <p:spPr>
          <a:xfrm>
            <a:off x="4663440" y="2103120"/>
            <a:ext cx="777240" cy="77724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2</a:t>
            </a:r>
            <a:endParaRPr lang="en-US" sz="3000" dirty="0"/>
          </a:p>
        </p:txBody>
      </p:sp>
      <p:sp>
        <p:nvSpPr>
          <p:cNvPr id="18" name="Text 16"/>
          <p:cNvSpPr/>
          <p:nvPr/>
        </p:nvSpPr>
        <p:spPr>
          <a:xfrm>
            <a:off x="4663440" y="3108960"/>
            <a:ext cx="3200400" cy="640080"/>
          </a:xfrm>
          <a:prstGeom prst="rect">
            <a:avLst/>
          </a:prstGeom>
          <a:noFill/>
          <a:ln/>
        </p:spPr>
        <p:txBody>
          <a:bodyPr wrap="square" lIns="0" tIns="0" rIns="0" bIns="0" rtlCol="0" anchor="ctr"/>
          <a:lstStyle/>
          <a:p>
            <a:pPr marL="0" indent="0">
              <a:buNone/>
            </a:pPr>
            <a:r>
              <a:rPr lang="en-US" sz="1700" b="1" dirty="0">
                <a:solidFill>
                  <a:srgbClr val="0F2440"/>
                </a:solidFill>
                <a:latin typeface="Calibri" pitchFamily="34" charset="0"/>
                <a:ea typeface="Calibri" pitchFamily="34" charset="-122"/>
                <a:cs typeface="Calibri" pitchFamily="34" charset="-120"/>
              </a:rPr>
              <a:t>Text Classification basics</a:t>
            </a:r>
            <a:endParaRPr lang="en-US" sz="1700" dirty="0"/>
          </a:p>
        </p:txBody>
      </p:sp>
      <p:sp>
        <p:nvSpPr>
          <p:cNvPr id="19" name="Text 17"/>
          <p:cNvSpPr/>
          <p:nvPr/>
        </p:nvSpPr>
        <p:spPr>
          <a:xfrm>
            <a:off x="4663440" y="3840480"/>
            <a:ext cx="3200400" cy="201168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Binary / multiclass / multilabel. The 4 core steps: Data Prep → Train-Test Split → Model Training → Evaluation.</a:t>
            </a:r>
            <a:endParaRPr lang="en-US" sz="1200" dirty="0"/>
          </a:p>
        </p:txBody>
      </p:sp>
      <p:sp>
        <p:nvSpPr>
          <p:cNvPr id="20" name="Shape 18"/>
          <p:cNvSpPr/>
          <p:nvPr/>
        </p:nvSpPr>
        <p:spPr>
          <a:xfrm>
            <a:off x="8229600" y="1828800"/>
            <a:ext cx="3657600" cy="420624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21" name="Shape 19"/>
          <p:cNvSpPr/>
          <p:nvPr/>
        </p:nvSpPr>
        <p:spPr>
          <a:xfrm>
            <a:off x="8503920" y="2103120"/>
            <a:ext cx="777240" cy="777240"/>
          </a:xfrm>
          <a:prstGeom prst="ellipse">
            <a:avLst/>
          </a:prstGeom>
          <a:solidFill>
            <a:srgbClr val="00B4D8"/>
          </a:solidFill>
          <a:ln w="12700">
            <a:solidFill>
              <a:srgbClr val="00B4D8"/>
            </a:solidFill>
            <a:prstDash val="solid"/>
          </a:ln>
        </p:spPr>
        <p:txBody>
          <a:bodyPr/>
          <a:lstStyle/>
          <a:p>
            <a:endParaRPr lang="en-GB"/>
          </a:p>
        </p:txBody>
      </p:sp>
      <p:sp>
        <p:nvSpPr>
          <p:cNvPr id="22" name="Text 20"/>
          <p:cNvSpPr/>
          <p:nvPr/>
        </p:nvSpPr>
        <p:spPr>
          <a:xfrm>
            <a:off x="8503920" y="2103120"/>
            <a:ext cx="777240" cy="77724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3</a:t>
            </a:r>
            <a:endParaRPr lang="en-US" sz="3000" dirty="0"/>
          </a:p>
        </p:txBody>
      </p:sp>
      <p:sp>
        <p:nvSpPr>
          <p:cNvPr id="23" name="Text 21"/>
          <p:cNvSpPr/>
          <p:nvPr/>
        </p:nvSpPr>
        <p:spPr>
          <a:xfrm>
            <a:off x="8503920" y="3108960"/>
            <a:ext cx="3200400" cy="640080"/>
          </a:xfrm>
          <a:prstGeom prst="rect">
            <a:avLst/>
          </a:prstGeom>
          <a:noFill/>
          <a:ln/>
        </p:spPr>
        <p:txBody>
          <a:bodyPr wrap="square" lIns="0" tIns="0" rIns="0" bIns="0" rtlCol="0" anchor="ctr"/>
          <a:lstStyle/>
          <a:p>
            <a:pPr marL="0" indent="0">
              <a:buNone/>
            </a:pPr>
            <a:r>
              <a:rPr lang="en-US" sz="1700" b="1" dirty="0">
                <a:solidFill>
                  <a:srgbClr val="0F2440"/>
                </a:solidFill>
                <a:latin typeface="Calibri" pitchFamily="34" charset="0"/>
                <a:ea typeface="Calibri" pitchFamily="34" charset="-122"/>
                <a:cs typeface="Calibri" pitchFamily="34" charset="-120"/>
              </a:rPr>
              <a:t>From video &amp; reading</a:t>
            </a:r>
            <a:endParaRPr lang="en-US" sz="1700" dirty="0"/>
          </a:p>
        </p:txBody>
      </p:sp>
      <p:sp>
        <p:nvSpPr>
          <p:cNvPr id="24" name="Text 22"/>
          <p:cNvSpPr/>
          <p:nvPr/>
        </p:nvSpPr>
        <p:spPr>
          <a:xfrm>
            <a:off x="8503920" y="3840480"/>
            <a:ext cx="3200400" cy="201168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NLP fundamentals (Krish Naik): tokenisation, vectorisation, classical vs. deep models. Anchors / LIME for interpretability.</a:t>
            </a:r>
            <a:endParaRPr lang="en-US" sz="1200" dirty="0"/>
          </a:p>
        </p:txBody>
      </p:sp>
      <p:sp>
        <p:nvSpPr>
          <p:cNvPr id="25" name="Text 23"/>
          <p:cNvSpPr/>
          <p:nvPr/>
        </p:nvSpPr>
        <p:spPr>
          <a:xfrm>
            <a:off x="548640" y="6263640"/>
            <a:ext cx="11064240" cy="457200"/>
          </a:xfrm>
          <a:prstGeom prst="rect">
            <a:avLst/>
          </a:prstGeom>
          <a:noFill/>
          <a:ln/>
        </p:spPr>
        <p:txBody>
          <a:bodyPr wrap="square" lIns="0" tIns="0" rIns="0" bIns="0" rtlCol="0" anchor="ctr"/>
          <a:lstStyle/>
          <a:p>
            <a:pPr marL="0" indent="0">
              <a:buNone/>
            </a:pPr>
            <a:r>
              <a:rPr lang="en-US" sz="1100" i="1" dirty="0">
                <a:solidFill>
                  <a:srgbClr val="6C757D"/>
                </a:solidFill>
                <a:latin typeface="Calibri" pitchFamily="34" charset="0"/>
                <a:ea typeface="Calibri" pitchFamily="34" charset="-122"/>
                <a:cs typeface="Calibri" pitchFamily="34" charset="-120"/>
              </a:rPr>
              <a:t>Today builds directly on pillars 2 + 3.  Transformers stay in the toolbox — but classical pipelines remain the workhorse for many production NLP systems.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1E3A5F"/>
          </a:solidFill>
          <a:ln w="12700">
            <a:solidFill>
              <a:srgbClr val="1E3A5F"/>
            </a:solidFill>
            <a:prstDash val="solid"/>
          </a:ln>
        </p:spPr>
        <p:txBody>
          <a:bodyPr/>
          <a:lstStyle/>
          <a:p>
            <a:endParaRPr lang="en-GB"/>
          </a:p>
        </p:txBody>
      </p:sp>
      <p:sp>
        <p:nvSpPr>
          <p:cNvPr id="3" name="Shape 1"/>
          <p:cNvSpPr/>
          <p:nvPr/>
        </p:nvSpPr>
        <p:spPr>
          <a:xfrm>
            <a:off x="0" y="0"/>
            <a:ext cx="2377440" cy="164592"/>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457200" y="292608"/>
            <a:ext cx="10972800" cy="320040"/>
          </a:xfrm>
          <a:prstGeom prst="rect">
            <a:avLst/>
          </a:prstGeom>
          <a:noFill/>
          <a:ln/>
        </p:spPr>
        <p:txBody>
          <a:bodyPr wrap="square" rtlCol="0" anchor="ctr"/>
          <a:lstStyle/>
          <a:p>
            <a:pPr marL="0" indent="0">
              <a:buNone/>
            </a:pPr>
            <a:r>
              <a:rPr lang="en-US" sz="1100" b="1" kern="0" spc="400" dirty="0">
                <a:solidFill>
                  <a:srgbClr val="F77F00"/>
                </a:solidFill>
                <a:latin typeface="Calibri" pitchFamily="34" charset="0"/>
                <a:ea typeface="Calibri" pitchFamily="34" charset="-122"/>
                <a:cs typeface="Calibri" pitchFamily="34" charset="-120"/>
              </a:rPr>
              <a:t>LET'S SEE WHAT STUCK</a:t>
            </a:r>
            <a:endParaRPr lang="en-US" sz="1100" dirty="0"/>
          </a:p>
        </p:txBody>
      </p:sp>
      <p:sp>
        <p:nvSpPr>
          <p:cNvPr id="5" name="Text 3"/>
          <p:cNvSpPr/>
          <p:nvPr/>
        </p:nvSpPr>
        <p:spPr>
          <a:xfrm>
            <a:off x="457200" y="594360"/>
            <a:ext cx="11247120" cy="777240"/>
          </a:xfrm>
          <a:prstGeom prst="rect">
            <a:avLst/>
          </a:prstGeom>
          <a:noFill/>
          <a:ln/>
        </p:spPr>
        <p:txBody>
          <a:bodyPr wrap="square" lIns="0" tIns="0" rIns="0" bIns="0" rtlCol="0" anchor="ctr"/>
          <a:lstStyle/>
          <a:p>
            <a:pPr marL="0" indent="0">
              <a:buNone/>
            </a:pPr>
            <a:r>
              <a:rPr lang="en-US" sz="3000" b="1" dirty="0">
                <a:solidFill>
                  <a:srgbClr val="0F2440"/>
                </a:solidFill>
                <a:latin typeface="Calibri" pitchFamily="34" charset="0"/>
                <a:ea typeface="Calibri" pitchFamily="34" charset="-122"/>
                <a:cs typeface="Calibri" pitchFamily="34" charset="-120"/>
              </a:rPr>
              <a:t>Pulse check — before we start</a:t>
            </a:r>
            <a:endParaRPr lang="en-US" sz="3000" dirty="0"/>
          </a:p>
        </p:txBody>
      </p:sp>
      <p:sp>
        <p:nvSpPr>
          <p:cNvPr id="6" name="Shape 4"/>
          <p:cNvSpPr/>
          <p:nvPr/>
        </p:nvSpPr>
        <p:spPr>
          <a:xfrm>
            <a:off x="457200" y="137160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5 / 35</a:t>
            </a:r>
            <a:endParaRPr lang="en-US" sz="900" dirty="0"/>
          </a:p>
        </p:txBody>
      </p:sp>
      <p:sp>
        <p:nvSpPr>
          <p:cNvPr id="10" name="Shape 8"/>
          <p:cNvSpPr/>
          <p:nvPr/>
        </p:nvSpPr>
        <p:spPr>
          <a:xfrm>
            <a:off x="548640" y="1691640"/>
            <a:ext cx="640080" cy="640080"/>
          </a:xfrm>
          <a:prstGeom prst="ellipse">
            <a:avLst/>
          </a:prstGeom>
          <a:solidFill>
            <a:srgbClr val="F77F00"/>
          </a:solidFill>
          <a:ln w="12700">
            <a:solidFill>
              <a:srgbClr val="F77F00"/>
            </a:solidFill>
            <a:prstDash val="solid"/>
          </a:ln>
        </p:spPr>
        <p:txBody>
          <a:bodyPr/>
          <a:lstStyle/>
          <a:p>
            <a:endParaRPr lang="en-GB"/>
          </a:p>
        </p:txBody>
      </p:sp>
      <p:sp>
        <p:nvSpPr>
          <p:cNvPr id="11" name="Text 9"/>
          <p:cNvSpPr/>
          <p:nvPr/>
        </p:nvSpPr>
        <p:spPr>
          <a:xfrm>
            <a:off x="548640" y="1691640"/>
            <a:ext cx="640080" cy="64008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a:t>
            </a:r>
            <a:endParaRPr lang="en-US" sz="3200" dirty="0"/>
          </a:p>
        </p:txBody>
      </p:sp>
      <p:sp>
        <p:nvSpPr>
          <p:cNvPr id="12" name="Text 10"/>
          <p:cNvSpPr/>
          <p:nvPr/>
        </p:nvSpPr>
        <p:spPr>
          <a:xfrm>
            <a:off x="1371600" y="1783080"/>
            <a:ext cx="10058400" cy="457200"/>
          </a:xfrm>
          <a:prstGeom prst="rect">
            <a:avLst/>
          </a:prstGeom>
          <a:noFill/>
          <a:ln/>
        </p:spPr>
        <p:txBody>
          <a:bodyPr wrap="square" lIns="0" tIns="0" rIns="0" bIns="0" rtlCol="0" anchor="ctr"/>
          <a:lstStyle/>
          <a:p>
            <a:r>
              <a:rPr lang="en-US" b="1" dirty="0">
                <a:solidFill>
                  <a:srgbClr val="0F2440"/>
                </a:solidFill>
                <a:latin typeface="Calibri" pitchFamily="34" charset="0"/>
                <a:ea typeface="Calibri" pitchFamily="34" charset="-122"/>
                <a:cs typeface="Calibri" pitchFamily="34" charset="-120"/>
              </a:rPr>
              <a:t>Quick poll</a:t>
            </a:r>
            <a:endParaRPr lang="en-US" dirty="0"/>
          </a:p>
        </p:txBody>
      </p:sp>
      <p:sp>
        <p:nvSpPr>
          <p:cNvPr id="13" name="Shape 11"/>
          <p:cNvSpPr/>
          <p:nvPr/>
        </p:nvSpPr>
        <p:spPr>
          <a:xfrm>
            <a:off x="548640" y="2606040"/>
            <a:ext cx="11064240" cy="320040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4" name="Text 12"/>
          <p:cNvSpPr/>
          <p:nvPr/>
        </p:nvSpPr>
        <p:spPr>
          <a:xfrm>
            <a:off x="914400" y="2788920"/>
            <a:ext cx="10058400" cy="457200"/>
          </a:xfrm>
          <a:prstGeom prst="rect">
            <a:avLst/>
          </a:prstGeom>
          <a:noFill/>
          <a:ln/>
        </p:spPr>
        <p:txBody>
          <a:bodyPr wrap="square" lIns="0" tIns="0" rIns="0" bIns="0" rtlCol="0" anchor="ctr"/>
          <a:lstStyle/>
          <a:p>
            <a:pPr marL="0" indent="0">
              <a:buNone/>
            </a:pPr>
            <a:r>
              <a:rPr lang="en-US" sz="1800" b="1" dirty="0">
                <a:solidFill>
                  <a:srgbClr val="0F2440"/>
                </a:solidFill>
                <a:latin typeface="Calibri" pitchFamily="34" charset="0"/>
                <a:ea typeface="Calibri" pitchFamily="34" charset="-122"/>
                <a:cs typeface="Calibri" pitchFamily="34" charset="-120"/>
              </a:rPr>
              <a:t>Which of the following is NOT a category of text classification?</a:t>
            </a:r>
            <a:endParaRPr lang="en-US" sz="1800" dirty="0"/>
          </a:p>
        </p:txBody>
      </p:sp>
      <p:sp>
        <p:nvSpPr>
          <p:cNvPr id="15" name="Shape 13"/>
          <p:cNvSpPr/>
          <p:nvPr/>
        </p:nvSpPr>
        <p:spPr>
          <a:xfrm>
            <a:off x="914400" y="3419856"/>
            <a:ext cx="411480" cy="411480"/>
          </a:xfrm>
          <a:prstGeom prst="ellipse">
            <a:avLst/>
          </a:prstGeom>
          <a:solidFill>
            <a:srgbClr val="E7F1FB"/>
          </a:solidFill>
          <a:ln w="12700">
            <a:solidFill>
              <a:srgbClr val="1E3A5F"/>
            </a:solidFill>
            <a:prstDash val="solid"/>
          </a:ln>
        </p:spPr>
        <p:txBody>
          <a:bodyPr/>
          <a:lstStyle/>
          <a:p>
            <a:endParaRPr lang="en-GB"/>
          </a:p>
        </p:txBody>
      </p:sp>
      <p:sp>
        <p:nvSpPr>
          <p:cNvPr id="16" name="Text 14"/>
          <p:cNvSpPr/>
          <p:nvPr/>
        </p:nvSpPr>
        <p:spPr>
          <a:xfrm>
            <a:off x="914400" y="3419856"/>
            <a:ext cx="411480" cy="411480"/>
          </a:xfrm>
          <a:prstGeom prst="rect">
            <a:avLst/>
          </a:prstGeom>
          <a:noFill/>
          <a:ln/>
        </p:spPr>
        <p:txBody>
          <a:bodyPr wrap="square" lIns="0" tIns="0" rIns="0" bIns="0" rtlCol="0" anchor="ctr"/>
          <a:lstStyle/>
          <a:p>
            <a:pPr marL="0" indent="0" algn="ctr">
              <a:buNone/>
            </a:pPr>
            <a:r>
              <a:rPr lang="en-US" sz="1400" b="1" dirty="0">
                <a:solidFill>
                  <a:srgbClr val="0F2440"/>
                </a:solidFill>
                <a:latin typeface="Calibri" pitchFamily="34" charset="0"/>
                <a:ea typeface="Calibri" pitchFamily="34" charset="-122"/>
                <a:cs typeface="Calibri" pitchFamily="34" charset="-120"/>
              </a:rPr>
              <a:t>A</a:t>
            </a:r>
            <a:endParaRPr lang="en-US" sz="1400" dirty="0"/>
          </a:p>
        </p:txBody>
      </p:sp>
      <p:sp>
        <p:nvSpPr>
          <p:cNvPr id="17" name="Text 15"/>
          <p:cNvSpPr/>
          <p:nvPr/>
        </p:nvSpPr>
        <p:spPr>
          <a:xfrm>
            <a:off x="1463040" y="3383280"/>
            <a:ext cx="10058400" cy="457200"/>
          </a:xfrm>
          <a:prstGeom prst="rect">
            <a:avLst/>
          </a:prstGeom>
          <a:noFill/>
          <a:ln/>
        </p:spPr>
        <p:txBody>
          <a:bodyPr wrap="square" lIns="0" tIns="0" rIns="0" bIns="0" rtlCol="0" anchor="ctr"/>
          <a:lstStyle/>
          <a:p>
            <a:pPr marL="0" indent="0">
              <a:buNone/>
            </a:pPr>
            <a:r>
              <a:rPr lang="en-US" sz="1400" dirty="0">
                <a:solidFill>
                  <a:srgbClr val="212529"/>
                </a:solidFill>
                <a:latin typeface="Calibri" pitchFamily="34" charset="0"/>
                <a:ea typeface="Calibri" pitchFamily="34" charset="-122"/>
                <a:cs typeface="Calibri" pitchFamily="34" charset="-120"/>
              </a:rPr>
              <a:t>Binary classification (e.g., spam vs ham SMS)</a:t>
            </a:r>
            <a:endParaRPr lang="en-US" sz="1400" dirty="0"/>
          </a:p>
        </p:txBody>
      </p:sp>
      <p:sp>
        <p:nvSpPr>
          <p:cNvPr id="18" name="Shape 16"/>
          <p:cNvSpPr/>
          <p:nvPr/>
        </p:nvSpPr>
        <p:spPr>
          <a:xfrm>
            <a:off x="914400" y="3922776"/>
            <a:ext cx="411480" cy="411480"/>
          </a:xfrm>
          <a:prstGeom prst="ellipse">
            <a:avLst/>
          </a:prstGeom>
          <a:solidFill>
            <a:srgbClr val="E7F1FB"/>
          </a:solidFill>
          <a:ln w="12700">
            <a:solidFill>
              <a:srgbClr val="1E3A5F"/>
            </a:solidFill>
            <a:prstDash val="solid"/>
          </a:ln>
        </p:spPr>
        <p:txBody>
          <a:bodyPr/>
          <a:lstStyle/>
          <a:p>
            <a:endParaRPr lang="en-GB"/>
          </a:p>
        </p:txBody>
      </p:sp>
      <p:sp>
        <p:nvSpPr>
          <p:cNvPr id="19" name="Text 17"/>
          <p:cNvSpPr/>
          <p:nvPr/>
        </p:nvSpPr>
        <p:spPr>
          <a:xfrm>
            <a:off x="914400" y="3922776"/>
            <a:ext cx="411480" cy="411480"/>
          </a:xfrm>
          <a:prstGeom prst="rect">
            <a:avLst/>
          </a:prstGeom>
          <a:noFill/>
          <a:ln/>
        </p:spPr>
        <p:txBody>
          <a:bodyPr wrap="square" lIns="0" tIns="0" rIns="0" bIns="0" rtlCol="0" anchor="ctr"/>
          <a:lstStyle/>
          <a:p>
            <a:pPr marL="0" indent="0" algn="ctr">
              <a:buNone/>
            </a:pPr>
            <a:r>
              <a:rPr lang="en-US" sz="1400" b="1" dirty="0">
                <a:solidFill>
                  <a:srgbClr val="0F2440"/>
                </a:solidFill>
                <a:latin typeface="Calibri" pitchFamily="34" charset="0"/>
                <a:ea typeface="Calibri" pitchFamily="34" charset="-122"/>
                <a:cs typeface="Calibri" pitchFamily="34" charset="-120"/>
              </a:rPr>
              <a:t>B</a:t>
            </a:r>
            <a:endParaRPr lang="en-US" sz="1400" dirty="0"/>
          </a:p>
        </p:txBody>
      </p:sp>
      <p:sp>
        <p:nvSpPr>
          <p:cNvPr id="20" name="Text 18"/>
          <p:cNvSpPr/>
          <p:nvPr/>
        </p:nvSpPr>
        <p:spPr>
          <a:xfrm>
            <a:off x="1463040" y="3886200"/>
            <a:ext cx="10058400" cy="457200"/>
          </a:xfrm>
          <a:prstGeom prst="rect">
            <a:avLst/>
          </a:prstGeom>
          <a:noFill/>
          <a:ln/>
        </p:spPr>
        <p:txBody>
          <a:bodyPr wrap="square" lIns="0" tIns="0" rIns="0" bIns="0" rtlCol="0" anchor="ctr"/>
          <a:lstStyle/>
          <a:p>
            <a:pPr marL="0" indent="0">
              <a:buNone/>
            </a:pPr>
            <a:r>
              <a:rPr lang="en-US" sz="1400" dirty="0">
                <a:solidFill>
                  <a:srgbClr val="212529"/>
                </a:solidFill>
                <a:latin typeface="Calibri" pitchFamily="34" charset="0"/>
                <a:ea typeface="Calibri" pitchFamily="34" charset="-122"/>
                <a:cs typeface="Calibri" pitchFamily="34" charset="-120"/>
              </a:rPr>
              <a:t>Multiclass classification (kategori berita: politik / olahraga / teknologi)</a:t>
            </a:r>
            <a:endParaRPr lang="en-US" sz="1400" dirty="0"/>
          </a:p>
        </p:txBody>
      </p:sp>
      <p:sp>
        <p:nvSpPr>
          <p:cNvPr id="21" name="Shape 19"/>
          <p:cNvSpPr/>
          <p:nvPr/>
        </p:nvSpPr>
        <p:spPr>
          <a:xfrm>
            <a:off x="914400" y="4425696"/>
            <a:ext cx="411480" cy="411480"/>
          </a:xfrm>
          <a:prstGeom prst="ellipse">
            <a:avLst/>
          </a:prstGeom>
          <a:solidFill>
            <a:srgbClr val="E7F1FB"/>
          </a:solidFill>
          <a:ln w="12700">
            <a:solidFill>
              <a:srgbClr val="1E3A5F"/>
            </a:solidFill>
            <a:prstDash val="solid"/>
          </a:ln>
        </p:spPr>
        <p:txBody>
          <a:bodyPr/>
          <a:lstStyle/>
          <a:p>
            <a:endParaRPr lang="en-GB"/>
          </a:p>
        </p:txBody>
      </p:sp>
      <p:sp>
        <p:nvSpPr>
          <p:cNvPr id="22" name="Text 20"/>
          <p:cNvSpPr/>
          <p:nvPr/>
        </p:nvSpPr>
        <p:spPr>
          <a:xfrm>
            <a:off x="914400" y="4425696"/>
            <a:ext cx="411480" cy="411480"/>
          </a:xfrm>
          <a:prstGeom prst="rect">
            <a:avLst/>
          </a:prstGeom>
          <a:noFill/>
          <a:ln/>
        </p:spPr>
        <p:txBody>
          <a:bodyPr wrap="square" lIns="0" tIns="0" rIns="0" bIns="0" rtlCol="0" anchor="ctr"/>
          <a:lstStyle/>
          <a:p>
            <a:pPr marL="0" indent="0" algn="ctr">
              <a:buNone/>
            </a:pPr>
            <a:r>
              <a:rPr lang="en-US" sz="1400" b="1" dirty="0">
                <a:solidFill>
                  <a:srgbClr val="0F2440"/>
                </a:solidFill>
                <a:latin typeface="Calibri" pitchFamily="34" charset="0"/>
                <a:ea typeface="Calibri" pitchFamily="34" charset="-122"/>
                <a:cs typeface="Calibri" pitchFamily="34" charset="-120"/>
              </a:rPr>
              <a:t>C</a:t>
            </a:r>
            <a:endParaRPr lang="en-US" sz="1400" dirty="0"/>
          </a:p>
        </p:txBody>
      </p:sp>
      <p:sp>
        <p:nvSpPr>
          <p:cNvPr id="23" name="Text 21"/>
          <p:cNvSpPr/>
          <p:nvPr/>
        </p:nvSpPr>
        <p:spPr>
          <a:xfrm>
            <a:off x="1463040" y="4389120"/>
            <a:ext cx="10058400" cy="457200"/>
          </a:xfrm>
          <a:prstGeom prst="rect">
            <a:avLst/>
          </a:prstGeom>
          <a:noFill/>
          <a:ln/>
        </p:spPr>
        <p:txBody>
          <a:bodyPr wrap="square" lIns="0" tIns="0" rIns="0" bIns="0" rtlCol="0" anchor="ctr"/>
          <a:lstStyle/>
          <a:p>
            <a:pPr marL="0" indent="0">
              <a:buNone/>
            </a:pPr>
            <a:r>
              <a:rPr lang="en-US" sz="1400" dirty="0">
                <a:solidFill>
                  <a:srgbClr val="212529"/>
                </a:solidFill>
                <a:latin typeface="Calibri" pitchFamily="34" charset="0"/>
                <a:ea typeface="Calibri" pitchFamily="34" charset="-122"/>
                <a:cs typeface="Calibri" pitchFamily="34" charset="-120"/>
              </a:rPr>
              <a:t>Multilabel classification (a Tokopedia review tagged 'kualitas' AND 'pengiriman')</a:t>
            </a:r>
            <a:endParaRPr lang="en-US" sz="1400" dirty="0"/>
          </a:p>
        </p:txBody>
      </p:sp>
      <p:sp>
        <p:nvSpPr>
          <p:cNvPr id="24" name="Shape 22"/>
          <p:cNvSpPr/>
          <p:nvPr/>
        </p:nvSpPr>
        <p:spPr>
          <a:xfrm>
            <a:off x="914400" y="4928616"/>
            <a:ext cx="411480" cy="411480"/>
          </a:xfrm>
          <a:prstGeom prst="ellipse">
            <a:avLst/>
          </a:prstGeom>
          <a:solidFill>
            <a:srgbClr val="E7F1FB"/>
          </a:solidFill>
          <a:ln w="12700">
            <a:solidFill>
              <a:srgbClr val="1E3A5F"/>
            </a:solidFill>
            <a:prstDash val="solid"/>
          </a:ln>
        </p:spPr>
        <p:txBody>
          <a:bodyPr/>
          <a:lstStyle/>
          <a:p>
            <a:endParaRPr lang="en-GB"/>
          </a:p>
        </p:txBody>
      </p:sp>
      <p:sp>
        <p:nvSpPr>
          <p:cNvPr id="25" name="Text 23"/>
          <p:cNvSpPr/>
          <p:nvPr/>
        </p:nvSpPr>
        <p:spPr>
          <a:xfrm>
            <a:off x="914400" y="4928616"/>
            <a:ext cx="411480" cy="411480"/>
          </a:xfrm>
          <a:prstGeom prst="rect">
            <a:avLst/>
          </a:prstGeom>
          <a:noFill/>
          <a:ln/>
        </p:spPr>
        <p:txBody>
          <a:bodyPr wrap="square" lIns="0" tIns="0" rIns="0" bIns="0" rtlCol="0" anchor="ctr"/>
          <a:lstStyle/>
          <a:p>
            <a:pPr marL="0" indent="0" algn="ctr">
              <a:buNone/>
            </a:pPr>
            <a:r>
              <a:rPr lang="en-US" sz="1400" b="1" dirty="0">
                <a:solidFill>
                  <a:srgbClr val="0F2440"/>
                </a:solidFill>
                <a:latin typeface="Calibri" pitchFamily="34" charset="0"/>
                <a:ea typeface="Calibri" pitchFamily="34" charset="-122"/>
                <a:cs typeface="Calibri" pitchFamily="34" charset="-120"/>
              </a:rPr>
              <a:t>D</a:t>
            </a:r>
            <a:endParaRPr lang="en-US" sz="1400" dirty="0"/>
          </a:p>
        </p:txBody>
      </p:sp>
      <p:sp>
        <p:nvSpPr>
          <p:cNvPr id="26" name="Text 24"/>
          <p:cNvSpPr/>
          <p:nvPr/>
        </p:nvSpPr>
        <p:spPr>
          <a:xfrm>
            <a:off x="1463040" y="4892040"/>
            <a:ext cx="10058400" cy="457200"/>
          </a:xfrm>
          <a:prstGeom prst="rect">
            <a:avLst/>
          </a:prstGeom>
          <a:noFill/>
          <a:ln/>
        </p:spPr>
        <p:txBody>
          <a:bodyPr wrap="square" lIns="0" tIns="0" rIns="0" bIns="0" rtlCol="0" anchor="ctr"/>
          <a:lstStyle/>
          <a:p>
            <a:pPr marL="0" indent="0">
              <a:buNone/>
            </a:pPr>
            <a:r>
              <a:rPr lang="en-US" sz="1400" dirty="0">
                <a:solidFill>
                  <a:srgbClr val="212529"/>
                </a:solidFill>
                <a:latin typeface="Calibri" pitchFamily="34" charset="0"/>
                <a:ea typeface="Calibri" pitchFamily="34" charset="-122"/>
                <a:cs typeface="Calibri" pitchFamily="34" charset="-120"/>
              </a:rPr>
              <a:t>Regression classification (predicting a continuous score)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a:extLst>
            <a:ext uri="{FF2B5EF4-FFF2-40B4-BE49-F238E27FC236}">
              <a16:creationId xmlns:a16="http://schemas.microsoft.com/office/drawing/2014/main" id="{47A7C73A-3517-D8C9-8C7C-174852DBCE3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A175079-8C23-7F10-6AD7-A2D5EEDC7E62}"/>
              </a:ext>
            </a:extLst>
          </p:cNvPr>
          <p:cNvSpPr/>
          <p:nvPr/>
        </p:nvSpPr>
        <p:spPr>
          <a:xfrm>
            <a:off x="0" y="0"/>
            <a:ext cx="12161520" cy="164592"/>
          </a:xfrm>
          <a:prstGeom prst="rect">
            <a:avLst/>
          </a:prstGeom>
          <a:solidFill>
            <a:srgbClr val="1E3A5F"/>
          </a:solidFill>
          <a:ln w="12700">
            <a:solidFill>
              <a:srgbClr val="1E3A5F"/>
            </a:solidFill>
            <a:prstDash val="solid"/>
          </a:ln>
        </p:spPr>
        <p:txBody>
          <a:bodyPr/>
          <a:lstStyle/>
          <a:p>
            <a:endParaRPr lang="en-GB"/>
          </a:p>
        </p:txBody>
      </p:sp>
      <p:sp>
        <p:nvSpPr>
          <p:cNvPr id="3" name="Shape 1">
            <a:extLst>
              <a:ext uri="{FF2B5EF4-FFF2-40B4-BE49-F238E27FC236}">
                <a16:creationId xmlns:a16="http://schemas.microsoft.com/office/drawing/2014/main" id="{3827FE1B-2278-120F-F56E-53DFC20F4757}"/>
              </a:ext>
            </a:extLst>
          </p:cNvPr>
          <p:cNvSpPr/>
          <p:nvPr/>
        </p:nvSpPr>
        <p:spPr>
          <a:xfrm>
            <a:off x="0" y="0"/>
            <a:ext cx="2377440" cy="164592"/>
          </a:xfrm>
          <a:prstGeom prst="rect">
            <a:avLst/>
          </a:prstGeom>
          <a:solidFill>
            <a:srgbClr val="F77F00"/>
          </a:solidFill>
          <a:ln w="12700">
            <a:solidFill>
              <a:srgbClr val="F77F00"/>
            </a:solidFill>
            <a:prstDash val="solid"/>
          </a:ln>
        </p:spPr>
        <p:txBody>
          <a:bodyPr/>
          <a:lstStyle/>
          <a:p>
            <a:endParaRPr lang="en-GB"/>
          </a:p>
        </p:txBody>
      </p:sp>
      <p:sp>
        <p:nvSpPr>
          <p:cNvPr id="4" name="Text 2">
            <a:extLst>
              <a:ext uri="{FF2B5EF4-FFF2-40B4-BE49-F238E27FC236}">
                <a16:creationId xmlns:a16="http://schemas.microsoft.com/office/drawing/2014/main" id="{22BA6117-EC98-0C02-5CD0-CAAD01D3FCA2}"/>
              </a:ext>
            </a:extLst>
          </p:cNvPr>
          <p:cNvSpPr/>
          <p:nvPr/>
        </p:nvSpPr>
        <p:spPr>
          <a:xfrm>
            <a:off x="457200" y="292608"/>
            <a:ext cx="10972800" cy="320040"/>
          </a:xfrm>
          <a:prstGeom prst="rect">
            <a:avLst/>
          </a:prstGeom>
          <a:noFill/>
          <a:ln/>
        </p:spPr>
        <p:txBody>
          <a:bodyPr wrap="square" rtlCol="0" anchor="ctr"/>
          <a:lstStyle/>
          <a:p>
            <a:pPr marL="0" indent="0">
              <a:buNone/>
            </a:pPr>
            <a:r>
              <a:rPr lang="en-US" sz="1100" b="1" kern="0" spc="400" dirty="0">
                <a:solidFill>
                  <a:srgbClr val="F77F00"/>
                </a:solidFill>
                <a:latin typeface="Calibri" pitchFamily="34" charset="0"/>
                <a:ea typeface="Calibri" pitchFamily="34" charset="-122"/>
                <a:cs typeface="Calibri" pitchFamily="34" charset="-120"/>
              </a:rPr>
              <a:t>LET'S SEE WHAT STUCK</a:t>
            </a:r>
            <a:endParaRPr lang="en-US" sz="1100" dirty="0"/>
          </a:p>
        </p:txBody>
      </p:sp>
      <p:sp>
        <p:nvSpPr>
          <p:cNvPr id="5" name="Text 3">
            <a:extLst>
              <a:ext uri="{FF2B5EF4-FFF2-40B4-BE49-F238E27FC236}">
                <a16:creationId xmlns:a16="http://schemas.microsoft.com/office/drawing/2014/main" id="{5243C6D1-559E-2C98-8A59-4566C5702627}"/>
              </a:ext>
            </a:extLst>
          </p:cNvPr>
          <p:cNvSpPr/>
          <p:nvPr/>
        </p:nvSpPr>
        <p:spPr>
          <a:xfrm>
            <a:off x="457200" y="606392"/>
            <a:ext cx="11247120" cy="777240"/>
          </a:xfrm>
          <a:prstGeom prst="rect">
            <a:avLst/>
          </a:prstGeom>
          <a:noFill/>
          <a:ln/>
        </p:spPr>
        <p:txBody>
          <a:bodyPr wrap="square" lIns="0" tIns="0" rIns="0" bIns="0" rtlCol="0" anchor="ctr"/>
          <a:lstStyle/>
          <a:p>
            <a:pPr marL="0" indent="0">
              <a:buNone/>
            </a:pPr>
            <a:r>
              <a:rPr lang="en-US" sz="3000" b="1" dirty="0">
                <a:solidFill>
                  <a:srgbClr val="0F2440"/>
                </a:solidFill>
                <a:latin typeface="Calibri" pitchFamily="34" charset="0"/>
                <a:ea typeface="Calibri" pitchFamily="34" charset="-122"/>
                <a:cs typeface="Calibri" pitchFamily="34" charset="-120"/>
              </a:rPr>
              <a:t>Pulse check — before we start</a:t>
            </a:r>
            <a:endParaRPr lang="en-US" sz="3000" dirty="0"/>
          </a:p>
        </p:txBody>
      </p:sp>
      <p:sp>
        <p:nvSpPr>
          <p:cNvPr id="6" name="Shape 4">
            <a:extLst>
              <a:ext uri="{FF2B5EF4-FFF2-40B4-BE49-F238E27FC236}">
                <a16:creationId xmlns:a16="http://schemas.microsoft.com/office/drawing/2014/main" id="{E020CC5C-D281-25F5-7377-14E2E7EB3200}"/>
              </a:ext>
            </a:extLst>
          </p:cNvPr>
          <p:cNvSpPr/>
          <p:nvPr/>
        </p:nvSpPr>
        <p:spPr>
          <a:xfrm>
            <a:off x="457200" y="137160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Shape 5">
            <a:extLst>
              <a:ext uri="{FF2B5EF4-FFF2-40B4-BE49-F238E27FC236}">
                <a16:creationId xmlns:a16="http://schemas.microsoft.com/office/drawing/2014/main" id="{43785F43-D004-ABC4-4425-94E5D315532B}"/>
              </a:ext>
            </a:extLst>
          </p:cNvPr>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a:extLst>
              <a:ext uri="{FF2B5EF4-FFF2-40B4-BE49-F238E27FC236}">
                <a16:creationId xmlns:a16="http://schemas.microsoft.com/office/drawing/2014/main" id="{FBC9A3F7-B64B-C1E3-2617-4F73819FA431}"/>
              </a:ext>
            </a:extLst>
          </p:cNvPr>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a:extLst>
              <a:ext uri="{FF2B5EF4-FFF2-40B4-BE49-F238E27FC236}">
                <a16:creationId xmlns:a16="http://schemas.microsoft.com/office/drawing/2014/main" id="{BA9A5F75-C5FF-DE10-6C43-407575E77415}"/>
              </a:ext>
            </a:extLst>
          </p:cNvPr>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5 / 35</a:t>
            </a:r>
            <a:endParaRPr lang="en-US" sz="900" dirty="0"/>
          </a:p>
        </p:txBody>
      </p:sp>
      <p:sp>
        <p:nvSpPr>
          <p:cNvPr id="10" name="Shape 8">
            <a:extLst>
              <a:ext uri="{FF2B5EF4-FFF2-40B4-BE49-F238E27FC236}">
                <a16:creationId xmlns:a16="http://schemas.microsoft.com/office/drawing/2014/main" id="{AA1C4CB6-3B36-B37F-1BAD-26D1F653ED80}"/>
              </a:ext>
            </a:extLst>
          </p:cNvPr>
          <p:cNvSpPr/>
          <p:nvPr/>
        </p:nvSpPr>
        <p:spPr>
          <a:xfrm>
            <a:off x="548640" y="1691640"/>
            <a:ext cx="640080" cy="640080"/>
          </a:xfrm>
          <a:prstGeom prst="ellipse">
            <a:avLst/>
          </a:prstGeom>
          <a:solidFill>
            <a:srgbClr val="F77F00"/>
          </a:solidFill>
          <a:ln w="12700">
            <a:solidFill>
              <a:srgbClr val="F77F00"/>
            </a:solidFill>
            <a:prstDash val="solid"/>
          </a:ln>
        </p:spPr>
        <p:txBody>
          <a:bodyPr/>
          <a:lstStyle/>
          <a:p>
            <a:endParaRPr lang="en-GB"/>
          </a:p>
        </p:txBody>
      </p:sp>
      <p:sp>
        <p:nvSpPr>
          <p:cNvPr id="11" name="Text 9">
            <a:extLst>
              <a:ext uri="{FF2B5EF4-FFF2-40B4-BE49-F238E27FC236}">
                <a16:creationId xmlns:a16="http://schemas.microsoft.com/office/drawing/2014/main" id="{37122A62-1288-31B3-06A6-273E4196C471}"/>
              </a:ext>
            </a:extLst>
          </p:cNvPr>
          <p:cNvSpPr/>
          <p:nvPr/>
        </p:nvSpPr>
        <p:spPr>
          <a:xfrm>
            <a:off x="548640" y="1691640"/>
            <a:ext cx="640080" cy="64008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a:t>
            </a:r>
            <a:endParaRPr lang="en-US" sz="3200" dirty="0"/>
          </a:p>
        </p:txBody>
      </p:sp>
      <p:sp>
        <p:nvSpPr>
          <p:cNvPr id="12" name="Text 10">
            <a:extLst>
              <a:ext uri="{FF2B5EF4-FFF2-40B4-BE49-F238E27FC236}">
                <a16:creationId xmlns:a16="http://schemas.microsoft.com/office/drawing/2014/main" id="{AF9970E3-5DFA-E475-3EAE-7550037352B6}"/>
              </a:ext>
            </a:extLst>
          </p:cNvPr>
          <p:cNvSpPr/>
          <p:nvPr/>
        </p:nvSpPr>
        <p:spPr>
          <a:xfrm>
            <a:off x="1371600" y="1783080"/>
            <a:ext cx="10058400" cy="457200"/>
          </a:xfrm>
          <a:prstGeom prst="rect">
            <a:avLst/>
          </a:prstGeom>
          <a:noFill/>
          <a:ln/>
        </p:spPr>
        <p:txBody>
          <a:bodyPr wrap="square" lIns="0" tIns="0" rIns="0" bIns="0" rtlCol="0" anchor="ctr"/>
          <a:lstStyle/>
          <a:p>
            <a:pPr marL="0" indent="0">
              <a:buNone/>
            </a:pPr>
            <a:r>
              <a:rPr lang="en-US" sz="1800" b="1" dirty="0">
                <a:solidFill>
                  <a:srgbClr val="0F2440"/>
                </a:solidFill>
                <a:latin typeface="Calibri" pitchFamily="34" charset="0"/>
                <a:ea typeface="Calibri" pitchFamily="34" charset="-122"/>
                <a:cs typeface="Calibri" pitchFamily="34" charset="-120"/>
              </a:rPr>
              <a:t>Quick poll</a:t>
            </a:r>
            <a:endParaRPr lang="en-US" sz="1800" dirty="0"/>
          </a:p>
        </p:txBody>
      </p:sp>
      <p:sp>
        <p:nvSpPr>
          <p:cNvPr id="13" name="Shape 11">
            <a:extLst>
              <a:ext uri="{FF2B5EF4-FFF2-40B4-BE49-F238E27FC236}">
                <a16:creationId xmlns:a16="http://schemas.microsoft.com/office/drawing/2014/main" id="{21EC9CD6-D8E0-815E-1DFB-02E3E829C213}"/>
              </a:ext>
            </a:extLst>
          </p:cNvPr>
          <p:cNvSpPr/>
          <p:nvPr/>
        </p:nvSpPr>
        <p:spPr>
          <a:xfrm>
            <a:off x="548640" y="2606040"/>
            <a:ext cx="11064240" cy="320040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4" name="Text 12">
            <a:extLst>
              <a:ext uri="{FF2B5EF4-FFF2-40B4-BE49-F238E27FC236}">
                <a16:creationId xmlns:a16="http://schemas.microsoft.com/office/drawing/2014/main" id="{B01F8567-7B04-8EE8-5F62-F6450107AF16}"/>
              </a:ext>
            </a:extLst>
          </p:cNvPr>
          <p:cNvSpPr/>
          <p:nvPr/>
        </p:nvSpPr>
        <p:spPr>
          <a:xfrm>
            <a:off x="914400" y="2788920"/>
            <a:ext cx="10058400" cy="457200"/>
          </a:xfrm>
          <a:prstGeom prst="rect">
            <a:avLst/>
          </a:prstGeom>
          <a:noFill/>
          <a:ln/>
        </p:spPr>
        <p:txBody>
          <a:bodyPr wrap="square" lIns="0" tIns="0" rIns="0" bIns="0" rtlCol="0" anchor="ctr"/>
          <a:lstStyle/>
          <a:p>
            <a:pPr marL="0" indent="0">
              <a:buNone/>
            </a:pPr>
            <a:r>
              <a:rPr lang="en-US" sz="1800" b="1" dirty="0">
                <a:solidFill>
                  <a:srgbClr val="0F2440"/>
                </a:solidFill>
                <a:latin typeface="Calibri" pitchFamily="34" charset="0"/>
                <a:ea typeface="Calibri" pitchFamily="34" charset="-122"/>
                <a:cs typeface="Calibri" pitchFamily="34" charset="-120"/>
              </a:rPr>
              <a:t>Which of the following is NOT a category of text classification?</a:t>
            </a:r>
            <a:endParaRPr lang="en-US" sz="1800" dirty="0"/>
          </a:p>
        </p:txBody>
      </p:sp>
      <p:sp>
        <p:nvSpPr>
          <p:cNvPr id="15" name="Shape 13">
            <a:extLst>
              <a:ext uri="{FF2B5EF4-FFF2-40B4-BE49-F238E27FC236}">
                <a16:creationId xmlns:a16="http://schemas.microsoft.com/office/drawing/2014/main" id="{32B6CE35-595A-8495-CB96-4DFF50A1A9A3}"/>
              </a:ext>
            </a:extLst>
          </p:cNvPr>
          <p:cNvSpPr/>
          <p:nvPr/>
        </p:nvSpPr>
        <p:spPr>
          <a:xfrm>
            <a:off x="914400" y="3419856"/>
            <a:ext cx="411480" cy="411480"/>
          </a:xfrm>
          <a:prstGeom prst="ellipse">
            <a:avLst/>
          </a:prstGeom>
          <a:solidFill>
            <a:srgbClr val="E7F1FB"/>
          </a:solidFill>
          <a:ln w="12700">
            <a:solidFill>
              <a:srgbClr val="1E3A5F"/>
            </a:solidFill>
            <a:prstDash val="solid"/>
          </a:ln>
        </p:spPr>
        <p:txBody>
          <a:bodyPr/>
          <a:lstStyle/>
          <a:p>
            <a:endParaRPr lang="en-GB"/>
          </a:p>
        </p:txBody>
      </p:sp>
      <p:sp>
        <p:nvSpPr>
          <p:cNvPr id="16" name="Text 14">
            <a:extLst>
              <a:ext uri="{FF2B5EF4-FFF2-40B4-BE49-F238E27FC236}">
                <a16:creationId xmlns:a16="http://schemas.microsoft.com/office/drawing/2014/main" id="{42B66823-EC9F-E7D9-DE43-09FC6D243B49}"/>
              </a:ext>
            </a:extLst>
          </p:cNvPr>
          <p:cNvSpPr/>
          <p:nvPr/>
        </p:nvSpPr>
        <p:spPr>
          <a:xfrm>
            <a:off x="914400" y="3419856"/>
            <a:ext cx="411480" cy="411480"/>
          </a:xfrm>
          <a:prstGeom prst="rect">
            <a:avLst/>
          </a:prstGeom>
          <a:noFill/>
          <a:ln/>
        </p:spPr>
        <p:txBody>
          <a:bodyPr wrap="square" lIns="0" tIns="0" rIns="0" bIns="0" rtlCol="0" anchor="ctr"/>
          <a:lstStyle/>
          <a:p>
            <a:pPr marL="0" indent="0" algn="ctr">
              <a:buNone/>
            </a:pPr>
            <a:r>
              <a:rPr lang="en-US" sz="1400" b="1" dirty="0">
                <a:solidFill>
                  <a:srgbClr val="0F2440"/>
                </a:solidFill>
                <a:latin typeface="Calibri" pitchFamily="34" charset="0"/>
                <a:ea typeface="Calibri" pitchFamily="34" charset="-122"/>
                <a:cs typeface="Calibri" pitchFamily="34" charset="-120"/>
              </a:rPr>
              <a:t>A</a:t>
            </a:r>
            <a:endParaRPr lang="en-US" sz="1400" dirty="0"/>
          </a:p>
        </p:txBody>
      </p:sp>
      <p:sp>
        <p:nvSpPr>
          <p:cNvPr id="17" name="Text 15">
            <a:extLst>
              <a:ext uri="{FF2B5EF4-FFF2-40B4-BE49-F238E27FC236}">
                <a16:creationId xmlns:a16="http://schemas.microsoft.com/office/drawing/2014/main" id="{7E9F3F82-21CE-6F40-CAD2-9BEA272F5FB1}"/>
              </a:ext>
            </a:extLst>
          </p:cNvPr>
          <p:cNvSpPr/>
          <p:nvPr/>
        </p:nvSpPr>
        <p:spPr>
          <a:xfrm>
            <a:off x="1463040" y="3383280"/>
            <a:ext cx="10058400" cy="457200"/>
          </a:xfrm>
          <a:prstGeom prst="rect">
            <a:avLst/>
          </a:prstGeom>
          <a:noFill/>
          <a:ln/>
        </p:spPr>
        <p:txBody>
          <a:bodyPr wrap="square" lIns="0" tIns="0" rIns="0" bIns="0" rtlCol="0" anchor="ctr"/>
          <a:lstStyle/>
          <a:p>
            <a:pPr marL="0" indent="0">
              <a:buNone/>
            </a:pPr>
            <a:r>
              <a:rPr lang="en-US" sz="1400" dirty="0">
                <a:solidFill>
                  <a:srgbClr val="212529"/>
                </a:solidFill>
                <a:latin typeface="Calibri" pitchFamily="34" charset="0"/>
                <a:ea typeface="Calibri" pitchFamily="34" charset="-122"/>
                <a:cs typeface="Calibri" pitchFamily="34" charset="-120"/>
              </a:rPr>
              <a:t>Binary classification (e.g., spam vs ham SMS)</a:t>
            </a:r>
            <a:endParaRPr lang="en-US" sz="1400" dirty="0"/>
          </a:p>
        </p:txBody>
      </p:sp>
      <p:sp>
        <p:nvSpPr>
          <p:cNvPr id="18" name="Shape 16">
            <a:extLst>
              <a:ext uri="{FF2B5EF4-FFF2-40B4-BE49-F238E27FC236}">
                <a16:creationId xmlns:a16="http://schemas.microsoft.com/office/drawing/2014/main" id="{B15B1B43-930E-D3E1-91E2-828AFF210262}"/>
              </a:ext>
            </a:extLst>
          </p:cNvPr>
          <p:cNvSpPr/>
          <p:nvPr/>
        </p:nvSpPr>
        <p:spPr>
          <a:xfrm>
            <a:off x="914400" y="3922776"/>
            <a:ext cx="411480" cy="411480"/>
          </a:xfrm>
          <a:prstGeom prst="ellipse">
            <a:avLst/>
          </a:prstGeom>
          <a:solidFill>
            <a:srgbClr val="E7F1FB"/>
          </a:solidFill>
          <a:ln w="12700">
            <a:solidFill>
              <a:srgbClr val="1E3A5F"/>
            </a:solidFill>
            <a:prstDash val="solid"/>
          </a:ln>
        </p:spPr>
        <p:txBody>
          <a:bodyPr/>
          <a:lstStyle/>
          <a:p>
            <a:endParaRPr lang="en-GB"/>
          </a:p>
        </p:txBody>
      </p:sp>
      <p:sp>
        <p:nvSpPr>
          <p:cNvPr id="19" name="Text 17">
            <a:extLst>
              <a:ext uri="{FF2B5EF4-FFF2-40B4-BE49-F238E27FC236}">
                <a16:creationId xmlns:a16="http://schemas.microsoft.com/office/drawing/2014/main" id="{0838546E-5821-9CB3-2DB7-F27DFA60D721}"/>
              </a:ext>
            </a:extLst>
          </p:cNvPr>
          <p:cNvSpPr/>
          <p:nvPr/>
        </p:nvSpPr>
        <p:spPr>
          <a:xfrm>
            <a:off x="914400" y="3922776"/>
            <a:ext cx="411480" cy="411480"/>
          </a:xfrm>
          <a:prstGeom prst="rect">
            <a:avLst/>
          </a:prstGeom>
          <a:noFill/>
          <a:ln/>
        </p:spPr>
        <p:txBody>
          <a:bodyPr wrap="square" lIns="0" tIns="0" rIns="0" bIns="0" rtlCol="0" anchor="ctr"/>
          <a:lstStyle/>
          <a:p>
            <a:pPr marL="0" indent="0" algn="ctr">
              <a:buNone/>
            </a:pPr>
            <a:r>
              <a:rPr lang="en-US" sz="1400" b="1" dirty="0">
                <a:solidFill>
                  <a:srgbClr val="0F2440"/>
                </a:solidFill>
                <a:latin typeface="Calibri" pitchFamily="34" charset="0"/>
                <a:ea typeface="Calibri" pitchFamily="34" charset="-122"/>
                <a:cs typeface="Calibri" pitchFamily="34" charset="-120"/>
              </a:rPr>
              <a:t>B</a:t>
            </a:r>
            <a:endParaRPr lang="en-US" sz="1400" dirty="0"/>
          </a:p>
        </p:txBody>
      </p:sp>
      <p:sp>
        <p:nvSpPr>
          <p:cNvPr id="20" name="Text 18">
            <a:extLst>
              <a:ext uri="{FF2B5EF4-FFF2-40B4-BE49-F238E27FC236}">
                <a16:creationId xmlns:a16="http://schemas.microsoft.com/office/drawing/2014/main" id="{B96FC340-251E-D7CF-C8AB-87CB206096A3}"/>
              </a:ext>
            </a:extLst>
          </p:cNvPr>
          <p:cNvSpPr/>
          <p:nvPr/>
        </p:nvSpPr>
        <p:spPr>
          <a:xfrm>
            <a:off x="1463040" y="3886200"/>
            <a:ext cx="10058400" cy="457200"/>
          </a:xfrm>
          <a:prstGeom prst="rect">
            <a:avLst/>
          </a:prstGeom>
          <a:noFill/>
          <a:ln/>
        </p:spPr>
        <p:txBody>
          <a:bodyPr wrap="square" lIns="0" tIns="0" rIns="0" bIns="0" rtlCol="0" anchor="ctr"/>
          <a:lstStyle/>
          <a:p>
            <a:pPr marL="0" indent="0">
              <a:buNone/>
            </a:pPr>
            <a:r>
              <a:rPr lang="en-US" sz="1400" dirty="0">
                <a:solidFill>
                  <a:srgbClr val="212529"/>
                </a:solidFill>
                <a:latin typeface="Calibri" pitchFamily="34" charset="0"/>
                <a:ea typeface="Calibri" pitchFamily="34" charset="-122"/>
                <a:cs typeface="Calibri" pitchFamily="34" charset="-120"/>
              </a:rPr>
              <a:t>Multiclass classification (kategori berita: politik / olahraga / teknologi)</a:t>
            </a:r>
            <a:endParaRPr lang="en-US" sz="1400" dirty="0"/>
          </a:p>
        </p:txBody>
      </p:sp>
      <p:sp>
        <p:nvSpPr>
          <p:cNvPr id="21" name="Shape 19">
            <a:extLst>
              <a:ext uri="{FF2B5EF4-FFF2-40B4-BE49-F238E27FC236}">
                <a16:creationId xmlns:a16="http://schemas.microsoft.com/office/drawing/2014/main" id="{FA53AFC9-817D-87F7-9E3B-98B04C14CCBD}"/>
              </a:ext>
            </a:extLst>
          </p:cNvPr>
          <p:cNvSpPr/>
          <p:nvPr/>
        </p:nvSpPr>
        <p:spPr>
          <a:xfrm>
            <a:off x="914400" y="4425696"/>
            <a:ext cx="411480" cy="411480"/>
          </a:xfrm>
          <a:prstGeom prst="ellipse">
            <a:avLst/>
          </a:prstGeom>
          <a:solidFill>
            <a:srgbClr val="E7F1FB"/>
          </a:solidFill>
          <a:ln w="12700">
            <a:solidFill>
              <a:srgbClr val="1E3A5F"/>
            </a:solidFill>
            <a:prstDash val="solid"/>
          </a:ln>
        </p:spPr>
        <p:txBody>
          <a:bodyPr/>
          <a:lstStyle/>
          <a:p>
            <a:endParaRPr lang="en-GB"/>
          </a:p>
        </p:txBody>
      </p:sp>
      <p:sp>
        <p:nvSpPr>
          <p:cNvPr id="22" name="Text 20">
            <a:extLst>
              <a:ext uri="{FF2B5EF4-FFF2-40B4-BE49-F238E27FC236}">
                <a16:creationId xmlns:a16="http://schemas.microsoft.com/office/drawing/2014/main" id="{C847505D-D80B-27C2-26A4-E2302FE5C570}"/>
              </a:ext>
            </a:extLst>
          </p:cNvPr>
          <p:cNvSpPr/>
          <p:nvPr/>
        </p:nvSpPr>
        <p:spPr>
          <a:xfrm>
            <a:off x="914400" y="4425696"/>
            <a:ext cx="411480" cy="411480"/>
          </a:xfrm>
          <a:prstGeom prst="rect">
            <a:avLst/>
          </a:prstGeom>
          <a:noFill/>
          <a:ln/>
        </p:spPr>
        <p:txBody>
          <a:bodyPr wrap="square" lIns="0" tIns="0" rIns="0" bIns="0" rtlCol="0" anchor="ctr"/>
          <a:lstStyle/>
          <a:p>
            <a:pPr marL="0" indent="0" algn="ctr">
              <a:buNone/>
            </a:pPr>
            <a:r>
              <a:rPr lang="en-US" sz="1400" b="1" dirty="0">
                <a:solidFill>
                  <a:srgbClr val="0F2440"/>
                </a:solidFill>
                <a:latin typeface="Calibri" pitchFamily="34" charset="0"/>
                <a:ea typeface="Calibri" pitchFamily="34" charset="-122"/>
                <a:cs typeface="Calibri" pitchFamily="34" charset="-120"/>
              </a:rPr>
              <a:t>C</a:t>
            </a:r>
            <a:endParaRPr lang="en-US" sz="1400" dirty="0"/>
          </a:p>
        </p:txBody>
      </p:sp>
      <p:sp>
        <p:nvSpPr>
          <p:cNvPr id="23" name="Text 21">
            <a:extLst>
              <a:ext uri="{FF2B5EF4-FFF2-40B4-BE49-F238E27FC236}">
                <a16:creationId xmlns:a16="http://schemas.microsoft.com/office/drawing/2014/main" id="{A061868B-8AEA-14D2-D3F5-BC5CC5FA4506}"/>
              </a:ext>
            </a:extLst>
          </p:cNvPr>
          <p:cNvSpPr/>
          <p:nvPr/>
        </p:nvSpPr>
        <p:spPr>
          <a:xfrm>
            <a:off x="1463040" y="4389120"/>
            <a:ext cx="10058400" cy="457200"/>
          </a:xfrm>
          <a:prstGeom prst="rect">
            <a:avLst/>
          </a:prstGeom>
          <a:noFill/>
          <a:ln/>
        </p:spPr>
        <p:txBody>
          <a:bodyPr wrap="square" lIns="0" tIns="0" rIns="0" bIns="0" rtlCol="0" anchor="ctr"/>
          <a:lstStyle/>
          <a:p>
            <a:pPr marL="0" indent="0">
              <a:buNone/>
            </a:pPr>
            <a:r>
              <a:rPr lang="en-US" sz="1400" dirty="0">
                <a:solidFill>
                  <a:srgbClr val="212529"/>
                </a:solidFill>
                <a:latin typeface="Calibri" pitchFamily="34" charset="0"/>
                <a:ea typeface="Calibri" pitchFamily="34" charset="-122"/>
                <a:cs typeface="Calibri" pitchFamily="34" charset="-120"/>
              </a:rPr>
              <a:t>Multilabel classification (a Tokopedia review tagged 'kualitas' AND 'pengiriman')</a:t>
            </a:r>
            <a:endParaRPr lang="en-US" sz="1400" dirty="0"/>
          </a:p>
        </p:txBody>
      </p:sp>
      <p:sp>
        <p:nvSpPr>
          <p:cNvPr id="24" name="Shape 22">
            <a:extLst>
              <a:ext uri="{FF2B5EF4-FFF2-40B4-BE49-F238E27FC236}">
                <a16:creationId xmlns:a16="http://schemas.microsoft.com/office/drawing/2014/main" id="{9179B51B-C767-EFF1-66E8-4ACD8F2DF92B}"/>
              </a:ext>
            </a:extLst>
          </p:cNvPr>
          <p:cNvSpPr/>
          <p:nvPr/>
        </p:nvSpPr>
        <p:spPr>
          <a:xfrm>
            <a:off x="914400" y="4928616"/>
            <a:ext cx="411480" cy="411480"/>
          </a:xfrm>
          <a:prstGeom prst="ellipse">
            <a:avLst/>
          </a:prstGeom>
          <a:solidFill>
            <a:srgbClr val="E7F1FB"/>
          </a:solidFill>
          <a:ln w="12700">
            <a:solidFill>
              <a:srgbClr val="1E3A5F"/>
            </a:solidFill>
            <a:prstDash val="solid"/>
          </a:ln>
        </p:spPr>
        <p:txBody>
          <a:bodyPr/>
          <a:lstStyle/>
          <a:p>
            <a:endParaRPr lang="en-GB"/>
          </a:p>
        </p:txBody>
      </p:sp>
      <p:sp>
        <p:nvSpPr>
          <p:cNvPr id="25" name="Text 23">
            <a:extLst>
              <a:ext uri="{FF2B5EF4-FFF2-40B4-BE49-F238E27FC236}">
                <a16:creationId xmlns:a16="http://schemas.microsoft.com/office/drawing/2014/main" id="{69AC59E1-3823-1BEB-51B7-BC4E63B80D9E}"/>
              </a:ext>
            </a:extLst>
          </p:cNvPr>
          <p:cNvSpPr/>
          <p:nvPr/>
        </p:nvSpPr>
        <p:spPr>
          <a:xfrm>
            <a:off x="914400" y="4928616"/>
            <a:ext cx="411480" cy="411480"/>
          </a:xfrm>
          <a:prstGeom prst="rect">
            <a:avLst/>
          </a:prstGeom>
          <a:noFill/>
          <a:ln/>
        </p:spPr>
        <p:txBody>
          <a:bodyPr wrap="square" lIns="0" tIns="0" rIns="0" bIns="0" rtlCol="0" anchor="ctr"/>
          <a:lstStyle/>
          <a:p>
            <a:pPr marL="0" indent="0" algn="ctr">
              <a:buNone/>
            </a:pPr>
            <a:r>
              <a:rPr lang="en-US" sz="1400" b="1" dirty="0">
                <a:solidFill>
                  <a:srgbClr val="0F2440"/>
                </a:solidFill>
                <a:latin typeface="Calibri" pitchFamily="34" charset="0"/>
                <a:ea typeface="Calibri" pitchFamily="34" charset="-122"/>
                <a:cs typeface="Calibri" pitchFamily="34" charset="-120"/>
              </a:rPr>
              <a:t>D</a:t>
            </a:r>
            <a:endParaRPr lang="en-US" sz="1400" dirty="0"/>
          </a:p>
        </p:txBody>
      </p:sp>
      <p:sp>
        <p:nvSpPr>
          <p:cNvPr id="26" name="Text 24">
            <a:extLst>
              <a:ext uri="{FF2B5EF4-FFF2-40B4-BE49-F238E27FC236}">
                <a16:creationId xmlns:a16="http://schemas.microsoft.com/office/drawing/2014/main" id="{854798A3-88DF-EAE9-5C6A-38B5D1097D0E}"/>
              </a:ext>
            </a:extLst>
          </p:cNvPr>
          <p:cNvSpPr/>
          <p:nvPr/>
        </p:nvSpPr>
        <p:spPr>
          <a:xfrm>
            <a:off x="1463040" y="4892040"/>
            <a:ext cx="10058400" cy="457200"/>
          </a:xfrm>
          <a:prstGeom prst="rect">
            <a:avLst/>
          </a:prstGeom>
          <a:noFill/>
          <a:ln/>
        </p:spPr>
        <p:txBody>
          <a:bodyPr wrap="square" lIns="0" tIns="0" rIns="0" bIns="0" rtlCol="0" anchor="ctr"/>
          <a:lstStyle/>
          <a:p>
            <a:pPr marL="0" indent="0">
              <a:buNone/>
            </a:pPr>
            <a:r>
              <a:rPr lang="en-US" sz="1400" dirty="0">
                <a:solidFill>
                  <a:srgbClr val="212529"/>
                </a:solidFill>
                <a:latin typeface="Calibri" pitchFamily="34" charset="0"/>
                <a:ea typeface="Calibri" pitchFamily="34" charset="-122"/>
                <a:cs typeface="Calibri" pitchFamily="34" charset="-120"/>
              </a:rPr>
              <a:t>Regression classification (predicting a continuous score)</a:t>
            </a:r>
            <a:endParaRPr lang="en-US" sz="1400" dirty="0"/>
          </a:p>
        </p:txBody>
      </p:sp>
      <p:sp>
        <p:nvSpPr>
          <p:cNvPr id="27" name="Text 25">
            <a:extLst>
              <a:ext uri="{FF2B5EF4-FFF2-40B4-BE49-F238E27FC236}">
                <a16:creationId xmlns:a16="http://schemas.microsoft.com/office/drawing/2014/main" id="{04A8F4A0-CBDC-DBC7-B6AD-5C9709934D85}"/>
              </a:ext>
            </a:extLst>
          </p:cNvPr>
          <p:cNvSpPr/>
          <p:nvPr/>
        </p:nvSpPr>
        <p:spPr>
          <a:xfrm>
            <a:off x="548640" y="5989320"/>
            <a:ext cx="11064240" cy="365760"/>
          </a:xfrm>
          <a:prstGeom prst="rect">
            <a:avLst/>
          </a:prstGeom>
          <a:noFill/>
          <a:ln/>
        </p:spPr>
        <p:txBody>
          <a:bodyPr wrap="square" lIns="0" tIns="0" rIns="0" bIns="0" rtlCol="0" anchor="ctr"/>
          <a:lstStyle/>
          <a:p>
            <a:pPr marL="0" indent="0">
              <a:buNone/>
            </a:pPr>
            <a:r>
              <a:rPr lang="en-US" b="1" i="1" dirty="0">
                <a:solidFill>
                  <a:srgbClr val="06A77D"/>
                </a:solidFill>
                <a:latin typeface="Calibri" pitchFamily="34" charset="0"/>
                <a:ea typeface="Calibri" pitchFamily="34" charset="-122"/>
                <a:cs typeface="Calibri" pitchFamily="34" charset="-120"/>
              </a:rPr>
              <a:t>Answer: D — regression predicts continuous values, not discrete classes.</a:t>
            </a:r>
            <a:endParaRPr lang="en-US" dirty="0"/>
          </a:p>
        </p:txBody>
      </p:sp>
      <p:sp>
        <p:nvSpPr>
          <p:cNvPr id="28" name="Rectangle 27">
            <a:extLst>
              <a:ext uri="{FF2B5EF4-FFF2-40B4-BE49-F238E27FC236}">
                <a16:creationId xmlns:a16="http://schemas.microsoft.com/office/drawing/2014/main" id="{AE0CCDC1-069E-0927-4B26-7CCBA83882F3}"/>
              </a:ext>
            </a:extLst>
          </p:cNvPr>
          <p:cNvSpPr/>
          <p:nvPr/>
        </p:nvSpPr>
        <p:spPr>
          <a:xfrm>
            <a:off x="868680" y="4899259"/>
            <a:ext cx="6785811" cy="502920"/>
          </a:xfrm>
          <a:prstGeom prst="rect">
            <a:avLst/>
          </a:prstGeom>
          <a:noFill/>
          <a:ln w="38100">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Tree>
    <p:extLst>
      <p:ext uri="{BB962C8B-B14F-4D97-AF65-F5344CB8AC3E}">
        <p14:creationId xmlns:p14="http://schemas.microsoft.com/office/powerpoint/2010/main" val="736303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1E3A5F"/>
          </a:solidFill>
          <a:ln w="12700">
            <a:solidFill>
              <a:srgbClr val="1E3A5F"/>
            </a:solidFill>
            <a:prstDash val="solid"/>
          </a:ln>
        </p:spPr>
        <p:txBody>
          <a:bodyPr/>
          <a:lstStyle/>
          <a:p>
            <a:endParaRPr lang="en-GB"/>
          </a:p>
        </p:txBody>
      </p:sp>
      <p:sp>
        <p:nvSpPr>
          <p:cNvPr id="3" name="Shape 1"/>
          <p:cNvSpPr/>
          <p:nvPr/>
        </p:nvSpPr>
        <p:spPr>
          <a:xfrm>
            <a:off x="0" y="0"/>
            <a:ext cx="2377440" cy="164592"/>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457200" y="292608"/>
            <a:ext cx="10972800" cy="320040"/>
          </a:xfrm>
          <a:prstGeom prst="rect">
            <a:avLst/>
          </a:prstGeom>
          <a:noFill/>
          <a:ln/>
        </p:spPr>
        <p:txBody>
          <a:bodyPr wrap="square" rtlCol="0" anchor="ctr"/>
          <a:lstStyle/>
          <a:p>
            <a:pPr marL="0" indent="0">
              <a:buNone/>
            </a:pPr>
            <a:r>
              <a:rPr lang="en-US" sz="1100" b="1" kern="0" spc="400" dirty="0">
                <a:solidFill>
                  <a:srgbClr val="F77F00"/>
                </a:solidFill>
                <a:latin typeface="Calibri" pitchFamily="34" charset="0"/>
                <a:ea typeface="Calibri" pitchFamily="34" charset="-122"/>
                <a:cs typeface="Calibri" pitchFamily="34" charset="-120"/>
              </a:rPr>
              <a:t>REAL PROBLEMS, REAL DATA</a:t>
            </a:r>
            <a:endParaRPr lang="en-US" sz="1100" dirty="0"/>
          </a:p>
        </p:txBody>
      </p:sp>
      <p:sp>
        <p:nvSpPr>
          <p:cNvPr id="5" name="Text 3"/>
          <p:cNvSpPr/>
          <p:nvPr/>
        </p:nvSpPr>
        <p:spPr>
          <a:xfrm>
            <a:off x="457200" y="594360"/>
            <a:ext cx="11247120" cy="777240"/>
          </a:xfrm>
          <a:prstGeom prst="rect">
            <a:avLst/>
          </a:prstGeom>
          <a:noFill/>
          <a:ln/>
        </p:spPr>
        <p:txBody>
          <a:bodyPr wrap="square" lIns="0" tIns="0" rIns="0" bIns="0" rtlCol="0" anchor="ctr"/>
          <a:lstStyle/>
          <a:p>
            <a:pPr marL="0" indent="0">
              <a:buNone/>
            </a:pPr>
            <a:r>
              <a:rPr lang="en-US" sz="3000" b="1" dirty="0">
                <a:solidFill>
                  <a:srgbClr val="0F2440"/>
                </a:solidFill>
                <a:latin typeface="Calibri" pitchFamily="34" charset="0"/>
                <a:ea typeface="Calibri" pitchFamily="34" charset="-122"/>
                <a:cs typeface="Calibri" pitchFamily="34" charset="-120"/>
              </a:rPr>
              <a:t>Why this matters in Indonesia</a:t>
            </a:r>
            <a:endParaRPr lang="en-US" sz="3000" dirty="0"/>
          </a:p>
        </p:txBody>
      </p:sp>
      <p:sp>
        <p:nvSpPr>
          <p:cNvPr id="6" name="Shape 4"/>
          <p:cNvSpPr/>
          <p:nvPr/>
        </p:nvSpPr>
        <p:spPr>
          <a:xfrm>
            <a:off x="457200" y="137160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6 / 35</a:t>
            </a:r>
            <a:endParaRPr lang="en-US" sz="900" dirty="0"/>
          </a:p>
        </p:txBody>
      </p:sp>
      <p:sp>
        <p:nvSpPr>
          <p:cNvPr id="10" name="Shape 8"/>
          <p:cNvSpPr/>
          <p:nvPr/>
        </p:nvSpPr>
        <p:spPr>
          <a:xfrm>
            <a:off x="548640" y="1828800"/>
            <a:ext cx="3657600" cy="274320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1" name="Text 9"/>
          <p:cNvSpPr/>
          <p:nvPr/>
        </p:nvSpPr>
        <p:spPr>
          <a:xfrm>
            <a:off x="822960" y="2011680"/>
            <a:ext cx="3200400" cy="914400"/>
          </a:xfrm>
          <a:prstGeom prst="rect">
            <a:avLst/>
          </a:prstGeom>
          <a:noFill/>
          <a:ln/>
        </p:spPr>
        <p:txBody>
          <a:bodyPr wrap="square" lIns="0" tIns="0" rIns="0" bIns="0" rtlCol="0" anchor="ctr"/>
          <a:lstStyle/>
          <a:p>
            <a:pPr marL="0" indent="0">
              <a:buNone/>
            </a:pPr>
            <a:r>
              <a:rPr lang="en-US" sz="4800" b="1" dirty="0">
                <a:solidFill>
                  <a:srgbClr val="F77F00"/>
                </a:solidFill>
                <a:latin typeface="Calibri" pitchFamily="34" charset="0"/>
                <a:ea typeface="Calibri" pitchFamily="34" charset="-122"/>
                <a:cs typeface="Calibri" pitchFamily="34" charset="-120"/>
              </a:rPr>
              <a:t>60M+</a:t>
            </a:r>
            <a:endParaRPr lang="en-US" sz="4800" dirty="0"/>
          </a:p>
        </p:txBody>
      </p:sp>
      <p:sp>
        <p:nvSpPr>
          <p:cNvPr id="12" name="Text 10"/>
          <p:cNvSpPr/>
          <p:nvPr/>
        </p:nvSpPr>
        <p:spPr>
          <a:xfrm>
            <a:off x="822960" y="2971800"/>
            <a:ext cx="3200400" cy="365760"/>
          </a:xfrm>
          <a:prstGeom prst="rect">
            <a:avLst/>
          </a:prstGeom>
          <a:noFill/>
          <a:ln/>
        </p:spPr>
        <p:txBody>
          <a:bodyPr wrap="square" lIns="0" tIns="0" rIns="0" bIns="0" rtlCol="0" anchor="ctr"/>
          <a:lstStyle/>
          <a:p>
            <a:pPr marL="0" indent="0">
              <a:buNone/>
            </a:pPr>
            <a:r>
              <a:rPr lang="en-US" sz="1300" b="1" dirty="0">
                <a:solidFill>
                  <a:srgbClr val="0F2440"/>
                </a:solidFill>
                <a:latin typeface="Calibri" pitchFamily="34" charset="0"/>
                <a:ea typeface="Calibri" pitchFamily="34" charset="-122"/>
                <a:cs typeface="Calibri" pitchFamily="34" charset="-120"/>
              </a:rPr>
              <a:t>active Tokopedia users</a:t>
            </a:r>
            <a:endParaRPr lang="en-US" sz="1300" dirty="0"/>
          </a:p>
        </p:txBody>
      </p:sp>
      <p:sp>
        <p:nvSpPr>
          <p:cNvPr id="13" name="Text 11"/>
          <p:cNvSpPr/>
          <p:nvPr/>
        </p:nvSpPr>
        <p:spPr>
          <a:xfrm>
            <a:off x="822960" y="3383280"/>
            <a:ext cx="3200400" cy="118872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Sentiment of product reviews drives seller rankings, recommendations &amp; moderation.</a:t>
            </a:r>
            <a:endParaRPr lang="en-US" sz="1200" dirty="0"/>
          </a:p>
        </p:txBody>
      </p:sp>
      <p:sp>
        <p:nvSpPr>
          <p:cNvPr id="14" name="Shape 12"/>
          <p:cNvSpPr/>
          <p:nvPr/>
        </p:nvSpPr>
        <p:spPr>
          <a:xfrm>
            <a:off x="4389120" y="1828800"/>
            <a:ext cx="3657600" cy="274320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5" name="Text 13"/>
          <p:cNvSpPr/>
          <p:nvPr/>
        </p:nvSpPr>
        <p:spPr>
          <a:xfrm>
            <a:off x="4663440" y="2011680"/>
            <a:ext cx="3200400" cy="914400"/>
          </a:xfrm>
          <a:prstGeom prst="rect">
            <a:avLst/>
          </a:prstGeom>
          <a:noFill/>
          <a:ln/>
        </p:spPr>
        <p:txBody>
          <a:bodyPr wrap="square" lIns="0" tIns="0" rIns="0" bIns="0" rtlCol="0" anchor="ctr"/>
          <a:lstStyle/>
          <a:p>
            <a:pPr marL="0" indent="0">
              <a:buNone/>
            </a:pPr>
            <a:r>
              <a:rPr lang="en-US" sz="4800" b="1" dirty="0">
                <a:solidFill>
                  <a:srgbClr val="F77F00"/>
                </a:solidFill>
                <a:latin typeface="Calibri" pitchFamily="34" charset="0"/>
                <a:ea typeface="Calibri" pitchFamily="34" charset="-122"/>
                <a:cs typeface="Calibri" pitchFamily="34" charset="-120"/>
              </a:rPr>
              <a:t>150M+</a:t>
            </a:r>
            <a:endParaRPr lang="en-US" sz="4800" dirty="0"/>
          </a:p>
        </p:txBody>
      </p:sp>
      <p:sp>
        <p:nvSpPr>
          <p:cNvPr id="16" name="Text 14"/>
          <p:cNvSpPr/>
          <p:nvPr/>
        </p:nvSpPr>
        <p:spPr>
          <a:xfrm>
            <a:off x="4663440" y="2971800"/>
            <a:ext cx="3200400" cy="365760"/>
          </a:xfrm>
          <a:prstGeom prst="rect">
            <a:avLst/>
          </a:prstGeom>
          <a:noFill/>
          <a:ln/>
        </p:spPr>
        <p:txBody>
          <a:bodyPr wrap="square" lIns="0" tIns="0" rIns="0" bIns="0" rtlCol="0" anchor="ctr"/>
          <a:lstStyle/>
          <a:p>
            <a:pPr marL="0" indent="0">
              <a:buNone/>
            </a:pPr>
            <a:r>
              <a:rPr lang="en-US" sz="1300" b="1" dirty="0">
                <a:solidFill>
                  <a:srgbClr val="0F2440"/>
                </a:solidFill>
                <a:latin typeface="Calibri" pitchFamily="34" charset="0"/>
                <a:ea typeface="Calibri" pitchFamily="34" charset="-122"/>
                <a:cs typeface="Calibri" pitchFamily="34" charset="-120"/>
              </a:rPr>
              <a:t>Indonesian SMS / chat users</a:t>
            </a:r>
            <a:endParaRPr lang="en-US" sz="1300" dirty="0"/>
          </a:p>
        </p:txBody>
      </p:sp>
      <p:sp>
        <p:nvSpPr>
          <p:cNvPr id="17" name="Text 15"/>
          <p:cNvSpPr/>
          <p:nvPr/>
        </p:nvSpPr>
        <p:spPr>
          <a:xfrm>
            <a:off x="4663440" y="3383280"/>
            <a:ext cx="3200400" cy="118872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Hoax detection on WhatsApp + spam SMS classification protects citizens daily.</a:t>
            </a:r>
            <a:endParaRPr lang="en-US" sz="1200" dirty="0"/>
          </a:p>
        </p:txBody>
      </p:sp>
      <p:sp>
        <p:nvSpPr>
          <p:cNvPr id="18" name="Shape 16"/>
          <p:cNvSpPr/>
          <p:nvPr/>
        </p:nvSpPr>
        <p:spPr>
          <a:xfrm>
            <a:off x="8229600" y="1828800"/>
            <a:ext cx="3657600" cy="274320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9" name="Text 17"/>
          <p:cNvSpPr/>
          <p:nvPr/>
        </p:nvSpPr>
        <p:spPr>
          <a:xfrm>
            <a:off x="8503920" y="2011680"/>
            <a:ext cx="3200400" cy="914400"/>
          </a:xfrm>
          <a:prstGeom prst="rect">
            <a:avLst/>
          </a:prstGeom>
          <a:noFill/>
          <a:ln/>
        </p:spPr>
        <p:txBody>
          <a:bodyPr wrap="square" lIns="0" tIns="0" rIns="0" bIns="0" rtlCol="0" anchor="ctr"/>
          <a:lstStyle/>
          <a:p>
            <a:pPr marL="0" indent="0">
              <a:buNone/>
            </a:pPr>
            <a:r>
              <a:rPr lang="en-US" sz="4800" b="1" dirty="0">
                <a:solidFill>
                  <a:srgbClr val="F77F00"/>
                </a:solidFill>
                <a:latin typeface="Calibri" pitchFamily="34" charset="0"/>
                <a:ea typeface="Calibri" pitchFamily="34" charset="-122"/>
                <a:cs typeface="Calibri" pitchFamily="34" charset="-120"/>
              </a:rPr>
              <a:t>12+</a:t>
            </a:r>
            <a:endParaRPr lang="en-US" sz="4800" dirty="0"/>
          </a:p>
        </p:txBody>
      </p:sp>
      <p:sp>
        <p:nvSpPr>
          <p:cNvPr id="20" name="Text 18"/>
          <p:cNvSpPr/>
          <p:nvPr/>
        </p:nvSpPr>
        <p:spPr>
          <a:xfrm>
            <a:off x="8503920" y="2971800"/>
            <a:ext cx="3200400" cy="365760"/>
          </a:xfrm>
          <a:prstGeom prst="rect">
            <a:avLst/>
          </a:prstGeom>
          <a:noFill/>
          <a:ln/>
        </p:spPr>
        <p:txBody>
          <a:bodyPr wrap="square" lIns="0" tIns="0" rIns="0" bIns="0" rtlCol="0" anchor="ctr"/>
          <a:lstStyle/>
          <a:p>
            <a:pPr marL="0" indent="0">
              <a:buNone/>
            </a:pPr>
            <a:r>
              <a:rPr lang="en-US" sz="1300" b="1" dirty="0">
                <a:solidFill>
                  <a:srgbClr val="0F2440"/>
                </a:solidFill>
                <a:latin typeface="Calibri" pitchFamily="34" charset="0"/>
                <a:ea typeface="Calibri" pitchFamily="34" charset="-122"/>
                <a:cs typeface="Calibri" pitchFamily="34" charset="-120"/>
              </a:rPr>
              <a:t>datasets in IndoNLU benchmark</a:t>
            </a:r>
            <a:endParaRPr lang="en-US" sz="1300" dirty="0"/>
          </a:p>
        </p:txBody>
      </p:sp>
      <p:sp>
        <p:nvSpPr>
          <p:cNvPr id="21" name="Text 19"/>
          <p:cNvSpPr/>
          <p:nvPr/>
        </p:nvSpPr>
        <p:spPr>
          <a:xfrm>
            <a:off x="8503920" y="3383280"/>
            <a:ext cx="3200400" cy="118872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Free, well-labelled corpora — sentiment (SmSA), emotion, hate speech, NER...</a:t>
            </a:r>
            <a:endParaRPr lang="en-US" sz="1200" dirty="0"/>
          </a:p>
        </p:txBody>
      </p:sp>
      <p:sp>
        <p:nvSpPr>
          <p:cNvPr id="22" name="Shape 20"/>
          <p:cNvSpPr/>
          <p:nvPr/>
        </p:nvSpPr>
        <p:spPr>
          <a:xfrm>
            <a:off x="548640" y="4846320"/>
            <a:ext cx="11064240" cy="1463040"/>
          </a:xfrm>
          <a:prstGeom prst="rect">
            <a:avLst/>
          </a:prstGeom>
          <a:solidFill>
            <a:srgbClr val="E7F1FB"/>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23" name="Text 21"/>
          <p:cNvSpPr/>
          <p:nvPr/>
        </p:nvSpPr>
        <p:spPr>
          <a:xfrm>
            <a:off x="777240" y="4983480"/>
            <a:ext cx="4572000" cy="365760"/>
          </a:xfrm>
          <a:prstGeom prst="rect">
            <a:avLst/>
          </a:prstGeom>
          <a:noFill/>
          <a:ln/>
        </p:spPr>
        <p:txBody>
          <a:bodyPr wrap="square" lIns="0" tIns="0" rIns="0" bIns="0" rtlCol="0" anchor="ctr"/>
          <a:lstStyle/>
          <a:p>
            <a:pPr marL="0" indent="0">
              <a:buNone/>
            </a:pPr>
            <a:r>
              <a:rPr lang="en-US" sz="1200" b="1" kern="0" spc="300" dirty="0">
                <a:solidFill>
                  <a:srgbClr val="00B4D8"/>
                </a:solidFill>
                <a:latin typeface="Calibri" pitchFamily="34" charset="0"/>
                <a:ea typeface="Calibri" pitchFamily="34" charset="-122"/>
                <a:cs typeface="Calibri" pitchFamily="34" charset="-120"/>
              </a:rPr>
              <a:t>Today's working example</a:t>
            </a:r>
            <a:endParaRPr lang="en-US" sz="1200" dirty="0"/>
          </a:p>
        </p:txBody>
      </p:sp>
      <p:sp>
        <p:nvSpPr>
          <p:cNvPr id="24" name="Text 22"/>
          <p:cNvSpPr/>
          <p:nvPr/>
        </p:nvSpPr>
        <p:spPr>
          <a:xfrm>
            <a:off x="777240" y="5349240"/>
            <a:ext cx="10607040" cy="914400"/>
          </a:xfrm>
          <a:prstGeom prst="rect">
            <a:avLst/>
          </a:prstGeom>
          <a:noFill/>
          <a:ln/>
        </p:spPr>
        <p:txBody>
          <a:bodyPr wrap="square" lIns="0" tIns="0" rIns="0" bIns="0" rtlCol="0" anchor="ctr"/>
          <a:lstStyle/>
          <a:p>
            <a:pPr marL="0" indent="0">
              <a:buNone/>
            </a:pPr>
            <a:r>
              <a:rPr lang="en-US" sz="1600" b="1" dirty="0">
                <a:solidFill>
                  <a:srgbClr val="0F2440"/>
                </a:solidFill>
                <a:latin typeface="Calibri" pitchFamily="34" charset="0"/>
                <a:ea typeface="Calibri" pitchFamily="34" charset="-122"/>
                <a:cs typeface="Calibri" pitchFamily="34" charset="-120"/>
              </a:rPr>
              <a:t>Classify Indonesian product reviews as positive / neutral / negative — using the SmSA subset of IndoNLU (≈12k labelled sentences).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548640" y="1280160"/>
            <a:ext cx="3657600" cy="3200400"/>
          </a:xfrm>
          <a:prstGeom prst="rect">
            <a:avLst/>
          </a:prstGeom>
          <a:noFill/>
          <a:ln/>
        </p:spPr>
        <p:txBody>
          <a:bodyPr wrap="square" rtlCol="0" anchor="t"/>
          <a:lstStyle/>
          <a:p>
            <a:pPr marL="0" indent="0">
              <a:buNone/>
            </a:pPr>
            <a:r>
              <a:rPr lang="en-US" sz="24000" b="1" dirty="0">
                <a:solidFill>
                  <a:srgbClr val="F77F00"/>
                </a:solidFill>
                <a:latin typeface="Calibri" pitchFamily="34" charset="0"/>
                <a:ea typeface="Calibri" pitchFamily="34" charset="-122"/>
                <a:cs typeface="Calibri" pitchFamily="34" charset="-120"/>
              </a:rPr>
              <a:t>01</a:t>
            </a:r>
            <a:endParaRPr lang="en-US" sz="24000" dirty="0"/>
          </a:p>
        </p:txBody>
      </p:sp>
      <p:sp>
        <p:nvSpPr>
          <p:cNvPr id="3" name="Shape 1"/>
          <p:cNvSpPr/>
          <p:nvPr/>
        </p:nvSpPr>
        <p:spPr>
          <a:xfrm>
            <a:off x="4754880" y="2377440"/>
            <a:ext cx="54864" cy="1828800"/>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5029200" y="2286000"/>
            <a:ext cx="5486400" cy="365760"/>
          </a:xfrm>
          <a:prstGeom prst="rect">
            <a:avLst/>
          </a:prstGeom>
          <a:noFill/>
          <a:ln/>
        </p:spPr>
        <p:txBody>
          <a:bodyPr wrap="square" rtlCol="0" anchor="ctr"/>
          <a:lstStyle/>
          <a:p>
            <a:pPr marL="0" indent="0">
              <a:buNone/>
            </a:pPr>
            <a:r>
              <a:rPr lang="en-US" sz="1400" b="1" kern="0" spc="600" dirty="0">
                <a:solidFill>
                  <a:srgbClr val="00B4D8"/>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5029200" y="2606040"/>
            <a:ext cx="6858000" cy="11887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Building a Text Classification System</a:t>
            </a:r>
            <a:endParaRPr lang="en-US" sz="3800" dirty="0"/>
          </a:p>
        </p:txBody>
      </p:sp>
      <p:sp>
        <p:nvSpPr>
          <p:cNvPr id="6" name="Text 4"/>
          <p:cNvSpPr/>
          <p:nvPr/>
        </p:nvSpPr>
        <p:spPr>
          <a:xfrm>
            <a:off x="5029200" y="3749040"/>
            <a:ext cx="6675120" cy="822960"/>
          </a:xfrm>
          <a:prstGeom prst="rect">
            <a:avLst/>
          </a:prstGeom>
          <a:noFill/>
          <a:ln/>
        </p:spPr>
        <p:txBody>
          <a:bodyPr wrap="square" lIns="0" tIns="0" rIns="0" bIns="0" rtlCol="0" anchor="ctr"/>
          <a:lstStyle/>
          <a:p>
            <a:pPr marL="0" indent="0">
              <a:buNone/>
            </a:pPr>
            <a:r>
              <a:rPr lang="en-US" sz="1600" dirty="0">
                <a:solidFill>
                  <a:srgbClr val="CFE5F8"/>
                </a:solidFill>
                <a:latin typeface="Calibri" pitchFamily="34" charset="0"/>
                <a:ea typeface="Calibri" pitchFamily="34" charset="-122"/>
                <a:cs typeface="Calibri" pitchFamily="34" charset="-120"/>
              </a:rPr>
              <a:t>Five steps that turn raw Bahasa Indonesia text into predictions</a:t>
            </a:r>
            <a:endParaRPr lang="en-US" sz="1600" dirty="0"/>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7 / 35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1E3A5F"/>
          </a:solidFill>
          <a:ln w="12700">
            <a:solidFill>
              <a:srgbClr val="1E3A5F"/>
            </a:solidFill>
            <a:prstDash val="solid"/>
          </a:ln>
        </p:spPr>
        <p:txBody>
          <a:bodyPr/>
          <a:lstStyle/>
          <a:p>
            <a:endParaRPr lang="en-GB"/>
          </a:p>
        </p:txBody>
      </p:sp>
      <p:sp>
        <p:nvSpPr>
          <p:cNvPr id="3" name="Shape 1"/>
          <p:cNvSpPr/>
          <p:nvPr/>
        </p:nvSpPr>
        <p:spPr>
          <a:xfrm>
            <a:off x="0" y="0"/>
            <a:ext cx="2377440" cy="164592"/>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457200" y="292608"/>
            <a:ext cx="10972800" cy="320040"/>
          </a:xfrm>
          <a:prstGeom prst="rect">
            <a:avLst/>
          </a:prstGeom>
          <a:noFill/>
          <a:ln/>
        </p:spPr>
        <p:txBody>
          <a:bodyPr wrap="square" rtlCol="0" anchor="ctr"/>
          <a:lstStyle/>
          <a:p>
            <a:pPr marL="0" indent="0">
              <a:buNone/>
            </a:pPr>
            <a:r>
              <a:rPr lang="en-US" sz="1100" b="1" kern="0" spc="400" dirty="0">
                <a:solidFill>
                  <a:srgbClr val="F77F00"/>
                </a:solidFill>
                <a:latin typeface="Calibri" pitchFamily="34" charset="0"/>
                <a:ea typeface="Calibri" pitchFamily="34" charset="-122"/>
                <a:cs typeface="Calibri" pitchFamily="34" charset="-120"/>
              </a:rPr>
              <a:t>END-TO-END VIEW</a:t>
            </a:r>
            <a:endParaRPr lang="en-US" sz="1100" dirty="0"/>
          </a:p>
        </p:txBody>
      </p:sp>
      <p:sp>
        <p:nvSpPr>
          <p:cNvPr id="5" name="Text 3"/>
          <p:cNvSpPr/>
          <p:nvPr/>
        </p:nvSpPr>
        <p:spPr>
          <a:xfrm>
            <a:off x="457200" y="594360"/>
            <a:ext cx="11247120" cy="777240"/>
          </a:xfrm>
          <a:prstGeom prst="rect">
            <a:avLst/>
          </a:prstGeom>
          <a:noFill/>
          <a:ln/>
        </p:spPr>
        <p:txBody>
          <a:bodyPr wrap="square" lIns="0" tIns="0" rIns="0" bIns="0" rtlCol="0" anchor="ctr"/>
          <a:lstStyle/>
          <a:p>
            <a:pPr marL="0" indent="0">
              <a:buNone/>
            </a:pPr>
            <a:r>
              <a:rPr lang="en-US" sz="3000" b="1" dirty="0">
                <a:solidFill>
                  <a:srgbClr val="0F2440"/>
                </a:solidFill>
                <a:latin typeface="Calibri" pitchFamily="34" charset="0"/>
                <a:ea typeface="Calibri" pitchFamily="34" charset="-122"/>
                <a:cs typeface="Calibri" pitchFamily="34" charset="-120"/>
              </a:rPr>
              <a:t>The text classification pipeline</a:t>
            </a:r>
            <a:endParaRPr lang="en-US" sz="3000" dirty="0"/>
          </a:p>
        </p:txBody>
      </p:sp>
      <p:sp>
        <p:nvSpPr>
          <p:cNvPr id="6" name="Shape 4"/>
          <p:cNvSpPr/>
          <p:nvPr/>
        </p:nvSpPr>
        <p:spPr>
          <a:xfrm>
            <a:off x="457200" y="137160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8 / 35</a:t>
            </a:r>
            <a:endParaRPr lang="en-US" sz="900" dirty="0"/>
          </a:p>
        </p:txBody>
      </p:sp>
      <p:sp>
        <p:nvSpPr>
          <p:cNvPr id="10" name="Shape 8"/>
          <p:cNvSpPr/>
          <p:nvPr/>
        </p:nvSpPr>
        <p:spPr>
          <a:xfrm>
            <a:off x="457200" y="1828800"/>
            <a:ext cx="2194560" cy="402336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1" name="Shape 9"/>
          <p:cNvSpPr/>
          <p:nvPr/>
        </p:nvSpPr>
        <p:spPr>
          <a:xfrm>
            <a:off x="457200" y="1828800"/>
            <a:ext cx="2194560" cy="640080"/>
          </a:xfrm>
          <a:prstGeom prst="rect">
            <a:avLst/>
          </a:prstGeom>
          <a:solidFill>
            <a:srgbClr val="1E3A5F"/>
          </a:solidFill>
          <a:ln w="12700">
            <a:solidFill>
              <a:srgbClr val="1E3A5F"/>
            </a:solidFill>
            <a:prstDash val="solid"/>
          </a:ln>
        </p:spPr>
        <p:txBody>
          <a:bodyPr/>
          <a:lstStyle/>
          <a:p>
            <a:endParaRPr lang="en-GB"/>
          </a:p>
        </p:txBody>
      </p:sp>
      <p:sp>
        <p:nvSpPr>
          <p:cNvPr id="12" name="Text 10"/>
          <p:cNvSpPr/>
          <p:nvPr/>
        </p:nvSpPr>
        <p:spPr>
          <a:xfrm>
            <a:off x="594360" y="1874520"/>
            <a:ext cx="548640" cy="548640"/>
          </a:xfrm>
          <a:prstGeom prst="rect">
            <a:avLst/>
          </a:prstGeom>
          <a:noFill/>
          <a:ln/>
        </p:spPr>
        <p:txBody>
          <a:bodyPr wrap="square" lIns="0" tIns="0" rIns="0" bIns="0" rtlCol="0" anchor="ctr"/>
          <a:lstStyle/>
          <a:p>
            <a:pPr marL="0" indent="0">
              <a:buNone/>
            </a:pPr>
            <a:r>
              <a:rPr lang="en-US" sz="2400" b="1" dirty="0">
                <a:solidFill>
                  <a:srgbClr val="F77F00"/>
                </a:solidFill>
                <a:latin typeface="Calibri" pitchFamily="34" charset="0"/>
                <a:ea typeface="Calibri" pitchFamily="34" charset="-122"/>
                <a:cs typeface="Calibri" pitchFamily="34" charset="-120"/>
              </a:rPr>
              <a:t>1</a:t>
            </a:r>
            <a:endParaRPr lang="en-US" sz="2400" dirty="0"/>
          </a:p>
        </p:txBody>
      </p:sp>
      <p:sp>
        <p:nvSpPr>
          <p:cNvPr id="13" name="Text 11"/>
          <p:cNvSpPr/>
          <p:nvPr/>
        </p:nvSpPr>
        <p:spPr>
          <a:xfrm>
            <a:off x="1234440" y="1947672"/>
            <a:ext cx="1371600" cy="411480"/>
          </a:xfrm>
          <a:prstGeom prst="rect">
            <a:avLst/>
          </a:prstGeom>
          <a:noFill/>
          <a:ln/>
        </p:spPr>
        <p:txBody>
          <a:bodyPr wrap="square" lIns="0" tIns="0" rIns="0" bIns="0" rtlCol="0" anchor="ctr"/>
          <a:lstStyle/>
          <a:p>
            <a:pPr marL="0" indent="0">
              <a:buNone/>
            </a:pPr>
            <a:r>
              <a:rPr lang="en-US" sz="1000" b="1" kern="0" spc="400" dirty="0">
                <a:solidFill>
                  <a:srgbClr val="9FCDED"/>
                </a:solidFill>
                <a:latin typeface="Calibri" pitchFamily="34" charset="0"/>
                <a:ea typeface="Calibri" pitchFamily="34" charset="-122"/>
                <a:cs typeface="Calibri" pitchFamily="34" charset="-120"/>
              </a:rPr>
              <a:t>STEP</a:t>
            </a:r>
            <a:endParaRPr lang="en-US" sz="1000" dirty="0"/>
          </a:p>
        </p:txBody>
      </p:sp>
      <p:sp>
        <p:nvSpPr>
          <p:cNvPr id="14" name="Text 12"/>
          <p:cNvSpPr/>
          <p:nvPr/>
        </p:nvSpPr>
        <p:spPr>
          <a:xfrm>
            <a:off x="594360" y="2606040"/>
            <a:ext cx="1920240" cy="548640"/>
          </a:xfrm>
          <a:prstGeom prst="rect">
            <a:avLst/>
          </a:prstGeom>
          <a:noFill/>
          <a:ln/>
        </p:spPr>
        <p:txBody>
          <a:bodyPr wrap="square" lIns="0" tIns="0" rIns="0" bIns="0" rtlCol="0" anchor="t"/>
          <a:lstStyle/>
          <a:p>
            <a:pPr marL="0" indent="0">
              <a:buNone/>
            </a:pPr>
            <a:r>
              <a:rPr lang="en-US" sz="1400" b="1" dirty="0">
                <a:solidFill>
                  <a:srgbClr val="0F2440"/>
                </a:solidFill>
                <a:latin typeface="Calibri" pitchFamily="34" charset="0"/>
                <a:ea typeface="Calibri" pitchFamily="34" charset="-122"/>
                <a:cs typeface="Calibri" pitchFamily="34" charset="-120"/>
              </a:rPr>
              <a:t>Data Preparation</a:t>
            </a:r>
            <a:endParaRPr lang="en-US" sz="1400" dirty="0"/>
          </a:p>
        </p:txBody>
      </p:sp>
      <p:sp>
        <p:nvSpPr>
          <p:cNvPr id="15" name="Text 13"/>
          <p:cNvSpPr/>
          <p:nvPr/>
        </p:nvSpPr>
        <p:spPr>
          <a:xfrm>
            <a:off x="594360" y="3200400"/>
            <a:ext cx="1920240" cy="2286000"/>
          </a:xfrm>
          <a:prstGeom prst="rect">
            <a:avLst/>
          </a:prstGeom>
          <a:noFill/>
          <a:ln/>
        </p:spPr>
        <p:txBody>
          <a:bodyPr wrap="square" lIns="0" tIns="0" rIns="0" bIns="0" rtlCol="0" anchor="t"/>
          <a:lstStyle/>
          <a:p>
            <a:pPr marL="0" indent="0">
              <a:buNone/>
            </a:pPr>
            <a:r>
              <a:rPr lang="en-US" sz="1100" dirty="0">
                <a:solidFill>
                  <a:srgbClr val="212529"/>
                </a:solidFill>
                <a:latin typeface="Calibri" pitchFamily="34" charset="0"/>
                <a:ea typeface="Calibri" pitchFamily="34" charset="-122"/>
                <a:cs typeface="Calibri" pitchFamily="34" charset="-120"/>
              </a:rPr>
              <a:t>Clean text, normalize, remove stopwords, stem with Sastrawi</a:t>
            </a:r>
            <a:endParaRPr lang="en-US" sz="1100" dirty="0"/>
          </a:p>
        </p:txBody>
      </p:sp>
      <p:sp>
        <p:nvSpPr>
          <p:cNvPr id="16" name="Text 14"/>
          <p:cNvSpPr/>
          <p:nvPr/>
        </p:nvSpPr>
        <p:spPr>
          <a:xfrm>
            <a:off x="2514600" y="3566160"/>
            <a:ext cx="274320" cy="548640"/>
          </a:xfrm>
          <a:prstGeom prst="rect">
            <a:avLst/>
          </a:prstGeom>
          <a:noFill/>
          <a:ln/>
        </p:spPr>
        <p:txBody>
          <a:bodyPr wrap="square" lIns="0" tIns="0" rIns="0" bIns="0" rtlCol="0" anchor="ctr"/>
          <a:lstStyle/>
          <a:p>
            <a:pPr marL="0" indent="0" algn="ctr">
              <a:buNone/>
            </a:pPr>
            <a:r>
              <a:rPr lang="en-US" sz="2800" b="1" dirty="0">
                <a:solidFill>
                  <a:srgbClr val="F77F00"/>
                </a:solidFill>
                <a:latin typeface="Calibri" pitchFamily="34" charset="0"/>
                <a:ea typeface="Calibri" pitchFamily="34" charset="-122"/>
                <a:cs typeface="Calibri" pitchFamily="34" charset="-120"/>
              </a:rPr>
              <a:t>›</a:t>
            </a:r>
            <a:endParaRPr lang="en-US" sz="2800" dirty="0"/>
          </a:p>
        </p:txBody>
      </p:sp>
      <p:sp>
        <p:nvSpPr>
          <p:cNvPr id="17" name="Shape 15"/>
          <p:cNvSpPr/>
          <p:nvPr/>
        </p:nvSpPr>
        <p:spPr>
          <a:xfrm>
            <a:off x="2798064" y="1828800"/>
            <a:ext cx="2194560" cy="402336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8" name="Shape 16"/>
          <p:cNvSpPr/>
          <p:nvPr/>
        </p:nvSpPr>
        <p:spPr>
          <a:xfrm>
            <a:off x="2798064" y="1828800"/>
            <a:ext cx="2194560" cy="640080"/>
          </a:xfrm>
          <a:prstGeom prst="rect">
            <a:avLst/>
          </a:prstGeom>
          <a:solidFill>
            <a:srgbClr val="1E3A5F"/>
          </a:solidFill>
          <a:ln w="12700">
            <a:solidFill>
              <a:srgbClr val="1E3A5F"/>
            </a:solidFill>
            <a:prstDash val="solid"/>
          </a:ln>
        </p:spPr>
        <p:txBody>
          <a:bodyPr/>
          <a:lstStyle/>
          <a:p>
            <a:endParaRPr lang="en-GB"/>
          </a:p>
        </p:txBody>
      </p:sp>
      <p:sp>
        <p:nvSpPr>
          <p:cNvPr id="19" name="Text 17"/>
          <p:cNvSpPr/>
          <p:nvPr/>
        </p:nvSpPr>
        <p:spPr>
          <a:xfrm>
            <a:off x="2935224" y="1874520"/>
            <a:ext cx="548640" cy="548640"/>
          </a:xfrm>
          <a:prstGeom prst="rect">
            <a:avLst/>
          </a:prstGeom>
          <a:noFill/>
          <a:ln/>
        </p:spPr>
        <p:txBody>
          <a:bodyPr wrap="square" lIns="0" tIns="0" rIns="0" bIns="0" rtlCol="0" anchor="ctr"/>
          <a:lstStyle/>
          <a:p>
            <a:pPr marL="0" indent="0">
              <a:buNone/>
            </a:pPr>
            <a:r>
              <a:rPr lang="en-US" sz="2400" b="1" dirty="0">
                <a:solidFill>
                  <a:srgbClr val="F77F00"/>
                </a:solidFill>
                <a:latin typeface="Calibri" pitchFamily="34" charset="0"/>
                <a:ea typeface="Calibri" pitchFamily="34" charset="-122"/>
                <a:cs typeface="Calibri" pitchFamily="34" charset="-120"/>
              </a:rPr>
              <a:t>2</a:t>
            </a:r>
            <a:endParaRPr lang="en-US" sz="2400" dirty="0"/>
          </a:p>
        </p:txBody>
      </p:sp>
      <p:sp>
        <p:nvSpPr>
          <p:cNvPr id="20" name="Text 18"/>
          <p:cNvSpPr/>
          <p:nvPr/>
        </p:nvSpPr>
        <p:spPr>
          <a:xfrm>
            <a:off x="3575304" y="1947672"/>
            <a:ext cx="1371600" cy="411480"/>
          </a:xfrm>
          <a:prstGeom prst="rect">
            <a:avLst/>
          </a:prstGeom>
          <a:noFill/>
          <a:ln/>
        </p:spPr>
        <p:txBody>
          <a:bodyPr wrap="square" lIns="0" tIns="0" rIns="0" bIns="0" rtlCol="0" anchor="ctr"/>
          <a:lstStyle/>
          <a:p>
            <a:pPr marL="0" indent="0">
              <a:buNone/>
            </a:pPr>
            <a:r>
              <a:rPr lang="en-US" sz="1000" b="1" kern="0" spc="400" dirty="0">
                <a:solidFill>
                  <a:srgbClr val="9FCDED"/>
                </a:solidFill>
                <a:latin typeface="Calibri" pitchFamily="34" charset="0"/>
                <a:ea typeface="Calibri" pitchFamily="34" charset="-122"/>
                <a:cs typeface="Calibri" pitchFamily="34" charset="-120"/>
              </a:rPr>
              <a:t>STEP</a:t>
            </a:r>
            <a:endParaRPr lang="en-US" sz="1000" dirty="0"/>
          </a:p>
        </p:txBody>
      </p:sp>
      <p:sp>
        <p:nvSpPr>
          <p:cNvPr id="21" name="Text 19"/>
          <p:cNvSpPr/>
          <p:nvPr/>
        </p:nvSpPr>
        <p:spPr>
          <a:xfrm>
            <a:off x="2935224" y="2606040"/>
            <a:ext cx="1920240" cy="548640"/>
          </a:xfrm>
          <a:prstGeom prst="rect">
            <a:avLst/>
          </a:prstGeom>
          <a:noFill/>
          <a:ln/>
        </p:spPr>
        <p:txBody>
          <a:bodyPr wrap="square" lIns="0" tIns="0" rIns="0" bIns="0" rtlCol="0" anchor="t"/>
          <a:lstStyle/>
          <a:p>
            <a:pPr marL="0" indent="0">
              <a:buNone/>
            </a:pPr>
            <a:r>
              <a:rPr lang="en-US" sz="1400" b="1" dirty="0">
                <a:solidFill>
                  <a:srgbClr val="0F2440"/>
                </a:solidFill>
                <a:latin typeface="Calibri" pitchFamily="34" charset="0"/>
                <a:ea typeface="Calibri" pitchFamily="34" charset="-122"/>
                <a:cs typeface="Calibri" pitchFamily="34" charset="-120"/>
              </a:rPr>
              <a:t>Vectorisation</a:t>
            </a:r>
            <a:endParaRPr lang="en-US" sz="1400" dirty="0"/>
          </a:p>
        </p:txBody>
      </p:sp>
      <p:sp>
        <p:nvSpPr>
          <p:cNvPr id="22" name="Text 20"/>
          <p:cNvSpPr/>
          <p:nvPr/>
        </p:nvSpPr>
        <p:spPr>
          <a:xfrm>
            <a:off x="2935224" y="3200400"/>
            <a:ext cx="1920240" cy="2286000"/>
          </a:xfrm>
          <a:prstGeom prst="rect">
            <a:avLst/>
          </a:prstGeom>
          <a:noFill/>
          <a:ln/>
        </p:spPr>
        <p:txBody>
          <a:bodyPr wrap="square" lIns="0" tIns="0" rIns="0" bIns="0" rtlCol="0" anchor="t"/>
          <a:lstStyle/>
          <a:p>
            <a:pPr marL="0" indent="0">
              <a:buNone/>
            </a:pPr>
            <a:r>
              <a:rPr lang="en-US" sz="1100" dirty="0">
                <a:solidFill>
                  <a:srgbClr val="212529"/>
                </a:solidFill>
                <a:latin typeface="Calibri" pitchFamily="34" charset="0"/>
                <a:ea typeface="Calibri" pitchFamily="34" charset="-122"/>
                <a:cs typeface="Calibri" pitchFamily="34" charset="-120"/>
              </a:rPr>
              <a:t>Turn text into numbers — TF-IDF, count vectors, or embeddings</a:t>
            </a:r>
            <a:endParaRPr lang="en-US" sz="1100" dirty="0"/>
          </a:p>
        </p:txBody>
      </p:sp>
      <p:sp>
        <p:nvSpPr>
          <p:cNvPr id="23" name="Text 21"/>
          <p:cNvSpPr/>
          <p:nvPr/>
        </p:nvSpPr>
        <p:spPr>
          <a:xfrm>
            <a:off x="4855464" y="3566160"/>
            <a:ext cx="274320" cy="548640"/>
          </a:xfrm>
          <a:prstGeom prst="rect">
            <a:avLst/>
          </a:prstGeom>
          <a:noFill/>
          <a:ln/>
        </p:spPr>
        <p:txBody>
          <a:bodyPr wrap="square" lIns="0" tIns="0" rIns="0" bIns="0" rtlCol="0" anchor="ctr"/>
          <a:lstStyle/>
          <a:p>
            <a:pPr marL="0" indent="0" algn="ctr">
              <a:buNone/>
            </a:pPr>
            <a:r>
              <a:rPr lang="en-US" sz="2800" b="1" dirty="0">
                <a:solidFill>
                  <a:srgbClr val="F77F00"/>
                </a:solidFill>
                <a:latin typeface="Calibri" pitchFamily="34" charset="0"/>
                <a:ea typeface="Calibri" pitchFamily="34" charset="-122"/>
                <a:cs typeface="Calibri" pitchFamily="34" charset="-120"/>
              </a:rPr>
              <a:t>›</a:t>
            </a:r>
            <a:endParaRPr lang="en-US" sz="2800" dirty="0"/>
          </a:p>
        </p:txBody>
      </p:sp>
      <p:sp>
        <p:nvSpPr>
          <p:cNvPr id="24" name="Shape 22"/>
          <p:cNvSpPr/>
          <p:nvPr/>
        </p:nvSpPr>
        <p:spPr>
          <a:xfrm>
            <a:off x="5138928" y="1828800"/>
            <a:ext cx="2194560" cy="402336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25" name="Shape 23"/>
          <p:cNvSpPr/>
          <p:nvPr/>
        </p:nvSpPr>
        <p:spPr>
          <a:xfrm>
            <a:off x="5138928" y="1828800"/>
            <a:ext cx="2194560" cy="640080"/>
          </a:xfrm>
          <a:prstGeom prst="rect">
            <a:avLst/>
          </a:prstGeom>
          <a:solidFill>
            <a:srgbClr val="1E3A5F"/>
          </a:solidFill>
          <a:ln w="12700">
            <a:solidFill>
              <a:srgbClr val="1E3A5F"/>
            </a:solidFill>
            <a:prstDash val="solid"/>
          </a:ln>
        </p:spPr>
        <p:txBody>
          <a:bodyPr/>
          <a:lstStyle/>
          <a:p>
            <a:endParaRPr lang="en-GB"/>
          </a:p>
        </p:txBody>
      </p:sp>
      <p:sp>
        <p:nvSpPr>
          <p:cNvPr id="26" name="Text 24"/>
          <p:cNvSpPr/>
          <p:nvPr/>
        </p:nvSpPr>
        <p:spPr>
          <a:xfrm>
            <a:off x="5276088" y="1874520"/>
            <a:ext cx="548640" cy="548640"/>
          </a:xfrm>
          <a:prstGeom prst="rect">
            <a:avLst/>
          </a:prstGeom>
          <a:noFill/>
          <a:ln/>
        </p:spPr>
        <p:txBody>
          <a:bodyPr wrap="square" lIns="0" tIns="0" rIns="0" bIns="0" rtlCol="0" anchor="ctr"/>
          <a:lstStyle/>
          <a:p>
            <a:pPr marL="0" indent="0">
              <a:buNone/>
            </a:pPr>
            <a:r>
              <a:rPr lang="en-US" sz="2400" b="1" dirty="0">
                <a:solidFill>
                  <a:srgbClr val="F77F00"/>
                </a:solidFill>
                <a:latin typeface="Calibri" pitchFamily="34" charset="0"/>
                <a:ea typeface="Calibri" pitchFamily="34" charset="-122"/>
                <a:cs typeface="Calibri" pitchFamily="34" charset="-120"/>
              </a:rPr>
              <a:t>3</a:t>
            </a:r>
            <a:endParaRPr lang="en-US" sz="2400" dirty="0"/>
          </a:p>
        </p:txBody>
      </p:sp>
      <p:sp>
        <p:nvSpPr>
          <p:cNvPr id="27" name="Text 25"/>
          <p:cNvSpPr/>
          <p:nvPr/>
        </p:nvSpPr>
        <p:spPr>
          <a:xfrm>
            <a:off x="5916168" y="1947672"/>
            <a:ext cx="1371600" cy="411480"/>
          </a:xfrm>
          <a:prstGeom prst="rect">
            <a:avLst/>
          </a:prstGeom>
          <a:noFill/>
          <a:ln/>
        </p:spPr>
        <p:txBody>
          <a:bodyPr wrap="square" lIns="0" tIns="0" rIns="0" bIns="0" rtlCol="0" anchor="ctr"/>
          <a:lstStyle/>
          <a:p>
            <a:pPr marL="0" indent="0">
              <a:buNone/>
            </a:pPr>
            <a:r>
              <a:rPr lang="en-US" sz="1000" b="1" kern="0" spc="400" dirty="0">
                <a:solidFill>
                  <a:srgbClr val="9FCDED"/>
                </a:solidFill>
                <a:latin typeface="Calibri" pitchFamily="34" charset="0"/>
                <a:ea typeface="Calibri" pitchFamily="34" charset="-122"/>
                <a:cs typeface="Calibri" pitchFamily="34" charset="-120"/>
              </a:rPr>
              <a:t>STEP</a:t>
            </a:r>
            <a:endParaRPr lang="en-US" sz="1000" dirty="0"/>
          </a:p>
        </p:txBody>
      </p:sp>
      <p:sp>
        <p:nvSpPr>
          <p:cNvPr id="28" name="Text 26"/>
          <p:cNvSpPr/>
          <p:nvPr/>
        </p:nvSpPr>
        <p:spPr>
          <a:xfrm>
            <a:off x="5276088" y="2606040"/>
            <a:ext cx="1920240" cy="548640"/>
          </a:xfrm>
          <a:prstGeom prst="rect">
            <a:avLst/>
          </a:prstGeom>
          <a:noFill/>
          <a:ln/>
        </p:spPr>
        <p:txBody>
          <a:bodyPr wrap="square" lIns="0" tIns="0" rIns="0" bIns="0" rtlCol="0" anchor="t"/>
          <a:lstStyle/>
          <a:p>
            <a:pPr marL="0" indent="0">
              <a:buNone/>
            </a:pPr>
            <a:r>
              <a:rPr lang="en-US" sz="1400" b="1" dirty="0">
                <a:solidFill>
                  <a:srgbClr val="0F2440"/>
                </a:solidFill>
                <a:latin typeface="Calibri" pitchFamily="34" charset="0"/>
                <a:ea typeface="Calibri" pitchFamily="34" charset="-122"/>
                <a:cs typeface="Calibri" pitchFamily="34" charset="-120"/>
              </a:rPr>
              <a:t>Train / Test Split</a:t>
            </a:r>
            <a:endParaRPr lang="en-US" sz="1400" dirty="0"/>
          </a:p>
        </p:txBody>
      </p:sp>
      <p:sp>
        <p:nvSpPr>
          <p:cNvPr id="29" name="Text 27"/>
          <p:cNvSpPr/>
          <p:nvPr/>
        </p:nvSpPr>
        <p:spPr>
          <a:xfrm>
            <a:off x="5276088" y="3200400"/>
            <a:ext cx="1920240" cy="2286000"/>
          </a:xfrm>
          <a:prstGeom prst="rect">
            <a:avLst/>
          </a:prstGeom>
          <a:noFill/>
          <a:ln/>
        </p:spPr>
        <p:txBody>
          <a:bodyPr wrap="square" lIns="0" tIns="0" rIns="0" bIns="0" rtlCol="0" anchor="t"/>
          <a:lstStyle/>
          <a:p>
            <a:pPr marL="0" indent="0">
              <a:buNone/>
            </a:pPr>
            <a:r>
              <a:rPr lang="en-US" sz="1100" dirty="0">
                <a:solidFill>
                  <a:srgbClr val="212529"/>
                </a:solidFill>
                <a:latin typeface="Calibri" pitchFamily="34" charset="0"/>
                <a:ea typeface="Calibri" pitchFamily="34" charset="-122"/>
                <a:cs typeface="Calibri" pitchFamily="34" charset="-120"/>
              </a:rPr>
              <a:t>Stratified split so class balance is preserved</a:t>
            </a:r>
            <a:endParaRPr lang="en-US" sz="1100" dirty="0"/>
          </a:p>
        </p:txBody>
      </p:sp>
      <p:sp>
        <p:nvSpPr>
          <p:cNvPr id="30" name="Text 28"/>
          <p:cNvSpPr/>
          <p:nvPr/>
        </p:nvSpPr>
        <p:spPr>
          <a:xfrm>
            <a:off x="7196328" y="3566160"/>
            <a:ext cx="274320" cy="548640"/>
          </a:xfrm>
          <a:prstGeom prst="rect">
            <a:avLst/>
          </a:prstGeom>
          <a:noFill/>
          <a:ln/>
        </p:spPr>
        <p:txBody>
          <a:bodyPr wrap="square" lIns="0" tIns="0" rIns="0" bIns="0" rtlCol="0" anchor="ctr"/>
          <a:lstStyle/>
          <a:p>
            <a:pPr marL="0" indent="0" algn="ctr">
              <a:buNone/>
            </a:pPr>
            <a:r>
              <a:rPr lang="en-US" sz="2800" b="1" dirty="0">
                <a:solidFill>
                  <a:srgbClr val="F77F00"/>
                </a:solidFill>
                <a:latin typeface="Calibri" pitchFamily="34" charset="0"/>
                <a:ea typeface="Calibri" pitchFamily="34" charset="-122"/>
                <a:cs typeface="Calibri" pitchFamily="34" charset="-120"/>
              </a:rPr>
              <a:t>›</a:t>
            </a:r>
            <a:endParaRPr lang="en-US" sz="2800" dirty="0"/>
          </a:p>
        </p:txBody>
      </p:sp>
      <p:sp>
        <p:nvSpPr>
          <p:cNvPr id="31" name="Shape 29"/>
          <p:cNvSpPr/>
          <p:nvPr/>
        </p:nvSpPr>
        <p:spPr>
          <a:xfrm>
            <a:off x="7479792" y="1828800"/>
            <a:ext cx="2194560" cy="402336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32" name="Shape 30"/>
          <p:cNvSpPr/>
          <p:nvPr/>
        </p:nvSpPr>
        <p:spPr>
          <a:xfrm>
            <a:off x="7479792" y="1828800"/>
            <a:ext cx="2194560" cy="640080"/>
          </a:xfrm>
          <a:prstGeom prst="rect">
            <a:avLst/>
          </a:prstGeom>
          <a:solidFill>
            <a:srgbClr val="1E3A5F"/>
          </a:solidFill>
          <a:ln w="12700">
            <a:solidFill>
              <a:srgbClr val="1E3A5F"/>
            </a:solidFill>
            <a:prstDash val="solid"/>
          </a:ln>
        </p:spPr>
        <p:txBody>
          <a:bodyPr/>
          <a:lstStyle/>
          <a:p>
            <a:endParaRPr lang="en-GB"/>
          </a:p>
        </p:txBody>
      </p:sp>
      <p:sp>
        <p:nvSpPr>
          <p:cNvPr id="33" name="Text 31"/>
          <p:cNvSpPr/>
          <p:nvPr/>
        </p:nvSpPr>
        <p:spPr>
          <a:xfrm>
            <a:off x="7616952" y="1874520"/>
            <a:ext cx="548640" cy="548640"/>
          </a:xfrm>
          <a:prstGeom prst="rect">
            <a:avLst/>
          </a:prstGeom>
          <a:noFill/>
          <a:ln/>
        </p:spPr>
        <p:txBody>
          <a:bodyPr wrap="square" lIns="0" tIns="0" rIns="0" bIns="0" rtlCol="0" anchor="ctr"/>
          <a:lstStyle/>
          <a:p>
            <a:pPr marL="0" indent="0">
              <a:buNone/>
            </a:pPr>
            <a:r>
              <a:rPr lang="en-US" sz="2400" b="1" dirty="0">
                <a:solidFill>
                  <a:srgbClr val="F77F00"/>
                </a:solidFill>
                <a:latin typeface="Calibri" pitchFamily="34" charset="0"/>
                <a:ea typeface="Calibri" pitchFamily="34" charset="-122"/>
                <a:cs typeface="Calibri" pitchFamily="34" charset="-120"/>
              </a:rPr>
              <a:t>4</a:t>
            </a:r>
            <a:endParaRPr lang="en-US" sz="2400" dirty="0"/>
          </a:p>
        </p:txBody>
      </p:sp>
      <p:sp>
        <p:nvSpPr>
          <p:cNvPr id="34" name="Text 32"/>
          <p:cNvSpPr/>
          <p:nvPr/>
        </p:nvSpPr>
        <p:spPr>
          <a:xfrm>
            <a:off x="8257032" y="1947672"/>
            <a:ext cx="1371600" cy="411480"/>
          </a:xfrm>
          <a:prstGeom prst="rect">
            <a:avLst/>
          </a:prstGeom>
          <a:noFill/>
          <a:ln/>
        </p:spPr>
        <p:txBody>
          <a:bodyPr wrap="square" lIns="0" tIns="0" rIns="0" bIns="0" rtlCol="0" anchor="ctr"/>
          <a:lstStyle/>
          <a:p>
            <a:pPr marL="0" indent="0">
              <a:buNone/>
            </a:pPr>
            <a:r>
              <a:rPr lang="en-US" sz="1000" b="1" kern="0" spc="400" dirty="0">
                <a:solidFill>
                  <a:srgbClr val="9FCDED"/>
                </a:solidFill>
                <a:latin typeface="Calibri" pitchFamily="34" charset="0"/>
                <a:ea typeface="Calibri" pitchFamily="34" charset="-122"/>
                <a:cs typeface="Calibri" pitchFamily="34" charset="-120"/>
              </a:rPr>
              <a:t>STEP</a:t>
            </a:r>
            <a:endParaRPr lang="en-US" sz="1000" dirty="0"/>
          </a:p>
        </p:txBody>
      </p:sp>
      <p:sp>
        <p:nvSpPr>
          <p:cNvPr id="35" name="Text 33"/>
          <p:cNvSpPr/>
          <p:nvPr/>
        </p:nvSpPr>
        <p:spPr>
          <a:xfrm>
            <a:off x="7616952" y="2606040"/>
            <a:ext cx="1920240" cy="548640"/>
          </a:xfrm>
          <a:prstGeom prst="rect">
            <a:avLst/>
          </a:prstGeom>
          <a:noFill/>
          <a:ln/>
        </p:spPr>
        <p:txBody>
          <a:bodyPr wrap="square" lIns="0" tIns="0" rIns="0" bIns="0" rtlCol="0" anchor="t"/>
          <a:lstStyle/>
          <a:p>
            <a:pPr marL="0" indent="0">
              <a:buNone/>
            </a:pPr>
            <a:r>
              <a:rPr lang="en-US" sz="1400" b="1" dirty="0">
                <a:solidFill>
                  <a:srgbClr val="0F2440"/>
                </a:solidFill>
                <a:latin typeface="Calibri" pitchFamily="34" charset="0"/>
                <a:ea typeface="Calibri" pitchFamily="34" charset="-122"/>
                <a:cs typeface="Calibri" pitchFamily="34" charset="-120"/>
              </a:rPr>
              <a:t>Model Training</a:t>
            </a:r>
            <a:endParaRPr lang="en-US" sz="1400" dirty="0"/>
          </a:p>
        </p:txBody>
      </p:sp>
      <p:sp>
        <p:nvSpPr>
          <p:cNvPr id="36" name="Text 34"/>
          <p:cNvSpPr/>
          <p:nvPr/>
        </p:nvSpPr>
        <p:spPr>
          <a:xfrm>
            <a:off x="7616952" y="3200400"/>
            <a:ext cx="1920240" cy="2286000"/>
          </a:xfrm>
          <a:prstGeom prst="rect">
            <a:avLst/>
          </a:prstGeom>
          <a:noFill/>
          <a:ln/>
        </p:spPr>
        <p:txBody>
          <a:bodyPr wrap="square" lIns="0" tIns="0" rIns="0" bIns="0" rtlCol="0" anchor="t"/>
          <a:lstStyle/>
          <a:p>
            <a:pPr marL="0" indent="0">
              <a:buNone/>
            </a:pPr>
            <a:r>
              <a:rPr lang="en-US" sz="1100" dirty="0">
                <a:solidFill>
                  <a:srgbClr val="212529"/>
                </a:solidFill>
                <a:latin typeface="Calibri" pitchFamily="34" charset="0"/>
                <a:ea typeface="Calibri" pitchFamily="34" charset="-122"/>
                <a:cs typeface="Calibri" pitchFamily="34" charset="-120"/>
              </a:rPr>
              <a:t>Logistic Regression, Naive Bayes, SVM — start simple</a:t>
            </a:r>
            <a:endParaRPr lang="en-US" sz="1100" dirty="0"/>
          </a:p>
        </p:txBody>
      </p:sp>
      <p:sp>
        <p:nvSpPr>
          <p:cNvPr id="37" name="Text 35"/>
          <p:cNvSpPr/>
          <p:nvPr/>
        </p:nvSpPr>
        <p:spPr>
          <a:xfrm>
            <a:off x="9537192" y="3566160"/>
            <a:ext cx="274320" cy="548640"/>
          </a:xfrm>
          <a:prstGeom prst="rect">
            <a:avLst/>
          </a:prstGeom>
          <a:noFill/>
          <a:ln/>
        </p:spPr>
        <p:txBody>
          <a:bodyPr wrap="square" lIns="0" tIns="0" rIns="0" bIns="0" rtlCol="0" anchor="ctr"/>
          <a:lstStyle/>
          <a:p>
            <a:pPr marL="0" indent="0" algn="ctr">
              <a:buNone/>
            </a:pPr>
            <a:r>
              <a:rPr lang="en-US" sz="2800" b="1" dirty="0">
                <a:solidFill>
                  <a:srgbClr val="F77F00"/>
                </a:solidFill>
                <a:latin typeface="Calibri" pitchFamily="34" charset="0"/>
                <a:ea typeface="Calibri" pitchFamily="34" charset="-122"/>
                <a:cs typeface="Calibri" pitchFamily="34" charset="-120"/>
              </a:rPr>
              <a:t>›</a:t>
            </a:r>
            <a:endParaRPr lang="en-US" sz="2800" dirty="0"/>
          </a:p>
        </p:txBody>
      </p:sp>
      <p:sp>
        <p:nvSpPr>
          <p:cNvPr id="38" name="Shape 36"/>
          <p:cNvSpPr/>
          <p:nvPr/>
        </p:nvSpPr>
        <p:spPr>
          <a:xfrm>
            <a:off x="9820656" y="1828800"/>
            <a:ext cx="2194560" cy="402336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39" name="Shape 37"/>
          <p:cNvSpPr/>
          <p:nvPr/>
        </p:nvSpPr>
        <p:spPr>
          <a:xfrm>
            <a:off x="9820656" y="1828800"/>
            <a:ext cx="2194560" cy="640080"/>
          </a:xfrm>
          <a:prstGeom prst="rect">
            <a:avLst/>
          </a:prstGeom>
          <a:solidFill>
            <a:srgbClr val="1E3A5F"/>
          </a:solidFill>
          <a:ln w="12700">
            <a:solidFill>
              <a:srgbClr val="1E3A5F"/>
            </a:solidFill>
            <a:prstDash val="solid"/>
          </a:ln>
        </p:spPr>
        <p:txBody>
          <a:bodyPr/>
          <a:lstStyle/>
          <a:p>
            <a:endParaRPr lang="en-GB"/>
          </a:p>
        </p:txBody>
      </p:sp>
      <p:sp>
        <p:nvSpPr>
          <p:cNvPr id="40" name="Text 38"/>
          <p:cNvSpPr/>
          <p:nvPr/>
        </p:nvSpPr>
        <p:spPr>
          <a:xfrm>
            <a:off x="9957816" y="1874520"/>
            <a:ext cx="548640" cy="548640"/>
          </a:xfrm>
          <a:prstGeom prst="rect">
            <a:avLst/>
          </a:prstGeom>
          <a:noFill/>
          <a:ln/>
        </p:spPr>
        <p:txBody>
          <a:bodyPr wrap="square" lIns="0" tIns="0" rIns="0" bIns="0" rtlCol="0" anchor="ctr"/>
          <a:lstStyle/>
          <a:p>
            <a:pPr marL="0" indent="0">
              <a:buNone/>
            </a:pPr>
            <a:r>
              <a:rPr lang="en-US" sz="2400" b="1" dirty="0">
                <a:solidFill>
                  <a:srgbClr val="F77F00"/>
                </a:solidFill>
                <a:latin typeface="Calibri" pitchFamily="34" charset="0"/>
                <a:ea typeface="Calibri" pitchFamily="34" charset="-122"/>
                <a:cs typeface="Calibri" pitchFamily="34" charset="-120"/>
              </a:rPr>
              <a:t>5</a:t>
            </a:r>
            <a:endParaRPr lang="en-US" sz="2400" dirty="0"/>
          </a:p>
        </p:txBody>
      </p:sp>
      <p:sp>
        <p:nvSpPr>
          <p:cNvPr id="41" name="Text 39"/>
          <p:cNvSpPr/>
          <p:nvPr/>
        </p:nvSpPr>
        <p:spPr>
          <a:xfrm>
            <a:off x="10597896" y="1947672"/>
            <a:ext cx="1371600" cy="411480"/>
          </a:xfrm>
          <a:prstGeom prst="rect">
            <a:avLst/>
          </a:prstGeom>
          <a:noFill/>
          <a:ln/>
        </p:spPr>
        <p:txBody>
          <a:bodyPr wrap="square" lIns="0" tIns="0" rIns="0" bIns="0" rtlCol="0" anchor="ctr"/>
          <a:lstStyle/>
          <a:p>
            <a:pPr marL="0" indent="0">
              <a:buNone/>
            </a:pPr>
            <a:r>
              <a:rPr lang="en-US" sz="1000" b="1" kern="0" spc="400" dirty="0">
                <a:solidFill>
                  <a:srgbClr val="9FCDED"/>
                </a:solidFill>
                <a:latin typeface="Calibri" pitchFamily="34" charset="0"/>
                <a:ea typeface="Calibri" pitchFamily="34" charset="-122"/>
                <a:cs typeface="Calibri" pitchFamily="34" charset="-120"/>
              </a:rPr>
              <a:t>STEP</a:t>
            </a:r>
            <a:endParaRPr lang="en-US" sz="1000" dirty="0"/>
          </a:p>
        </p:txBody>
      </p:sp>
      <p:sp>
        <p:nvSpPr>
          <p:cNvPr id="42" name="Text 40"/>
          <p:cNvSpPr/>
          <p:nvPr/>
        </p:nvSpPr>
        <p:spPr>
          <a:xfrm>
            <a:off x="9957816" y="2606040"/>
            <a:ext cx="1920240" cy="548640"/>
          </a:xfrm>
          <a:prstGeom prst="rect">
            <a:avLst/>
          </a:prstGeom>
          <a:noFill/>
          <a:ln/>
        </p:spPr>
        <p:txBody>
          <a:bodyPr wrap="square" lIns="0" tIns="0" rIns="0" bIns="0" rtlCol="0" anchor="t"/>
          <a:lstStyle/>
          <a:p>
            <a:pPr marL="0" indent="0">
              <a:buNone/>
            </a:pPr>
            <a:r>
              <a:rPr lang="en-US" sz="1400" b="1" dirty="0">
                <a:solidFill>
                  <a:srgbClr val="0F2440"/>
                </a:solidFill>
                <a:latin typeface="Calibri" pitchFamily="34" charset="0"/>
                <a:ea typeface="Calibri" pitchFamily="34" charset="-122"/>
                <a:cs typeface="Calibri" pitchFamily="34" charset="-120"/>
              </a:rPr>
              <a:t>Evaluation</a:t>
            </a:r>
            <a:endParaRPr lang="en-US" sz="1400" dirty="0"/>
          </a:p>
        </p:txBody>
      </p:sp>
      <p:sp>
        <p:nvSpPr>
          <p:cNvPr id="43" name="Text 41"/>
          <p:cNvSpPr/>
          <p:nvPr/>
        </p:nvSpPr>
        <p:spPr>
          <a:xfrm>
            <a:off x="9957816" y="3200400"/>
            <a:ext cx="1920240" cy="2286000"/>
          </a:xfrm>
          <a:prstGeom prst="rect">
            <a:avLst/>
          </a:prstGeom>
          <a:noFill/>
          <a:ln/>
        </p:spPr>
        <p:txBody>
          <a:bodyPr wrap="square" lIns="0" tIns="0" rIns="0" bIns="0" rtlCol="0" anchor="t"/>
          <a:lstStyle/>
          <a:p>
            <a:pPr marL="0" indent="0">
              <a:buNone/>
            </a:pPr>
            <a:r>
              <a:rPr lang="en-US" sz="1100" dirty="0">
                <a:solidFill>
                  <a:srgbClr val="212529"/>
                </a:solidFill>
                <a:latin typeface="Calibri" pitchFamily="34" charset="0"/>
                <a:ea typeface="Calibri" pitchFamily="34" charset="-122"/>
                <a:cs typeface="Calibri" pitchFamily="34" charset="-120"/>
              </a:rPr>
              <a:t>Accuracy, F1 per class, confusion matrix, cross-validated metrics</a:t>
            </a:r>
            <a:endParaRPr lang="en-US" sz="1100" dirty="0"/>
          </a:p>
        </p:txBody>
      </p:sp>
      <p:sp>
        <p:nvSpPr>
          <p:cNvPr id="44" name="Shape 42"/>
          <p:cNvSpPr/>
          <p:nvPr/>
        </p:nvSpPr>
        <p:spPr>
          <a:xfrm>
            <a:off x="548640" y="5989320"/>
            <a:ext cx="11064240" cy="457200"/>
          </a:xfrm>
          <a:prstGeom prst="rect">
            <a:avLst/>
          </a:prstGeom>
          <a:solidFill>
            <a:srgbClr val="FFE9D6"/>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45" name="Text 43"/>
          <p:cNvSpPr/>
          <p:nvPr/>
        </p:nvSpPr>
        <p:spPr>
          <a:xfrm>
            <a:off x="777240" y="6035040"/>
            <a:ext cx="10698480" cy="365760"/>
          </a:xfrm>
          <a:prstGeom prst="rect">
            <a:avLst/>
          </a:prstGeom>
          <a:noFill/>
          <a:ln/>
        </p:spPr>
        <p:txBody>
          <a:bodyPr wrap="square" lIns="0" tIns="0" rIns="0" bIns="0" rtlCol="0" anchor="ctr"/>
          <a:lstStyle/>
          <a:p>
            <a:pPr marL="0" indent="0">
              <a:buNone/>
            </a:pPr>
            <a:r>
              <a:rPr lang="en-US" sz="1200" i="1" dirty="0">
                <a:solidFill>
                  <a:srgbClr val="0F2440"/>
                </a:solidFill>
                <a:latin typeface="Calibri" pitchFamily="34" charset="0"/>
                <a:ea typeface="Calibri" pitchFamily="34" charset="-122"/>
                <a:cs typeface="Calibri" pitchFamily="34" charset="-120"/>
              </a:rPr>
              <a:t>Key idea: scikit-learn's Pipeline lets us chain steps 1 → 4 into one object, so cross-validation re-runs the whole chain — no leakage.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1E3A5F"/>
          </a:solidFill>
          <a:ln w="12700">
            <a:solidFill>
              <a:srgbClr val="1E3A5F"/>
            </a:solidFill>
            <a:prstDash val="solid"/>
          </a:ln>
        </p:spPr>
        <p:txBody>
          <a:bodyPr/>
          <a:lstStyle/>
          <a:p>
            <a:endParaRPr lang="en-GB"/>
          </a:p>
        </p:txBody>
      </p:sp>
      <p:sp>
        <p:nvSpPr>
          <p:cNvPr id="3" name="Shape 1"/>
          <p:cNvSpPr/>
          <p:nvPr/>
        </p:nvSpPr>
        <p:spPr>
          <a:xfrm>
            <a:off x="0" y="0"/>
            <a:ext cx="2377440" cy="164592"/>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457200" y="292608"/>
            <a:ext cx="10972800" cy="320040"/>
          </a:xfrm>
          <a:prstGeom prst="rect">
            <a:avLst/>
          </a:prstGeom>
          <a:noFill/>
          <a:ln/>
        </p:spPr>
        <p:txBody>
          <a:bodyPr wrap="square" rtlCol="0" anchor="ctr"/>
          <a:lstStyle/>
          <a:p>
            <a:pPr marL="0" indent="0">
              <a:buNone/>
            </a:pPr>
            <a:r>
              <a:rPr lang="en-US" sz="1100" b="1" kern="0" spc="400" dirty="0">
                <a:solidFill>
                  <a:srgbClr val="F77F00"/>
                </a:solidFill>
                <a:latin typeface="Calibri" pitchFamily="34" charset="0"/>
                <a:ea typeface="Calibri" pitchFamily="34" charset="-122"/>
                <a:cs typeface="Calibri" pitchFamily="34" charset="-120"/>
              </a:rPr>
              <a:t>WHAT'S DIFFERENT FROM ENGLISH?</a:t>
            </a:r>
            <a:endParaRPr lang="en-US" sz="1100" dirty="0"/>
          </a:p>
        </p:txBody>
      </p:sp>
      <p:sp>
        <p:nvSpPr>
          <p:cNvPr id="5" name="Text 3"/>
          <p:cNvSpPr/>
          <p:nvPr/>
        </p:nvSpPr>
        <p:spPr>
          <a:xfrm>
            <a:off x="457200" y="594360"/>
            <a:ext cx="11247120" cy="777240"/>
          </a:xfrm>
          <a:prstGeom prst="rect">
            <a:avLst/>
          </a:prstGeom>
          <a:noFill/>
          <a:ln/>
        </p:spPr>
        <p:txBody>
          <a:bodyPr wrap="square" lIns="0" tIns="0" rIns="0" bIns="0" rtlCol="0" anchor="ctr"/>
          <a:lstStyle/>
          <a:p>
            <a:pPr marL="0" indent="0">
              <a:buNone/>
            </a:pPr>
            <a:r>
              <a:rPr lang="en-US" sz="3000" b="1" dirty="0">
                <a:solidFill>
                  <a:srgbClr val="0F2440"/>
                </a:solidFill>
                <a:latin typeface="Calibri" pitchFamily="34" charset="0"/>
                <a:ea typeface="Calibri" pitchFamily="34" charset="-122"/>
                <a:cs typeface="Calibri" pitchFamily="34" charset="-120"/>
              </a:rPr>
              <a:t>Step 1 · Indonesian text preprocessing</a:t>
            </a:r>
            <a:endParaRPr lang="en-US" sz="3000" dirty="0"/>
          </a:p>
        </p:txBody>
      </p:sp>
      <p:sp>
        <p:nvSpPr>
          <p:cNvPr id="6" name="Shape 4"/>
          <p:cNvSpPr/>
          <p:nvPr/>
        </p:nvSpPr>
        <p:spPr>
          <a:xfrm>
            <a:off x="457200" y="137160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9 / 35</a:t>
            </a:r>
            <a:endParaRPr lang="en-US" sz="900" dirty="0"/>
          </a:p>
        </p:txBody>
      </p:sp>
      <p:sp>
        <p:nvSpPr>
          <p:cNvPr id="10" name="Shape 8"/>
          <p:cNvSpPr/>
          <p:nvPr/>
        </p:nvSpPr>
        <p:spPr>
          <a:xfrm>
            <a:off x="548640" y="1691640"/>
            <a:ext cx="5486400" cy="475488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1" name="Text 9"/>
          <p:cNvSpPr/>
          <p:nvPr/>
        </p:nvSpPr>
        <p:spPr>
          <a:xfrm>
            <a:off x="777240" y="1828800"/>
            <a:ext cx="5029200" cy="365760"/>
          </a:xfrm>
          <a:prstGeom prst="rect">
            <a:avLst/>
          </a:prstGeom>
          <a:noFill/>
          <a:ln/>
        </p:spPr>
        <p:txBody>
          <a:bodyPr wrap="square" lIns="0" tIns="0" rIns="0" bIns="0" rtlCol="0" anchor="ctr"/>
          <a:lstStyle/>
          <a:p>
            <a:pPr marL="0" indent="0">
              <a:buNone/>
            </a:pPr>
            <a:r>
              <a:rPr lang="en-US" sz="1400" b="1" kern="0" spc="300" dirty="0">
                <a:solidFill>
                  <a:srgbClr val="F77F00"/>
                </a:solidFill>
                <a:latin typeface="Calibri" pitchFamily="34" charset="0"/>
                <a:ea typeface="Calibri" pitchFamily="34" charset="-122"/>
                <a:cs typeface="Calibri" pitchFamily="34" charset="-120"/>
              </a:rPr>
              <a:t>Bahasa-specific challenges</a:t>
            </a:r>
            <a:endParaRPr lang="en-US" sz="1400" dirty="0"/>
          </a:p>
        </p:txBody>
      </p:sp>
      <p:sp>
        <p:nvSpPr>
          <p:cNvPr id="12" name="Shape 10"/>
          <p:cNvSpPr/>
          <p:nvPr/>
        </p:nvSpPr>
        <p:spPr>
          <a:xfrm>
            <a:off x="868680" y="2423160"/>
            <a:ext cx="164592" cy="164592"/>
          </a:xfrm>
          <a:prstGeom prst="ellipse">
            <a:avLst/>
          </a:prstGeom>
          <a:solidFill>
            <a:srgbClr val="F77F00"/>
          </a:solidFill>
          <a:ln w="12700">
            <a:solidFill>
              <a:srgbClr val="F77F00"/>
            </a:solidFill>
            <a:prstDash val="solid"/>
          </a:ln>
        </p:spPr>
        <p:txBody>
          <a:bodyPr/>
          <a:lstStyle/>
          <a:p>
            <a:endParaRPr lang="en-GB"/>
          </a:p>
        </p:txBody>
      </p:sp>
      <p:sp>
        <p:nvSpPr>
          <p:cNvPr id="13" name="Text 11"/>
          <p:cNvSpPr/>
          <p:nvPr/>
        </p:nvSpPr>
        <p:spPr>
          <a:xfrm>
            <a:off x="1143000" y="2331720"/>
            <a:ext cx="4754880" cy="73152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Heavy affixation: 'memberikan' → 'beri'. Without stemming, vocabulary explodes.</a:t>
            </a:r>
            <a:endParaRPr lang="en-US" sz="1200" dirty="0"/>
          </a:p>
        </p:txBody>
      </p:sp>
      <p:sp>
        <p:nvSpPr>
          <p:cNvPr id="14" name="Shape 12"/>
          <p:cNvSpPr/>
          <p:nvPr/>
        </p:nvSpPr>
        <p:spPr>
          <a:xfrm>
            <a:off x="868680" y="3200400"/>
            <a:ext cx="164592" cy="164592"/>
          </a:xfrm>
          <a:prstGeom prst="ellipse">
            <a:avLst/>
          </a:prstGeom>
          <a:solidFill>
            <a:srgbClr val="F77F00"/>
          </a:solidFill>
          <a:ln w="12700">
            <a:solidFill>
              <a:srgbClr val="F77F00"/>
            </a:solidFill>
            <a:prstDash val="solid"/>
          </a:ln>
        </p:spPr>
        <p:txBody>
          <a:bodyPr/>
          <a:lstStyle/>
          <a:p>
            <a:endParaRPr lang="en-GB"/>
          </a:p>
        </p:txBody>
      </p:sp>
      <p:sp>
        <p:nvSpPr>
          <p:cNvPr id="15" name="Text 13"/>
          <p:cNvSpPr/>
          <p:nvPr/>
        </p:nvSpPr>
        <p:spPr>
          <a:xfrm>
            <a:off x="1143000" y="3108960"/>
            <a:ext cx="4754880" cy="73152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Slang &amp; shortcuts: 'bgt' (banget), 'gpp' (gak apa-apa), 'wkwkwk' = laughter.</a:t>
            </a:r>
            <a:endParaRPr lang="en-US" sz="1200" dirty="0"/>
          </a:p>
        </p:txBody>
      </p:sp>
      <p:sp>
        <p:nvSpPr>
          <p:cNvPr id="16" name="Shape 14"/>
          <p:cNvSpPr/>
          <p:nvPr/>
        </p:nvSpPr>
        <p:spPr>
          <a:xfrm>
            <a:off x="868680" y="3977640"/>
            <a:ext cx="164592" cy="164592"/>
          </a:xfrm>
          <a:prstGeom prst="ellipse">
            <a:avLst/>
          </a:prstGeom>
          <a:solidFill>
            <a:srgbClr val="F77F00"/>
          </a:solidFill>
          <a:ln w="12700">
            <a:solidFill>
              <a:srgbClr val="F77F00"/>
            </a:solidFill>
            <a:prstDash val="solid"/>
          </a:ln>
        </p:spPr>
        <p:txBody>
          <a:bodyPr/>
          <a:lstStyle/>
          <a:p>
            <a:endParaRPr lang="en-GB"/>
          </a:p>
        </p:txBody>
      </p:sp>
      <p:sp>
        <p:nvSpPr>
          <p:cNvPr id="17" name="Text 15"/>
          <p:cNvSpPr/>
          <p:nvPr/>
        </p:nvSpPr>
        <p:spPr>
          <a:xfrm>
            <a:off x="1143000" y="3886200"/>
            <a:ext cx="4754880" cy="73152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Code-mixing: Indonesian + English in same sentence ('aku love banget...').</a:t>
            </a:r>
            <a:endParaRPr lang="en-US" sz="1200" dirty="0"/>
          </a:p>
        </p:txBody>
      </p:sp>
      <p:sp>
        <p:nvSpPr>
          <p:cNvPr id="18" name="Shape 16"/>
          <p:cNvSpPr/>
          <p:nvPr/>
        </p:nvSpPr>
        <p:spPr>
          <a:xfrm>
            <a:off x="868680" y="4754880"/>
            <a:ext cx="164592" cy="164592"/>
          </a:xfrm>
          <a:prstGeom prst="ellipse">
            <a:avLst/>
          </a:prstGeom>
          <a:solidFill>
            <a:srgbClr val="F77F00"/>
          </a:solidFill>
          <a:ln w="12700">
            <a:solidFill>
              <a:srgbClr val="F77F00"/>
            </a:solidFill>
            <a:prstDash val="solid"/>
          </a:ln>
        </p:spPr>
        <p:txBody>
          <a:bodyPr/>
          <a:lstStyle/>
          <a:p>
            <a:endParaRPr lang="en-GB"/>
          </a:p>
        </p:txBody>
      </p:sp>
      <p:sp>
        <p:nvSpPr>
          <p:cNvPr id="19" name="Text 17"/>
          <p:cNvSpPr/>
          <p:nvPr/>
        </p:nvSpPr>
        <p:spPr>
          <a:xfrm>
            <a:off x="1143000" y="4663440"/>
            <a:ext cx="4754880" cy="73152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Inconsistent spelling: 'kayak / kayaq / kyk', no standard accent marks.</a:t>
            </a:r>
            <a:endParaRPr lang="en-US" sz="1200" dirty="0"/>
          </a:p>
        </p:txBody>
      </p:sp>
      <p:sp>
        <p:nvSpPr>
          <p:cNvPr id="20" name="Shape 18"/>
          <p:cNvSpPr/>
          <p:nvPr/>
        </p:nvSpPr>
        <p:spPr>
          <a:xfrm>
            <a:off x="868680" y="5532120"/>
            <a:ext cx="164592" cy="164592"/>
          </a:xfrm>
          <a:prstGeom prst="ellipse">
            <a:avLst/>
          </a:prstGeom>
          <a:solidFill>
            <a:srgbClr val="F77F00"/>
          </a:solidFill>
          <a:ln w="12700">
            <a:solidFill>
              <a:srgbClr val="F77F00"/>
            </a:solidFill>
            <a:prstDash val="solid"/>
          </a:ln>
        </p:spPr>
        <p:txBody>
          <a:bodyPr/>
          <a:lstStyle/>
          <a:p>
            <a:endParaRPr lang="en-GB"/>
          </a:p>
        </p:txBody>
      </p:sp>
      <p:sp>
        <p:nvSpPr>
          <p:cNvPr id="21" name="Text 19"/>
          <p:cNvSpPr/>
          <p:nvPr/>
        </p:nvSpPr>
        <p:spPr>
          <a:xfrm>
            <a:off x="1143000" y="5440680"/>
            <a:ext cx="4754880" cy="73152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Class imbalance: positive reviews dominate e-commerce datasets.</a:t>
            </a:r>
            <a:endParaRPr lang="en-US" sz="1200" dirty="0"/>
          </a:p>
        </p:txBody>
      </p:sp>
      <p:sp>
        <p:nvSpPr>
          <p:cNvPr id="22" name="Shape 20"/>
          <p:cNvSpPr/>
          <p:nvPr/>
        </p:nvSpPr>
        <p:spPr>
          <a:xfrm>
            <a:off x="6126480" y="1691640"/>
            <a:ext cx="5486400" cy="475488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23" name="Text 21"/>
          <p:cNvSpPr/>
          <p:nvPr/>
        </p:nvSpPr>
        <p:spPr>
          <a:xfrm>
            <a:off x="6355080" y="1828800"/>
            <a:ext cx="5029200" cy="365760"/>
          </a:xfrm>
          <a:prstGeom prst="rect">
            <a:avLst/>
          </a:prstGeom>
          <a:noFill/>
          <a:ln/>
        </p:spPr>
        <p:txBody>
          <a:bodyPr wrap="square" lIns="0" tIns="0" rIns="0" bIns="0" rtlCol="0" anchor="ctr"/>
          <a:lstStyle/>
          <a:p>
            <a:pPr marL="0" indent="0">
              <a:buNone/>
            </a:pPr>
            <a:r>
              <a:rPr lang="en-US" sz="1400" b="1" kern="0" spc="300" dirty="0">
                <a:solidFill>
                  <a:srgbClr val="00B4D8"/>
                </a:solidFill>
                <a:latin typeface="Calibri" pitchFamily="34" charset="0"/>
                <a:ea typeface="Calibri" pitchFamily="34" charset="-122"/>
                <a:cs typeface="Calibri" pitchFamily="34" charset="-120"/>
              </a:rPr>
              <a:t>Tools we'll use</a:t>
            </a:r>
            <a:endParaRPr lang="en-US" sz="1400" dirty="0"/>
          </a:p>
        </p:txBody>
      </p:sp>
      <p:sp>
        <p:nvSpPr>
          <p:cNvPr id="24" name="Shape 22"/>
          <p:cNvSpPr/>
          <p:nvPr/>
        </p:nvSpPr>
        <p:spPr>
          <a:xfrm>
            <a:off x="6355080" y="2423160"/>
            <a:ext cx="54864" cy="777240"/>
          </a:xfrm>
          <a:prstGeom prst="rect">
            <a:avLst/>
          </a:prstGeom>
          <a:solidFill>
            <a:srgbClr val="00B4D8"/>
          </a:solidFill>
          <a:ln w="12700">
            <a:solidFill>
              <a:srgbClr val="00B4D8"/>
            </a:solidFill>
            <a:prstDash val="solid"/>
          </a:ln>
        </p:spPr>
        <p:txBody>
          <a:bodyPr/>
          <a:lstStyle/>
          <a:p>
            <a:endParaRPr lang="en-GB"/>
          </a:p>
        </p:txBody>
      </p:sp>
      <p:sp>
        <p:nvSpPr>
          <p:cNvPr id="25" name="Text 23"/>
          <p:cNvSpPr/>
          <p:nvPr/>
        </p:nvSpPr>
        <p:spPr>
          <a:xfrm>
            <a:off x="6492240" y="2423160"/>
            <a:ext cx="4937760" cy="320040"/>
          </a:xfrm>
          <a:prstGeom prst="rect">
            <a:avLst/>
          </a:prstGeom>
          <a:noFill/>
          <a:ln/>
        </p:spPr>
        <p:txBody>
          <a:bodyPr wrap="square" lIns="0" tIns="0" rIns="0" bIns="0" rtlCol="0" anchor="ctr"/>
          <a:lstStyle/>
          <a:p>
            <a:pPr marL="0" indent="0">
              <a:buNone/>
            </a:pPr>
            <a:r>
              <a:rPr lang="en-US" sz="1300" b="1" dirty="0">
                <a:solidFill>
                  <a:srgbClr val="0F2440"/>
                </a:solidFill>
                <a:latin typeface="Consolas" pitchFamily="34" charset="0"/>
                <a:ea typeface="Consolas" pitchFamily="34" charset="-122"/>
                <a:cs typeface="Consolas" pitchFamily="34" charset="-120"/>
              </a:rPr>
              <a:t>Sastrawi</a:t>
            </a:r>
            <a:endParaRPr lang="en-US" sz="1300" dirty="0"/>
          </a:p>
        </p:txBody>
      </p:sp>
      <p:sp>
        <p:nvSpPr>
          <p:cNvPr id="26" name="Text 24"/>
          <p:cNvSpPr/>
          <p:nvPr/>
        </p:nvSpPr>
        <p:spPr>
          <a:xfrm>
            <a:off x="6492240" y="2743200"/>
            <a:ext cx="4937760" cy="502920"/>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Indonesian stemming + stopword removal — the de-facto standard</a:t>
            </a:r>
            <a:endParaRPr lang="en-US" sz="1100" dirty="0"/>
          </a:p>
        </p:txBody>
      </p:sp>
      <p:sp>
        <p:nvSpPr>
          <p:cNvPr id="27" name="Shape 25"/>
          <p:cNvSpPr/>
          <p:nvPr/>
        </p:nvSpPr>
        <p:spPr>
          <a:xfrm>
            <a:off x="6355080" y="3337560"/>
            <a:ext cx="54864" cy="777240"/>
          </a:xfrm>
          <a:prstGeom prst="rect">
            <a:avLst/>
          </a:prstGeom>
          <a:solidFill>
            <a:srgbClr val="00B4D8"/>
          </a:solidFill>
          <a:ln w="12700">
            <a:solidFill>
              <a:srgbClr val="00B4D8"/>
            </a:solidFill>
            <a:prstDash val="solid"/>
          </a:ln>
        </p:spPr>
        <p:txBody>
          <a:bodyPr/>
          <a:lstStyle/>
          <a:p>
            <a:endParaRPr lang="en-GB"/>
          </a:p>
        </p:txBody>
      </p:sp>
      <p:sp>
        <p:nvSpPr>
          <p:cNvPr id="28" name="Text 26"/>
          <p:cNvSpPr/>
          <p:nvPr/>
        </p:nvSpPr>
        <p:spPr>
          <a:xfrm>
            <a:off x="6492240" y="3337560"/>
            <a:ext cx="4937760" cy="320040"/>
          </a:xfrm>
          <a:prstGeom prst="rect">
            <a:avLst/>
          </a:prstGeom>
          <a:noFill/>
          <a:ln/>
        </p:spPr>
        <p:txBody>
          <a:bodyPr wrap="square" lIns="0" tIns="0" rIns="0" bIns="0" rtlCol="0" anchor="ctr"/>
          <a:lstStyle/>
          <a:p>
            <a:pPr marL="0" indent="0">
              <a:buNone/>
            </a:pPr>
            <a:r>
              <a:rPr lang="en-US" sz="1300" b="1" dirty="0">
                <a:solidFill>
                  <a:srgbClr val="0F2440"/>
                </a:solidFill>
                <a:latin typeface="Consolas" pitchFamily="34" charset="0"/>
                <a:ea typeface="Consolas" pitchFamily="34" charset="-122"/>
                <a:cs typeface="Consolas" pitchFamily="34" charset="-120"/>
              </a:rPr>
              <a:t>re / unicodedata</a:t>
            </a:r>
            <a:endParaRPr lang="en-US" sz="1300" dirty="0"/>
          </a:p>
        </p:txBody>
      </p:sp>
      <p:sp>
        <p:nvSpPr>
          <p:cNvPr id="29" name="Text 27"/>
          <p:cNvSpPr/>
          <p:nvPr/>
        </p:nvSpPr>
        <p:spPr>
          <a:xfrm>
            <a:off x="6492240" y="3657600"/>
            <a:ext cx="4937760" cy="502920"/>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Strip URLs, mentions, emoji, normalize whitespace</a:t>
            </a:r>
            <a:endParaRPr lang="en-US" sz="1100" dirty="0"/>
          </a:p>
        </p:txBody>
      </p:sp>
      <p:sp>
        <p:nvSpPr>
          <p:cNvPr id="30" name="Shape 28"/>
          <p:cNvSpPr/>
          <p:nvPr/>
        </p:nvSpPr>
        <p:spPr>
          <a:xfrm>
            <a:off x="6355080" y="4251960"/>
            <a:ext cx="54864" cy="777240"/>
          </a:xfrm>
          <a:prstGeom prst="rect">
            <a:avLst/>
          </a:prstGeom>
          <a:solidFill>
            <a:srgbClr val="00B4D8"/>
          </a:solidFill>
          <a:ln w="12700">
            <a:solidFill>
              <a:srgbClr val="00B4D8"/>
            </a:solidFill>
            <a:prstDash val="solid"/>
          </a:ln>
        </p:spPr>
        <p:txBody>
          <a:bodyPr/>
          <a:lstStyle/>
          <a:p>
            <a:endParaRPr lang="en-GB"/>
          </a:p>
        </p:txBody>
      </p:sp>
      <p:sp>
        <p:nvSpPr>
          <p:cNvPr id="31" name="Text 29"/>
          <p:cNvSpPr/>
          <p:nvPr/>
        </p:nvSpPr>
        <p:spPr>
          <a:xfrm>
            <a:off x="6492240" y="4251960"/>
            <a:ext cx="4937760" cy="320040"/>
          </a:xfrm>
          <a:prstGeom prst="rect">
            <a:avLst/>
          </a:prstGeom>
          <a:noFill/>
          <a:ln/>
        </p:spPr>
        <p:txBody>
          <a:bodyPr wrap="square" lIns="0" tIns="0" rIns="0" bIns="0" rtlCol="0" anchor="ctr"/>
          <a:lstStyle/>
          <a:p>
            <a:pPr marL="0" indent="0">
              <a:buNone/>
            </a:pPr>
            <a:r>
              <a:rPr lang="en-US" sz="1300" b="1" dirty="0">
                <a:solidFill>
                  <a:srgbClr val="0F2440"/>
                </a:solidFill>
                <a:latin typeface="Consolas" pitchFamily="34" charset="0"/>
                <a:ea typeface="Consolas" pitchFamily="34" charset="-122"/>
                <a:cs typeface="Consolas" pitchFamily="34" charset="-120"/>
              </a:rPr>
              <a:t>scikit-learn TfidfVectorizer</a:t>
            </a:r>
            <a:endParaRPr lang="en-US" sz="1300" dirty="0"/>
          </a:p>
        </p:txBody>
      </p:sp>
      <p:sp>
        <p:nvSpPr>
          <p:cNvPr id="32" name="Text 30"/>
          <p:cNvSpPr/>
          <p:nvPr/>
        </p:nvSpPr>
        <p:spPr>
          <a:xfrm>
            <a:off x="6492240" y="4572000"/>
            <a:ext cx="4937760" cy="502920"/>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Token + n-gram extraction with min_df / max_df filtering</a:t>
            </a:r>
            <a:endParaRPr lang="en-US" sz="1100" dirty="0"/>
          </a:p>
        </p:txBody>
      </p:sp>
      <p:sp>
        <p:nvSpPr>
          <p:cNvPr id="33" name="Shape 31"/>
          <p:cNvSpPr/>
          <p:nvPr/>
        </p:nvSpPr>
        <p:spPr>
          <a:xfrm>
            <a:off x="6355080" y="5166360"/>
            <a:ext cx="54864" cy="777240"/>
          </a:xfrm>
          <a:prstGeom prst="rect">
            <a:avLst/>
          </a:prstGeom>
          <a:solidFill>
            <a:srgbClr val="00B4D8"/>
          </a:solidFill>
          <a:ln w="12700">
            <a:solidFill>
              <a:srgbClr val="00B4D8"/>
            </a:solidFill>
            <a:prstDash val="solid"/>
          </a:ln>
        </p:spPr>
        <p:txBody>
          <a:bodyPr/>
          <a:lstStyle/>
          <a:p>
            <a:endParaRPr lang="en-GB"/>
          </a:p>
        </p:txBody>
      </p:sp>
      <p:sp>
        <p:nvSpPr>
          <p:cNvPr id="34" name="Text 32"/>
          <p:cNvSpPr/>
          <p:nvPr/>
        </p:nvSpPr>
        <p:spPr>
          <a:xfrm>
            <a:off x="6492240" y="5166360"/>
            <a:ext cx="4937760" cy="320040"/>
          </a:xfrm>
          <a:prstGeom prst="rect">
            <a:avLst/>
          </a:prstGeom>
          <a:noFill/>
          <a:ln/>
        </p:spPr>
        <p:txBody>
          <a:bodyPr wrap="square" lIns="0" tIns="0" rIns="0" bIns="0" rtlCol="0" anchor="ctr"/>
          <a:lstStyle/>
          <a:p>
            <a:pPr marL="0" indent="0">
              <a:buNone/>
            </a:pPr>
            <a:r>
              <a:rPr lang="en-US" sz="1300" b="1" dirty="0">
                <a:solidFill>
                  <a:srgbClr val="0F2440"/>
                </a:solidFill>
                <a:latin typeface="Consolas" pitchFamily="34" charset="0"/>
                <a:ea typeface="Consolas" pitchFamily="34" charset="-122"/>
                <a:cs typeface="Consolas" pitchFamily="34" charset="-120"/>
              </a:rPr>
              <a:t>(Optional) IndoBERT tokenizer</a:t>
            </a:r>
            <a:endParaRPr lang="en-US" sz="1300" dirty="0"/>
          </a:p>
        </p:txBody>
      </p:sp>
      <p:sp>
        <p:nvSpPr>
          <p:cNvPr id="35" name="Text 33"/>
          <p:cNvSpPr/>
          <p:nvPr/>
        </p:nvSpPr>
        <p:spPr>
          <a:xfrm>
            <a:off x="6492240" y="5486400"/>
            <a:ext cx="4937760" cy="502920"/>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When you graduate to fine-tuning a transformer</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1E3A5F"/>
          </a:solidFill>
          <a:ln w="12700">
            <a:solidFill>
              <a:srgbClr val="1E3A5F"/>
            </a:solidFill>
            <a:prstDash val="solid"/>
          </a:ln>
        </p:spPr>
        <p:txBody>
          <a:bodyPr/>
          <a:lstStyle/>
          <a:p>
            <a:endParaRPr lang="en-GB"/>
          </a:p>
        </p:txBody>
      </p:sp>
      <p:sp>
        <p:nvSpPr>
          <p:cNvPr id="3" name="Shape 1"/>
          <p:cNvSpPr/>
          <p:nvPr/>
        </p:nvSpPr>
        <p:spPr>
          <a:xfrm>
            <a:off x="0" y="0"/>
            <a:ext cx="2377440" cy="164592"/>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457200" y="292608"/>
            <a:ext cx="10972800" cy="320040"/>
          </a:xfrm>
          <a:prstGeom prst="rect">
            <a:avLst/>
          </a:prstGeom>
          <a:noFill/>
          <a:ln/>
        </p:spPr>
        <p:txBody>
          <a:bodyPr wrap="square" rtlCol="0" anchor="ctr"/>
          <a:lstStyle/>
          <a:p>
            <a:pPr marL="0" indent="0">
              <a:buNone/>
            </a:pPr>
            <a:r>
              <a:rPr lang="en-US" sz="1100" b="1" kern="0" spc="400" dirty="0">
                <a:solidFill>
                  <a:srgbClr val="F77F00"/>
                </a:solidFill>
                <a:latin typeface="Calibri" pitchFamily="34" charset="0"/>
                <a:ea typeface="Calibri" pitchFamily="34" charset="-122"/>
                <a:cs typeface="Calibri" pitchFamily="34" charset="-120"/>
              </a:rPr>
              <a:t>TERM FREQUENCY × INVERSE DOCUMENT FREQUENCY</a:t>
            </a:r>
            <a:endParaRPr lang="en-US" sz="1100" dirty="0"/>
          </a:p>
        </p:txBody>
      </p:sp>
      <p:sp>
        <p:nvSpPr>
          <p:cNvPr id="5" name="Text 3"/>
          <p:cNvSpPr/>
          <p:nvPr/>
        </p:nvSpPr>
        <p:spPr>
          <a:xfrm>
            <a:off x="457200" y="594360"/>
            <a:ext cx="11247120" cy="777240"/>
          </a:xfrm>
          <a:prstGeom prst="rect">
            <a:avLst/>
          </a:prstGeom>
          <a:noFill/>
          <a:ln/>
        </p:spPr>
        <p:txBody>
          <a:bodyPr wrap="square" lIns="0" tIns="0" rIns="0" bIns="0" rtlCol="0" anchor="ctr"/>
          <a:lstStyle/>
          <a:p>
            <a:pPr marL="0" indent="0">
              <a:buNone/>
            </a:pPr>
            <a:r>
              <a:rPr lang="en-US" sz="3000" b="1" dirty="0">
                <a:solidFill>
                  <a:srgbClr val="0F2440"/>
                </a:solidFill>
                <a:latin typeface="Calibri" pitchFamily="34" charset="0"/>
                <a:ea typeface="Calibri" pitchFamily="34" charset="-122"/>
                <a:cs typeface="Calibri" pitchFamily="34" charset="-120"/>
              </a:rPr>
              <a:t>Step 2 · TF-IDF — turning text into numbers</a:t>
            </a:r>
            <a:endParaRPr lang="en-US" sz="3000" dirty="0"/>
          </a:p>
        </p:txBody>
      </p:sp>
      <p:sp>
        <p:nvSpPr>
          <p:cNvPr id="6" name="Shape 4"/>
          <p:cNvSpPr/>
          <p:nvPr/>
        </p:nvSpPr>
        <p:spPr>
          <a:xfrm>
            <a:off x="457200" y="137160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10 / 35</a:t>
            </a:r>
            <a:endParaRPr lang="en-US" sz="900" dirty="0"/>
          </a:p>
        </p:txBody>
      </p:sp>
      <p:sp>
        <p:nvSpPr>
          <p:cNvPr id="10" name="Shape 8"/>
          <p:cNvSpPr/>
          <p:nvPr/>
        </p:nvSpPr>
        <p:spPr>
          <a:xfrm>
            <a:off x="548640" y="1691640"/>
            <a:ext cx="11064240" cy="1828800"/>
          </a:xfrm>
          <a:prstGeom prst="rect">
            <a:avLst/>
          </a:prstGeom>
          <a:solidFill>
            <a:srgbClr val="E7F1FB"/>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1" name="Text 9"/>
          <p:cNvSpPr/>
          <p:nvPr/>
        </p:nvSpPr>
        <p:spPr>
          <a:xfrm>
            <a:off x="777240" y="1783080"/>
            <a:ext cx="5486400" cy="320040"/>
          </a:xfrm>
          <a:prstGeom prst="rect">
            <a:avLst/>
          </a:prstGeom>
          <a:noFill/>
          <a:ln/>
        </p:spPr>
        <p:txBody>
          <a:bodyPr wrap="square" lIns="0" tIns="0" rIns="0" bIns="0" rtlCol="0" anchor="ctr"/>
          <a:lstStyle/>
          <a:p>
            <a:pPr marL="0" indent="0">
              <a:buNone/>
            </a:pPr>
            <a:r>
              <a:rPr lang="en-US" sz="1200" b="1" kern="0" spc="300" dirty="0">
                <a:solidFill>
                  <a:srgbClr val="00B4D8"/>
                </a:solidFill>
                <a:latin typeface="Calibri" pitchFamily="34" charset="0"/>
                <a:ea typeface="Calibri" pitchFamily="34" charset="-122"/>
                <a:cs typeface="Calibri" pitchFamily="34" charset="-120"/>
              </a:rPr>
              <a:t>Intuition</a:t>
            </a:r>
            <a:endParaRPr lang="en-US" sz="1200" dirty="0"/>
          </a:p>
        </p:txBody>
      </p:sp>
      <p:sp>
        <p:nvSpPr>
          <p:cNvPr id="12" name="Text 10"/>
          <p:cNvSpPr/>
          <p:nvPr/>
        </p:nvSpPr>
        <p:spPr>
          <a:xfrm>
            <a:off x="777240" y="2103120"/>
            <a:ext cx="10607040" cy="502920"/>
          </a:xfrm>
          <a:prstGeom prst="rect">
            <a:avLst/>
          </a:prstGeom>
          <a:noFill/>
          <a:ln/>
        </p:spPr>
        <p:txBody>
          <a:bodyPr wrap="square" lIns="0" tIns="0" rIns="0" bIns="0" rtlCol="0" anchor="ctr"/>
          <a:lstStyle/>
          <a:p>
            <a:pPr marL="0" indent="0">
              <a:buNone/>
            </a:pPr>
            <a:r>
              <a:rPr lang="en-US" sz="1600" b="1" dirty="0">
                <a:solidFill>
                  <a:srgbClr val="0F2440"/>
                </a:solidFill>
                <a:latin typeface="Calibri" pitchFamily="34" charset="0"/>
                <a:ea typeface="Calibri" pitchFamily="34" charset="-122"/>
                <a:cs typeface="Calibri" pitchFamily="34" charset="-120"/>
              </a:rPr>
              <a:t>A word is "important" for a document if it appears often in THAT document but rarely across all documents.</a:t>
            </a:r>
            <a:endParaRPr lang="en-US" sz="1600" dirty="0"/>
          </a:p>
        </p:txBody>
      </p:sp>
      <p:sp>
        <p:nvSpPr>
          <p:cNvPr id="13" name="Text 11"/>
          <p:cNvSpPr/>
          <p:nvPr/>
        </p:nvSpPr>
        <p:spPr>
          <a:xfrm>
            <a:off x="777240" y="2697480"/>
            <a:ext cx="10607040" cy="457200"/>
          </a:xfrm>
          <a:prstGeom prst="rect">
            <a:avLst/>
          </a:prstGeom>
          <a:noFill/>
          <a:ln/>
        </p:spPr>
        <p:txBody>
          <a:bodyPr wrap="square" lIns="0" tIns="0" rIns="0" bIns="0" rtlCol="0" anchor="ctr"/>
          <a:lstStyle/>
          <a:p>
            <a:pPr marL="0" indent="0">
              <a:buNone/>
            </a:pPr>
            <a:r>
              <a:rPr lang="en-US" sz="1800" b="1" dirty="0">
                <a:solidFill>
                  <a:srgbClr val="F77F00"/>
                </a:solidFill>
                <a:latin typeface="Consolas" pitchFamily="34" charset="0"/>
                <a:ea typeface="Consolas" pitchFamily="34" charset="-122"/>
                <a:cs typeface="Consolas" pitchFamily="34" charset="-120"/>
              </a:rPr>
              <a:t>TF-IDF(t, d) = TF(t, d) × log( N / DF(t) )</a:t>
            </a:r>
            <a:endParaRPr lang="en-US" sz="1800" dirty="0"/>
          </a:p>
        </p:txBody>
      </p:sp>
      <p:sp>
        <p:nvSpPr>
          <p:cNvPr id="14" name="Text 12"/>
          <p:cNvSpPr/>
          <p:nvPr/>
        </p:nvSpPr>
        <p:spPr>
          <a:xfrm>
            <a:off x="777240" y="3108960"/>
            <a:ext cx="10607040" cy="365760"/>
          </a:xfrm>
          <a:prstGeom prst="rect">
            <a:avLst/>
          </a:prstGeom>
          <a:noFill/>
          <a:ln/>
        </p:spPr>
        <p:txBody>
          <a:bodyPr wrap="square" lIns="0" tIns="0" rIns="0" bIns="0" rtlCol="0" anchor="ctr"/>
          <a:lstStyle/>
          <a:p>
            <a:pPr marL="0" indent="0">
              <a:buNone/>
            </a:pPr>
            <a:r>
              <a:rPr lang="en-US" sz="1100" i="1" dirty="0">
                <a:solidFill>
                  <a:srgbClr val="6C757D"/>
                </a:solidFill>
                <a:latin typeface="Calibri" pitchFamily="34" charset="0"/>
                <a:ea typeface="Calibri" pitchFamily="34" charset="-122"/>
                <a:cs typeface="Calibri" pitchFamily="34" charset="-120"/>
              </a:rPr>
              <a:t>TF = how often term t appears in doc d   ·   DF = number of docs containing t   ·   N = total docs</a:t>
            </a:r>
            <a:endParaRPr lang="en-US" sz="1100" dirty="0"/>
          </a:p>
        </p:txBody>
      </p:sp>
      <p:sp>
        <p:nvSpPr>
          <p:cNvPr id="15" name="Text 13"/>
          <p:cNvSpPr/>
          <p:nvPr/>
        </p:nvSpPr>
        <p:spPr>
          <a:xfrm>
            <a:off x="548640" y="3657600"/>
            <a:ext cx="10972800" cy="365760"/>
          </a:xfrm>
          <a:prstGeom prst="rect">
            <a:avLst/>
          </a:prstGeom>
          <a:noFill/>
          <a:ln/>
        </p:spPr>
        <p:txBody>
          <a:bodyPr wrap="square" lIns="0" tIns="0" rIns="0" bIns="0" rtlCol="0" anchor="ctr"/>
          <a:lstStyle/>
          <a:p>
            <a:pPr marL="0" indent="0">
              <a:buNone/>
            </a:pPr>
            <a:r>
              <a:rPr lang="en-US" sz="1300" b="1" dirty="0">
                <a:solidFill>
                  <a:srgbClr val="0F2440"/>
                </a:solidFill>
                <a:latin typeface="Calibri" pitchFamily="34" charset="0"/>
                <a:ea typeface="Calibri" pitchFamily="34" charset="-122"/>
                <a:cs typeface="Calibri" pitchFamily="34" charset="-120"/>
              </a:rPr>
              <a:t>Example — three Tokopedia reviews</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4114800"/>
          <a:ext cx="11064240" cy="1645920"/>
        </p:xfrm>
        <a:graphic>
          <a:graphicData uri="http://schemas.openxmlformats.org/drawingml/2006/table">
            <a:tbl>
              <a:tblPr/>
              <a:tblGrid>
                <a:gridCol w="4114800">
                  <a:extLst>
                    <a:ext uri="{9D8B030D-6E8A-4147-A177-3AD203B41FA5}">
                      <a16:colId xmlns:a16="http://schemas.microsoft.com/office/drawing/2014/main" val="20000"/>
                    </a:ext>
                  </a:extLst>
                </a:gridCol>
                <a:gridCol w="1389888">
                  <a:extLst>
                    <a:ext uri="{9D8B030D-6E8A-4147-A177-3AD203B41FA5}">
                      <a16:colId xmlns:a16="http://schemas.microsoft.com/office/drawing/2014/main" val="20001"/>
                    </a:ext>
                  </a:extLst>
                </a:gridCol>
                <a:gridCol w="1389888">
                  <a:extLst>
                    <a:ext uri="{9D8B030D-6E8A-4147-A177-3AD203B41FA5}">
                      <a16:colId xmlns:a16="http://schemas.microsoft.com/office/drawing/2014/main" val="20002"/>
                    </a:ext>
                  </a:extLst>
                </a:gridCol>
                <a:gridCol w="1389888">
                  <a:extLst>
                    <a:ext uri="{9D8B030D-6E8A-4147-A177-3AD203B41FA5}">
                      <a16:colId xmlns:a16="http://schemas.microsoft.com/office/drawing/2014/main" val="20003"/>
                    </a:ext>
                  </a:extLst>
                </a:gridCol>
                <a:gridCol w="1389888">
                  <a:extLst>
                    <a:ext uri="{9D8B030D-6E8A-4147-A177-3AD203B41FA5}">
                      <a16:colId xmlns:a16="http://schemas.microsoft.com/office/drawing/2014/main" val="20004"/>
                    </a:ext>
                  </a:extLst>
                </a:gridCol>
                <a:gridCol w="1389888">
                  <a:extLst>
                    <a:ext uri="{9D8B030D-6E8A-4147-A177-3AD203B41FA5}">
                      <a16:colId xmlns:a16="http://schemas.microsoft.com/office/drawing/2014/main" val="20005"/>
                    </a:ext>
                  </a:extLst>
                </a:gridCol>
              </a:tblGrid>
              <a:tr h="41148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Review</a:t>
                      </a:r>
                      <a:endParaRPr lang="en-US" sz="1100" dirty="0">
                        <a:latin typeface="Calibri" charset="0"/>
                        <a:ea typeface="Calibri" charset="0"/>
                        <a:cs typeface="Calibri" charset="0"/>
                      </a:endParaRPr>
                    </a:p>
                  </a:txBody>
                  <a:tcP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E3A5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"barang"</a:t>
                      </a:r>
                      <a:endParaRPr lang="en-US" sz="1100" dirty="0">
                        <a:latin typeface="Calibri" charset="0"/>
                        <a:ea typeface="Calibri" charset="0"/>
                        <a:cs typeface="Calibri" charset="0"/>
                      </a:endParaRPr>
                    </a:p>
                  </a:txBody>
                  <a:tcP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E3A5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"bagus"</a:t>
                      </a:r>
                      <a:endParaRPr lang="en-US" sz="1100" dirty="0">
                        <a:latin typeface="Calibri" charset="0"/>
                        <a:ea typeface="Calibri" charset="0"/>
                        <a:cs typeface="Calibri" charset="0"/>
                      </a:endParaRPr>
                    </a:p>
                  </a:txBody>
                  <a:tcP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E3A5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"jelek"</a:t>
                      </a:r>
                      <a:endParaRPr lang="en-US" sz="1100" dirty="0">
                        <a:latin typeface="Calibri" charset="0"/>
                        <a:ea typeface="Calibri" charset="0"/>
                        <a:cs typeface="Calibri" charset="0"/>
                      </a:endParaRPr>
                    </a:p>
                  </a:txBody>
                  <a:tcP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E3A5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"cepat"</a:t>
                      </a:r>
                      <a:endParaRPr lang="en-US" sz="1100" dirty="0">
                        <a:latin typeface="Calibri" charset="0"/>
                        <a:ea typeface="Calibri" charset="0"/>
                        <a:cs typeface="Calibri" charset="0"/>
                      </a:endParaRPr>
                    </a:p>
                  </a:txBody>
                  <a:tcP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E3A5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"rusak"</a:t>
                      </a:r>
                      <a:endParaRPr lang="en-US" sz="1100" dirty="0">
                        <a:latin typeface="Calibri" charset="0"/>
                        <a:ea typeface="Calibri" charset="0"/>
                        <a:cs typeface="Calibri" charset="0"/>
                      </a:endParaRPr>
                    </a:p>
                  </a:txBody>
                  <a:tcP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41148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"barang bagus, pengiriman cepat"</a:t>
                      </a:r>
                      <a:endParaRPr lang="en-US" sz="1100" dirty="0">
                        <a:latin typeface="Calibri" charset="0"/>
                        <a:ea typeface="Calibri" charset="0"/>
                        <a:cs typeface="Calibri" charset="0"/>
                      </a:endParaRPr>
                    </a:p>
                  </a:txBody>
                  <a:tcP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0.41</a:t>
                      </a:r>
                      <a:endParaRPr lang="en-US" sz="1100" dirty="0">
                        <a:latin typeface="Calibri" charset="0"/>
                        <a:ea typeface="Calibri" charset="0"/>
                        <a:cs typeface="Calibri" charset="0"/>
                      </a:endParaRPr>
                    </a:p>
                  </a:txBody>
                  <a:tcP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tcPr>
                </a:tc>
                <a:tc>
                  <a:txBody>
                    <a:bodyPr/>
                    <a:lstStyle/>
                    <a:p>
                      <a:pPr marL="0" indent="0" algn="ctr">
                        <a:buNone/>
                      </a:pPr>
                      <a:r>
                        <a:rPr lang="en-US" sz="1100" b="1" dirty="0">
                          <a:solidFill>
                            <a:srgbClr val="06A77D"/>
                          </a:solidFill>
                          <a:latin typeface="Calibri" pitchFamily="34" charset="0"/>
                          <a:ea typeface="Calibri" pitchFamily="34" charset="-122"/>
                          <a:cs typeface="Calibri" pitchFamily="34" charset="-120"/>
                        </a:rPr>
                        <a:t>0.59</a:t>
                      </a:r>
                      <a:endParaRPr lang="en-US" sz="1100" dirty="0">
                        <a:latin typeface="Calibri" charset="0"/>
                        <a:ea typeface="Calibri" charset="0"/>
                        <a:cs typeface="Calibri" charset="0"/>
                      </a:endParaRPr>
                    </a:p>
                  </a:txBody>
                  <a:tcP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tcPr>
                </a:tc>
                <a:tc>
                  <a:txBody>
                    <a:bodyPr/>
                    <a:lstStyle/>
                    <a:p>
                      <a:pPr marL="0" indent="0" algn="ctr">
                        <a:buNone/>
                      </a:pPr>
                      <a:r>
                        <a:rPr lang="en-US" sz="1100" b="1" dirty="0">
                          <a:solidFill>
                            <a:srgbClr val="06A77D"/>
                          </a:solidFill>
                          <a:latin typeface="Calibri" pitchFamily="34" charset="0"/>
                          <a:ea typeface="Calibri" pitchFamily="34" charset="-122"/>
                          <a:cs typeface="Calibri" pitchFamily="34" charset="-120"/>
                        </a:rPr>
                        <a:t>0.69</a:t>
                      </a:r>
                      <a:endParaRPr lang="en-US" sz="1100" dirty="0">
                        <a:latin typeface="Calibri" charset="0"/>
                        <a:ea typeface="Calibri" charset="0"/>
                        <a:cs typeface="Calibri" charset="0"/>
                      </a:endParaRPr>
                    </a:p>
                  </a:txBody>
                  <a:tcP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"barang jelek, mudah rusak"</a:t>
                      </a:r>
                      <a:endParaRPr lang="en-US" sz="1100" dirty="0">
                        <a:latin typeface="Calibri" charset="0"/>
                        <a:ea typeface="Calibri" charset="0"/>
                        <a:cs typeface="Calibri" charset="0"/>
                      </a:endParaRPr>
                    </a:p>
                  </a:txBody>
                  <a:tcP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0.41</a:t>
                      </a:r>
                      <a:endParaRPr lang="en-US" sz="1100" dirty="0">
                        <a:latin typeface="Calibri" charset="0"/>
                        <a:ea typeface="Calibri" charset="0"/>
                        <a:cs typeface="Calibri" charset="0"/>
                      </a:endParaRPr>
                    </a:p>
                  </a:txBody>
                  <a:tcP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tcPr>
                </a:tc>
                <a:tc>
                  <a:txBody>
                    <a:bodyPr/>
                    <a:lstStyle/>
                    <a:p>
                      <a:pPr marL="0" indent="0" algn="ctr">
                        <a:buNone/>
                      </a:pPr>
                      <a:r>
                        <a:rPr lang="en-US" sz="1100" b="1" dirty="0">
                          <a:solidFill>
                            <a:srgbClr val="D62828"/>
                          </a:solidFill>
                          <a:latin typeface="Calibri" pitchFamily="34" charset="0"/>
                          <a:ea typeface="Calibri" pitchFamily="34" charset="-122"/>
                          <a:cs typeface="Calibri" pitchFamily="34" charset="-120"/>
                        </a:rPr>
                        <a:t>0.69</a:t>
                      </a:r>
                      <a:endParaRPr lang="en-US" sz="1100" dirty="0">
                        <a:latin typeface="Calibri" charset="0"/>
                        <a:ea typeface="Calibri" charset="0"/>
                        <a:cs typeface="Calibri" charset="0"/>
                      </a:endParaRPr>
                    </a:p>
                  </a:txBody>
                  <a:tcP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tcPr>
                </a:tc>
                <a:tc>
                  <a:txBody>
                    <a:bodyPr/>
                    <a:lstStyle/>
                    <a:p>
                      <a:pPr marL="0" indent="0" algn="ctr">
                        <a:buNone/>
                      </a:pPr>
                      <a:r>
                        <a:rPr lang="en-US" sz="1100" b="1" dirty="0">
                          <a:solidFill>
                            <a:srgbClr val="D62828"/>
                          </a:solidFill>
                          <a:latin typeface="Calibri" pitchFamily="34" charset="0"/>
                          <a:ea typeface="Calibri" pitchFamily="34" charset="-122"/>
                          <a:cs typeface="Calibri" pitchFamily="34" charset="-120"/>
                        </a:rPr>
                        <a:t>0.59</a:t>
                      </a:r>
                      <a:endParaRPr lang="en-US" sz="1100" dirty="0">
                        <a:latin typeface="Calibri" charset="0"/>
                        <a:ea typeface="Calibri" charset="0"/>
                        <a:cs typeface="Calibri" charset="0"/>
                      </a:endParaRPr>
                    </a:p>
                  </a:txBody>
                  <a:tcP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"barang bagus, tidak rusak"</a:t>
                      </a:r>
                      <a:endParaRPr lang="en-US" sz="1100" dirty="0">
                        <a:latin typeface="Calibri" charset="0"/>
                        <a:ea typeface="Calibri" charset="0"/>
                        <a:cs typeface="Calibri" charset="0"/>
                      </a:endParaRPr>
                    </a:p>
                  </a:txBody>
                  <a:tcP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0.41</a:t>
                      </a:r>
                      <a:endParaRPr lang="en-US" sz="1100" dirty="0">
                        <a:latin typeface="Calibri" charset="0"/>
                        <a:ea typeface="Calibri" charset="0"/>
                        <a:cs typeface="Calibri" charset="0"/>
                      </a:endParaRPr>
                    </a:p>
                  </a:txBody>
                  <a:tcP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tcPr>
                </a:tc>
                <a:tc>
                  <a:txBody>
                    <a:bodyPr/>
                    <a:lstStyle/>
                    <a:p>
                      <a:pPr marL="0" indent="0" algn="ctr">
                        <a:buNone/>
                      </a:pPr>
                      <a:r>
                        <a:rPr lang="en-US" sz="1100" b="1" dirty="0">
                          <a:solidFill>
                            <a:srgbClr val="06A77D"/>
                          </a:solidFill>
                          <a:latin typeface="Calibri" pitchFamily="34" charset="0"/>
                          <a:ea typeface="Calibri" pitchFamily="34" charset="-122"/>
                          <a:cs typeface="Calibri" pitchFamily="34" charset="-120"/>
                        </a:rPr>
                        <a:t>0.59</a:t>
                      </a:r>
                      <a:endParaRPr lang="en-US" sz="1100" dirty="0">
                        <a:latin typeface="Calibri" charset="0"/>
                        <a:ea typeface="Calibri" charset="0"/>
                        <a:cs typeface="Calibri" charset="0"/>
                      </a:endParaRPr>
                    </a:p>
                  </a:txBody>
                  <a:tcP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tcPr>
                </a:tc>
                <a:tc>
                  <a:txBody>
                    <a:bodyPr/>
                    <a:lstStyle/>
                    <a:p>
                      <a:pPr marL="0" indent="0" algn="ctr">
                        <a:buNone/>
                      </a:pPr>
                      <a:r>
                        <a:rPr lang="en-US" sz="1100" b="1" dirty="0">
                          <a:solidFill>
                            <a:srgbClr val="D62828"/>
                          </a:solidFill>
                          <a:latin typeface="Calibri" pitchFamily="34" charset="0"/>
                          <a:ea typeface="Calibri" pitchFamily="34" charset="-122"/>
                          <a:cs typeface="Calibri" pitchFamily="34" charset="-120"/>
                        </a:rPr>
                        <a:t>0.59</a:t>
                      </a:r>
                      <a:endParaRPr lang="en-US" sz="1100" dirty="0">
                        <a:latin typeface="Calibri" charset="0"/>
                        <a:ea typeface="Calibri" charset="0"/>
                        <a:cs typeface="Calibri" charset="0"/>
                      </a:endParaRPr>
                    </a:p>
                  </a:txBody>
                  <a:tcP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7" name="Text 14"/>
          <p:cNvSpPr/>
          <p:nvPr/>
        </p:nvSpPr>
        <p:spPr>
          <a:xfrm>
            <a:off x="548640" y="6126480"/>
            <a:ext cx="11064240" cy="365760"/>
          </a:xfrm>
          <a:prstGeom prst="rect">
            <a:avLst/>
          </a:prstGeom>
          <a:noFill/>
          <a:ln/>
        </p:spPr>
        <p:txBody>
          <a:bodyPr wrap="square" lIns="0" tIns="0" rIns="0" bIns="0" rtlCol="0" anchor="ctr"/>
          <a:lstStyle/>
          <a:p>
            <a:pPr marL="0" indent="0">
              <a:buNone/>
            </a:pPr>
            <a:r>
              <a:rPr lang="en-US" sz="1200" i="1" dirty="0">
                <a:solidFill>
                  <a:srgbClr val="6C757D"/>
                </a:solidFill>
                <a:latin typeface="Calibri" pitchFamily="34" charset="0"/>
                <a:ea typeface="Calibri" pitchFamily="34" charset="-122"/>
                <a:cs typeface="Calibri" pitchFamily="34" charset="-120"/>
              </a:rPr>
              <a:t>"barang" appears in every review → low TF-IDF. "bagus" / "jelek" only in some → discriminating signal.</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1E3A5F"/>
          </a:solidFill>
          <a:ln w="12700">
            <a:solidFill>
              <a:srgbClr val="1E3A5F"/>
            </a:solidFill>
            <a:prstDash val="solid"/>
          </a:ln>
        </p:spPr>
        <p:txBody>
          <a:bodyPr/>
          <a:lstStyle/>
          <a:p>
            <a:endParaRPr lang="en-GB"/>
          </a:p>
        </p:txBody>
      </p:sp>
      <p:sp>
        <p:nvSpPr>
          <p:cNvPr id="3" name="Shape 1"/>
          <p:cNvSpPr/>
          <p:nvPr/>
        </p:nvSpPr>
        <p:spPr>
          <a:xfrm>
            <a:off x="0" y="0"/>
            <a:ext cx="2377440" cy="164592"/>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457200" y="292608"/>
            <a:ext cx="10972800" cy="320040"/>
          </a:xfrm>
          <a:prstGeom prst="rect">
            <a:avLst/>
          </a:prstGeom>
          <a:noFill/>
          <a:ln/>
        </p:spPr>
        <p:txBody>
          <a:bodyPr wrap="square" rtlCol="0" anchor="ctr"/>
          <a:lstStyle/>
          <a:p>
            <a:pPr marL="0" indent="0">
              <a:buNone/>
            </a:pPr>
            <a:r>
              <a:rPr lang="en-US" sz="1100" b="1" kern="0" spc="400" dirty="0">
                <a:solidFill>
                  <a:srgbClr val="F77F00"/>
                </a:solidFill>
                <a:latin typeface="Calibri" pitchFamily="34" charset="0"/>
                <a:ea typeface="Calibri" pitchFamily="34" charset="-122"/>
                <a:cs typeface="Calibri" pitchFamily="34" charset="-120"/>
              </a:rPr>
              <a:t>START SIMPLE, THEN ESCALATE</a:t>
            </a:r>
            <a:endParaRPr lang="en-US" sz="1100" dirty="0"/>
          </a:p>
        </p:txBody>
      </p:sp>
      <p:sp>
        <p:nvSpPr>
          <p:cNvPr id="5" name="Text 3"/>
          <p:cNvSpPr/>
          <p:nvPr/>
        </p:nvSpPr>
        <p:spPr>
          <a:xfrm>
            <a:off x="457200" y="594360"/>
            <a:ext cx="11247120" cy="777240"/>
          </a:xfrm>
          <a:prstGeom prst="rect">
            <a:avLst/>
          </a:prstGeom>
          <a:noFill/>
          <a:ln/>
        </p:spPr>
        <p:txBody>
          <a:bodyPr wrap="square" lIns="0" tIns="0" rIns="0" bIns="0" rtlCol="0" anchor="ctr"/>
          <a:lstStyle/>
          <a:p>
            <a:pPr marL="0" indent="0">
              <a:buNone/>
            </a:pPr>
            <a:r>
              <a:rPr lang="en-US" sz="3000" b="1" dirty="0">
                <a:solidFill>
                  <a:srgbClr val="0F2440"/>
                </a:solidFill>
                <a:latin typeface="Calibri" pitchFamily="34" charset="0"/>
                <a:ea typeface="Calibri" pitchFamily="34" charset="-122"/>
                <a:cs typeface="Calibri" pitchFamily="34" charset="-120"/>
              </a:rPr>
              <a:t>Step 3 · Choose a learning algorithm</a:t>
            </a:r>
            <a:endParaRPr lang="en-US" sz="3000" dirty="0"/>
          </a:p>
        </p:txBody>
      </p:sp>
      <p:sp>
        <p:nvSpPr>
          <p:cNvPr id="6" name="Shape 4"/>
          <p:cNvSpPr/>
          <p:nvPr/>
        </p:nvSpPr>
        <p:spPr>
          <a:xfrm>
            <a:off x="457200" y="137160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11 / 35</a:t>
            </a:r>
            <a:endParaRPr lang="en-US" sz="900" dirty="0"/>
          </a:p>
        </p:txBody>
      </p:sp>
      <p:sp>
        <p:nvSpPr>
          <p:cNvPr id="10" name="Shape 8"/>
          <p:cNvSpPr/>
          <p:nvPr/>
        </p:nvSpPr>
        <p:spPr>
          <a:xfrm>
            <a:off x="548640" y="1691640"/>
            <a:ext cx="5394960" cy="219456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1" name="Shape 9"/>
          <p:cNvSpPr/>
          <p:nvPr/>
        </p:nvSpPr>
        <p:spPr>
          <a:xfrm>
            <a:off x="548640" y="1691640"/>
            <a:ext cx="164592" cy="2194560"/>
          </a:xfrm>
          <a:prstGeom prst="rect">
            <a:avLst/>
          </a:prstGeom>
          <a:solidFill>
            <a:srgbClr val="F77F00"/>
          </a:solidFill>
          <a:ln w="12700">
            <a:solidFill>
              <a:srgbClr val="F77F00"/>
            </a:solidFill>
            <a:prstDash val="solid"/>
          </a:ln>
        </p:spPr>
        <p:txBody>
          <a:bodyPr/>
          <a:lstStyle/>
          <a:p>
            <a:endParaRPr lang="en-GB"/>
          </a:p>
        </p:txBody>
      </p:sp>
      <p:sp>
        <p:nvSpPr>
          <p:cNvPr id="12" name="Text 10"/>
          <p:cNvSpPr/>
          <p:nvPr/>
        </p:nvSpPr>
        <p:spPr>
          <a:xfrm>
            <a:off x="868680" y="1783080"/>
            <a:ext cx="4937760" cy="365760"/>
          </a:xfrm>
          <a:prstGeom prst="rect">
            <a:avLst/>
          </a:prstGeom>
          <a:noFill/>
          <a:ln/>
        </p:spPr>
        <p:txBody>
          <a:bodyPr wrap="square" lIns="0" tIns="0" rIns="0" bIns="0" rtlCol="0" anchor="ctr"/>
          <a:lstStyle/>
          <a:p>
            <a:pPr marL="0" indent="0">
              <a:buNone/>
            </a:pPr>
            <a:r>
              <a:rPr lang="en-US" sz="1600" b="1" dirty="0">
                <a:solidFill>
                  <a:srgbClr val="0F2440"/>
                </a:solidFill>
                <a:latin typeface="Calibri" pitchFamily="34" charset="0"/>
                <a:ea typeface="Calibri" pitchFamily="34" charset="-122"/>
                <a:cs typeface="Calibri" pitchFamily="34" charset="-120"/>
              </a:rPr>
              <a:t>Logistic Regression</a:t>
            </a:r>
            <a:endParaRPr lang="en-US" sz="1600" dirty="0"/>
          </a:p>
        </p:txBody>
      </p:sp>
      <p:sp>
        <p:nvSpPr>
          <p:cNvPr id="13" name="Text 11"/>
          <p:cNvSpPr/>
          <p:nvPr/>
        </p:nvSpPr>
        <p:spPr>
          <a:xfrm>
            <a:off x="868680" y="2194560"/>
            <a:ext cx="4937760" cy="1188720"/>
          </a:xfrm>
          <a:prstGeom prst="rect">
            <a:avLst/>
          </a:prstGeom>
          <a:noFill/>
          <a:ln/>
        </p:spPr>
        <p:txBody>
          <a:bodyPr wrap="square" lIns="0" tIns="0" rIns="0" bIns="0" rtlCol="0" anchor="ctr"/>
          <a:lstStyle/>
          <a:p>
            <a:pPr marL="342900" indent="-342900">
              <a:buSzPct val="100000"/>
              <a:buChar char="•"/>
            </a:pPr>
            <a:r>
              <a:rPr lang="en-US" sz="1100" dirty="0">
                <a:solidFill>
                  <a:srgbClr val="212529"/>
                </a:solidFill>
                <a:latin typeface="Calibri" pitchFamily="34" charset="0"/>
                <a:ea typeface="Calibri" pitchFamily="34" charset="-122"/>
                <a:cs typeface="Calibri" pitchFamily="34" charset="-120"/>
              </a:rPr>
              <a:t>Strong baseline for text</a:t>
            </a:r>
            <a:endParaRPr lang="en-US" sz="1100" dirty="0"/>
          </a:p>
          <a:p>
            <a:pPr marL="342900" indent="-342900">
              <a:buSzPct val="100000"/>
              <a:buChar char="•"/>
            </a:pPr>
            <a:r>
              <a:rPr lang="en-US" sz="1100" dirty="0">
                <a:solidFill>
                  <a:srgbClr val="212529"/>
                </a:solidFill>
                <a:latin typeface="Calibri" pitchFamily="34" charset="0"/>
                <a:ea typeface="Calibri" pitchFamily="34" charset="-122"/>
                <a:cs typeface="Calibri" pitchFamily="34" charset="-120"/>
              </a:rPr>
              <a:t>Coefficients = interpretable</a:t>
            </a:r>
            <a:endParaRPr lang="en-US" sz="1100" dirty="0"/>
          </a:p>
          <a:p>
            <a:pPr marL="342900" indent="-342900">
              <a:buSzPct val="100000"/>
              <a:buChar char="•"/>
            </a:pPr>
            <a:r>
              <a:rPr lang="en-US" sz="1100" dirty="0">
                <a:solidFill>
                  <a:srgbClr val="212529"/>
                </a:solidFill>
                <a:latin typeface="Calibri" pitchFamily="34" charset="0"/>
                <a:ea typeface="Calibri" pitchFamily="34" charset="-122"/>
                <a:cs typeface="Calibri" pitchFamily="34" charset="-120"/>
              </a:rPr>
              <a:t>Fast, robust to high-D sparse features</a:t>
            </a:r>
            <a:endParaRPr lang="en-US" sz="1100" dirty="0"/>
          </a:p>
        </p:txBody>
      </p:sp>
      <p:sp>
        <p:nvSpPr>
          <p:cNvPr id="14" name="Text 12"/>
          <p:cNvSpPr/>
          <p:nvPr/>
        </p:nvSpPr>
        <p:spPr>
          <a:xfrm>
            <a:off x="868680" y="3474720"/>
            <a:ext cx="4937760" cy="365760"/>
          </a:xfrm>
          <a:prstGeom prst="rect">
            <a:avLst/>
          </a:prstGeom>
          <a:noFill/>
          <a:ln/>
        </p:spPr>
        <p:txBody>
          <a:bodyPr wrap="square" lIns="0" tIns="0" rIns="0" bIns="0" rtlCol="0" anchor="ctr"/>
          <a:lstStyle/>
          <a:p>
            <a:pPr marL="0" indent="0">
              <a:buNone/>
            </a:pPr>
            <a:r>
              <a:rPr lang="en-US" sz="1100" b="1" i="1" dirty="0">
                <a:solidFill>
                  <a:srgbClr val="F77F00"/>
                </a:solidFill>
                <a:latin typeface="Calibri" pitchFamily="34" charset="0"/>
                <a:ea typeface="Calibri" pitchFamily="34" charset="-122"/>
                <a:cs typeface="Calibri" pitchFamily="34" charset="-120"/>
              </a:rPr>
              <a:t>Best when: you need to explain decisions</a:t>
            </a:r>
            <a:endParaRPr lang="en-US" sz="1100" dirty="0"/>
          </a:p>
        </p:txBody>
      </p:sp>
      <p:sp>
        <p:nvSpPr>
          <p:cNvPr id="15" name="Shape 13"/>
          <p:cNvSpPr/>
          <p:nvPr/>
        </p:nvSpPr>
        <p:spPr>
          <a:xfrm>
            <a:off x="6217920" y="1691640"/>
            <a:ext cx="5394960" cy="219456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6" name="Shape 14"/>
          <p:cNvSpPr/>
          <p:nvPr/>
        </p:nvSpPr>
        <p:spPr>
          <a:xfrm>
            <a:off x="6217920" y="1691640"/>
            <a:ext cx="164592" cy="2194560"/>
          </a:xfrm>
          <a:prstGeom prst="rect">
            <a:avLst/>
          </a:prstGeom>
          <a:solidFill>
            <a:srgbClr val="00B4D8"/>
          </a:solidFill>
          <a:ln w="12700">
            <a:solidFill>
              <a:srgbClr val="00B4D8"/>
            </a:solidFill>
            <a:prstDash val="solid"/>
          </a:ln>
        </p:spPr>
        <p:txBody>
          <a:bodyPr/>
          <a:lstStyle/>
          <a:p>
            <a:endParaRPr lang="en-GB"/>
          </a:p>
        </p:txBody>
      </p:sp>
      <p:sp>
        <p:nvSpPr>
          <p:cNvPr id="17" name="Text 15"/>
          <p:cNvSpPr/>
          <p:nvPr/>
        </p:nvSpPr>
        <p:spPr>
          <a:xfrm>
            <a:off x="6537960" y="1783080"/>
            <a:ext cx="4937760" cy="365760"/>
          </a:xfrm>
          <a:prstGeom prst="rect">
            <a:avLst/>
          </a:prstGeom>
          <a:noFill/>
          <a:ln/>
        </p:spPr>
        <p:txBody>
          <a:bodyPr wrap="square" lIns="0" tIns="0" rIns="0" bIns="0" rtlCol="0" anchor="ctr"/>
          <a:lstStyle/>
          <a:p>
            <a:pPr marL="0" indent="0">
              <a:buNone/>
            </a:pPr>
            <a:r>
              <a:rPr lang="en-US" sz="1600" b="1" dirty="0">
                <a:solidFill>
                  <a:srgbClr val="0F2440"/>
                </a:solidFill>
                <a:latin typeface="Calibri" pitchFamily="34" charset="0"/>
                <a:ea typeface="Calibri" pitchFamily="34" charset="-122"/>
                <a:cs typeface="Calibri" pitchFamily="34" charset="-120"/>
              </a:rPr>
              <a:t>Multinomial NB</a:t>
            </a:r>
            <a:endParaRPr lang="en-US" sz="1600" dirty="0"/>
          </a:p>
        </p:txBody>
      </p:sp>
      <p:sp>
        <p:nvSpPr>
          <p:cNvPr id="18" name="Text 16"/>
          <p:cNvSpPr/>
          <p:nvPr/>
        </p:nvSpPr>
        <p:spPr>
          <a:xfrm>
            <a:off x="6537960" y="2194560"/>
            <a:ext cx="4937760" cy="1188720"/>
          </a:xfrm>
          <a:prstGeom prst="rect">
            <a:avLst/>
          </a:prstGeom>
          <a:noFill/>
          <a:ln/>
        </p:spPr>
        <p:txBody>
          <a:bodyPr wrap="square" lIns="0" tIns="0" rIns="0" bIns="0" rtlCol="0" anchor="ctr"/>
          <a:lstStyle/>
          <a:p>
            <a:pPr marL="342900" indent="-342900">
              <a:buSzPct val="100000"/>
              <a:buChar char="•"/>
            </a:pPr>
            <a:r>
              <a:rPr lang="en-US" sz="1100" dirty="0">
                <a:solidFill>
                  <a:srgbClr val="212529"/>
                </a:solidFill>
                <a:latin typeface="Calibri" pitchFamily="34" charset="0"/>
                <a:ea typeface="Calibri" pitchFamily="34" charset="-122"/>
                <a:cs typeface="Calibri" pitchFamily="34" charset="-120"/>
              </a:rPr>
              <a:t>Trains in milliseconds</a:t>
            </a:r>
            <a:endParaRPr lang="en-US" sz="1100" dirty="0"/>
          </a:p>
          <a:p>
            <a:pPr marL="342900" indent="-342900">
              <a:buSzPct val="100000"/>
              <a:buChar char="•"/>
            </a:pPr>
            <a:r>
              <a:rPr lang="en-US" sz="1100" dirty="0">
                <a:solidFill>
                  <a:srgbClr val="212529"/>
                </a:solidFill>
                <a:latin typeface="Calibri" pitchFamily="34" charset="0"/>
                <a:ea typeface="Calibri" pitchFamily="34" charset="-122"/>
                <a:cs typeface="Calibri" pitchFamily="34" charset="-120"/>
              </a:rPr>
              <a:t>Naive but surprisingly good</a:t>
            </a:r>
            <a:endParaRPr lang="en-US" sz="1100" dirty="0"/>
          </a:p>
          <a:p>
            <a:pPr marL="342900" indent="-342900">
              <a:buSzPct val="100000"/>
              <a:buChar char="•"/>
            </a:pPr>
            <a:r>
              <a:rPr lang="en-US" sz="1100" dirty="0">
                <a:solidFill>
                  <a:srgbClr val="212529"/>
                </a:solidFill>
                <a:latin typeface="Calibri" pitchFamily="34" charset="0"/>
                <a:ea typeface="Calibri" pitchFamily="34" charset="-122"/>
                <a:cs typeface="Calibri" pitchFamily="34" charset="-120"/>
              </a:rPr>
              <a:t>Probabilistic outputs</a:t>
            </a:r>
            <a:endParaRPr lang="en-US" sz="1100" dirty="0"/>
          </a:p>
        </p:txBody>
      </p:sp>
      <p:sp>
        <p:nvSpPr>
          <p:cNvPr id="19" name="Text 17"/>
          <p:cNvSpPr/>
          <p:nvPr/>
        </p:nvSpPr>
        <p:spPr>
          <a:xfrm>
            <a:off x="6537960" y="3474720"/>
            <a:ext cx="4937760" cy="365760"/>
          </a:xfrm>
          <a:prstGeom prst="rect">
            <a:avLst/>
          </a:prstGeom>
          <a:noFill/>
          <a:ln/>
        </p:spPr>
        <p:txBody>
          <a:bodyPr wrap="square" lIns="0" tIns="0" rIns="0" bIns="0" rtlCol="0" anchor="ctr"/>
          <a:lstStyle/>
          <a:p>
            <a:pPr marL="0" indent="0">
              <a:buNone/>
            </a:pPr>
            <a:r>
              <a:rPr lang="en-US" sz="1100" b="1" i="1" dirty="0">
                <a:solidFill>
                  <a:srgbClr val="00B4D8"/>
                </a:solidFill>
                <a:latin typeface="Calibri" pitchFamily="34" charset="0"/>
                <a:ea typeface="Calibri" pitchFamily="34" charset="-122"/>
                <a:cs typeface="Calibri" pitchFamily="34" charset="-120"/>
              </a:rPr>
              <a:t>Best when: small dataset / quick prototype</a:t>
            </a:r>
            <a:endParaRPr lang="en-US" sz="1100" dirty="0"/>
          </a:p>
        </p:txBody>
      </p:sp>
      <p:sp>
        <p:nvSpPr>
          <p:cNvPr id="20" name="Shape 18"/>
          <p:cNvSpPr/>
          <p:nvPr/>
        </p:nvSpPr>
        <p:spPr>
          <a:xfrm>
            <a:off x="548640" y="4023360"/>
            <a:ext cx="5394960" cy="219456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21" name="Shape 19"/>
          <p:cNvSpPr/>
          <p:nvPr/>
        </p:nvSpPr>
        <p:spPr>
          <a:xfrm>
            <a:off x="548640" y="4023360"/>
            <a:ext cx="164592" cy="2194560"/>
          </a:xfrm>
          <a:prstGeom prst="rect">
            <a:avLst/>
          </a:prstGeom>
          <a:solidFill>
            <a:srgbClr val="1E3A5F"/>
          </a:solidFill>
          <a:ln w="12700">
            <a:solidFill>
              <a:srgbClr val="1E3A5F"/>
            </a:solidFill>
            <a:prstDash val="solid"/>
          </a:ln>
        </p:spPr>
        <p:txBody>
          <a:bodyPr/>
          <a:lstStyle/>
          <a:p>
            <a:endParaRPr lang="en-GB"/>
          </a:p>
        </p:txBody>
      </p:sp>
      <p:sp>
        <p:nvSpPr>
          <p:cNvPr id="22" name="Text 20"/>
          <p:cNvSpPr/>
          <p:nvPr/>
        </p:nvSpPr>
        <p:spPr>
          <a:xfrm>
            <a:off x="868680" y="4114800"/>
            <a:ext cx="4937760" cy="365760"/>
          </a:xfrm>
          <a:prstGeom prst="rect">
            <a:avLst/>
          </a:prstGeom>
          <a:noFill/>
          <a:ln/>
        </p:spPr>
        <p:txBody>
          <a:bodyPr wrap="square" lIns="0" tIns="0" rIns="0" bIns="0" rtlCol="0" anchor="ctr"/>
          <a:lstStyle/>
          <a:p>
            <a:pPr marL="0" indent="0">
              <a:buNone/>
            </a:pPr>
            <a:r>
              <a:rPr lang="en-US" sz="1600" b="1" dirty="0">
                <a:solidFill>
                  <a:srgbClr val="0F2440"/>
                </a:solidFill>
                <a:latin typeface="Calibri" pitchFamily="34" charset="0"/>
                <a:ea typeface="Calibri" pitchFamily="34" charset="-122"/>
                <a:cs typeface="Calibri" pitchFamily="34" charset="-120"/>
              </a:rPr>
              <a:t>Linear SVM</a:t>
            </a:r>
            <a:endParaRPr lang="en-US" sz="1600" dirty="0"/>
          </a:p>
        </p:txBody>
      </p:sp>
      <p:sp>
        <p:nvSpPr>
          <p:cNvPr id="23" name="Text 21"/>
          <p:cNvSpPr/>
          <p:nvPr/>
        </p:nvSpPr>
        <p:spPr>
          <a:xfrm>
            <a:off x="868680" y="4526280"/>
            <a:ext cx="4937760" cy="1188720"/>
          </a:xfrm>
          <a:prstGeom prst="rect">
            <a:avLst/>
          </a:prstGeom>
          <a:noFill/>
          <a:ln/>
        </p:spPr>
        <p:txBody>
          <a:bodyPr wrap="square" lIns="0" tIns="0" rIns="0" bIns="0" rtlCol="0" anchor="ctr"/>
          <a:lstStyle/>
          <a:p>
            <a:pPr marL="342900" indent="-342900">
              <a:buSzPct val="100000"/>
              <a:buChar char="•"/>
            </a:pPr>
            <a:r>
              <a:rPr lang="en-US" sz="1100" dirty="0">
                <a:solidFill>
                  <a:srgbClr val="212529"/>
                </a:solidFill>
                <a:latin typeface="Calibri" pitchFamily="34" charset="0"/>
                <a:ea typeface="Calibri" pitchFamily="34" charset="-122"/>
                <a:cs typeface="Calibri" pitchFamily="34" charset="-120"/>
              </a:rPr>
              <a:t>Often strongest for text</a:t>
            </a:r>
            <a:endParaRPr lang="en-US" sz="1100" dirty="0"/>
          </a:p>
          <a:p>
            <a:pPr marL="342900" indent="-342900">
              <a:buSzPct val="100000"/>
              <a:buChar char="•"/>
            </a:pPr>
            <a:r>
              <a:rPr lang="en-US" sz="1100" dirty="0">
                <a:solidFill>
                  <a:srgbClr val="212529"/>
                </a:solidFill>
                <a:latin typeface="Calibri" pitchFamily="34" charset="0"/>
                <a:ea typeface="Calibri" pitchFamily="34" charset="-122"/>
                <a:cs typeface="Calibri" pitchFamily="34" charset="-120"/>
              </a:rPr>
              <a:t>Handles high-dim well</a:t>
            </a:r>
            <a:endParaRPr lang="en-US" sz="1100" dirty="0"/>
          </a:p>
          <a:p>
            <a:pPr marL="342900" indent="-342900">
              <a:buSzPct val="100000"/>
              <a:buChar char="•"/>
            </a:pPr>
            <a:r>
              <a:rPr lang="en-US" sz="1100" dirty="0">
                <a:solidFill>
                  <a:srgbClr val="212529"/>
                </a:solidFill>
                <a:latin typeface="Calibri" pitchFamily="34" charset="0"/>
                <a:ea typeface="Calibri" pitchFamily="34" charset="-122"/>
                <a:cs typeface="Calibri" pitchFamily="34" charset="-120"/>
              </a:rPr>
              <a:t>Less interpretable than LR</a:t>
            </a:r>
            <a:endParaRPr lang="en-US" sz="1100" dirty="0"/>
          </a:p>
        </p:txBody>
      </p:sp>
      <p:sp>
        <p:nvSpPr>
          <p:cNvPr id="24" name="Text 22"/>
          <p:cNvSpPr/>
          <p:nvPr/>
        </p:nvSpPr>
        <p:spPr>
          <a:xfrm>
            <a:off x="868680" y="5806440"/>
            <a:ext cx="4937760" cy="365760"/>
          </a:xfrm>
          <a:prstGeom prst="rect">
            <a:avLst/>
          </a:prstGeom>
          <a:noFill/>
          <a:ln/>
        </p:spPr>
        <p:txBody>
          <a:bodyPr wrap="square" lIns="0" tIns="0" rIns="0" bIns="0" rtlCol="0" anchor="ctr"/>
          <a:lstStyle/>
          <a:p>
            <a:pPr marL="0" indent="0">
              <a:buNone/>
            </a:pPr>
            <a:r>
              <a:rPr lang="en-US" sz="1100" b="1" i="1" dirty="0">
                <a:solidFill>
                  <a:srgbClr val="1E3A5F"/>
                </a:solidFill>
                <a:latin typeface="Calibri" pitchFamily="34" charset="0"/>
                <a:ea typeface="Calibri" pitchFamily="34" charset="-122"/>
                <a:cs typeface="Calibri" pitchFamily="34" charset="-120"/>
              </a:rPr>
              <a:t>Best when: you want max accuracy</a:t>
            </a:r>
            <a:endParaRPr lang="en-US" sz="1100" dirty="0"/>
          </a:p>
        </p:txBody>
      </p:sp>
      <p:sp>
        <p:nvSpPr>
          <p:cNvPr id="25" name="Shape 23"/>
          <p:cNvSpPr/>
          <p:nvPr/>
        </p:nvSpPr>
        <p:spPr>
          <a:xfrm>
            <a:off x="6217920" y="4023360"/>
            <a:ext cx="5394960" cy="219456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26" name="Shape 24"/>
          <p:cNvSpPr/>
          <p:nvPr/>
        </p:nvSpPr>
        <p:spPr>
          <a:xfrm>
            <a:off x="6217920" y="4023360"/>
            <a:ext cx="164592" cy="2194560"/>
          </a:xfrm>
          <a:prstGeom prst="rect">
            <a:avLst/>
          </a:prstGeom>
          <a:solidFill>
            <a:srgbClr val="06A77D"/>
          </a:solidFill>
          <a:ln w="12700">
            <a:solidFill>
              <a:srgbClr val="06A77D"/>
            </a:solidFill>
            <a:prstDash val="solid"/>
          </a:ln>
        </p:spPr>
        <p:txBody>
          <a:bodyPr/>
          <a:lstStyle/>
          <a:p>
            <a:endParaRPr lang="en-GB"/>
          </a:p>
        </p:txBody>
      </p:sp>
      <p:sp>
        <p:nvSpPr>
          <p:cNvPr id="27" name="Text 25"/>
          <p:cNvSpPr/>
          <p:nvPr/>
        </p:nvSpPr>
        <p:spPr>
          <a:xfrm>
            <a:off x="6537960" y="4114800"/>
            <a:ext cx="4937760" cy="365760"/>
          </a:xfrm>
          <a:prstGeom prst="rect">
            <a:avLst/>
          </a:prstGeom>
          <a:noFill/>
          <a:ln/>
        </p:spPr>
        <p:txBody>
          <a:bodyPr wrap="square" lIns="0" tIns="0" rIns="0" bIns="0" rtlCol="0" anchor="ctr"/>
          <a:lstStyle/>
          <a:p>
            <a:pPr marL="0" indent="0">
              <a:buNone/>
            </a:pPr>
            <a:r>
              <a:rPr lang="en-US" sz="1600" b="1" dirty="0">
                <a:solidFill>
                  <a:srgbClr val="0F2440"/>
                </a:solidFill>
                <a:latin typeface="Calibri" pitchFamily="34" charset="0"/>
                <a:ea typeface="Calibri" pitchFamily="34" charset="-122"/>
                <a:cs typeface="Calibri" pitchFamily="34" charset="-120"/>
              </a:rPr>
              <a:t>Transformers (IndoBERT)</a:t>
            </a:r>
            <a:endParaRPr lang="en-US" sz="1600" dirty="0"/>
          </a:p>
        </p:txBody>
      </p:sp>
      <p:sp>
        <p:nvSpPr>
          <p:cNvPr id="28" name="Text 26"/>
          <p:cNvSpPr/>
          <p:nvPr/>
        </p:nvSpPr>
        <p:spPr>
          <a:xfrm>
            <a:off x="6537960" y="4526280"/>
            <a:ext cx="4937760" cy="1188720"/>
          </a:xfrm>
          <a:prstGeom prst="rect">
            <a:avLst/>
          </a:prstGeom>
          <a:noFill/>
          <a:ln/>
        </p:spPr>
        <p:txBody>
          <a:bodyPr wrap="square" lIns="0" tIns="0" rIns="0" bIns="0" rtlCol="0" anchor="ctr"/>
          <a:lstStyle/>
          <a:p>
            <a:pPr marL="342900" indent="-342900">
              <a:buSzPct val="100000"/>
              <a:buChar char="•"/>
            </a:pPr>
            <a:r>
              <a:rPr lang="en-US" sz="1100" dirty="0">
                <a:solidFill>
                  <a:srgbClr val="212529"/>
                </a:solidFill>
                <a:latin typeface="Calibri" pitchFamily="34" charset="0"/>
                <a:ea typeface="Calibri" pitchFamily="34" charset="-122"/>
                <a:cs typeface="Calibri" pitchFamily="34" charset="-120"/>
              </a:rPr>
              <a:t>State-of-the-art accuracy</a:t>
            </a:r>
            <a:endParaRPr lang="en-US" sz="1100" dirty="0"/>
          </a:p>
          <a:p>
            <a:pPr marL="342900" indent="-342900">
              <a:buSzPct val="100000"/>
              <a:buChar char="•"/>
            </a:pPr>
            <a:r>
              <a:rPr lang="en-US" sz="1100" dirty="0">
                <a:solidFill>
                  <a:srgbClr val="212529"/>
                </a:solidFill>
                <a:latin typeface="Calibri" pitchFamily="34" charset="0"/>
                <a:ea typeface="Calibri" pitchFamily="34" charset="-122"/>
                <a:cs typeface="Calibri" pitchFamily="34" charset="-120"/>
              </a:rPr>
              <a:t>Captures context, sarcasm</a:t>
            </a:r>
            <a:endParaRPr lang="en-US" sz="1100" dirty="0"/>
          </a:p>
          <a:p>
            <a:pPr marL="342900" indent="-342900">
              <a:buSzPct val="100000"/>
              <a:buChar char="•"/>
            </a:pPr>
            <a:r>
              <a:rPr lang="en-US" sz="1100" dirty="0">
                <a:solidFill>
                  <a:srgbClr val="212529"/>
                </a:solidFill>
                <a:latin typeface="Calibri" pitchFamily="34" charset="0"/>
                <a:ea typeface="Calibri" pitchFamily="34" charset="-122"/>
                <a:cs typeface="Calibri" pitchFamily="34" charset="-120"/>
              </a:rPr>
              <a:t>Heavy compute, harder to explain</a:t>
            </a:r>
            <a:endParaRPr lang="en-US" sz="1100" dirty="0"/>
          </a:p>
        </p:txBody>
      </p:sp>
      <p:sp>
        <p:nvSpPr>
          <p:cNvPr id="29" name="Text 27"/>
          <p:cNvSpPr/>
          <p:nvPr/>
        </p:nvSpPr>
        <p:spPr>
          <a:xfrm>
            <a:off x="6537960" y="5806440"/>
            <a:ext cx="4937760" cy="365760"/>
          </a:xfrm>
          <a:prstGeom prst="rect">
            <a:avLst/>
          </a:prstGeom>
          <a:noFill/>
          <a:ln/>
        </p:spPr>
        <p:txBody>
          <a:bodyPr wrap="square" lIns="0" tIns="0" rIns="0" bIns="0" rtlCol="0" anchor="ctr"/>
          <a:lstStyle/>
          <a:p>
            <a:pPr marL="0" indent="0">
              <a:buNone/>
            </a:pPr>
            <a:r>
              <a:rPr lang="en-US" sz="1100" b="1" i="1" dirty="0">
                <a:solidFill>
                  <a:srgbClr val="06A77D"/>
                </a:solidFill>
                <a:latin typeface="Calibri" pitchFamily="34" charset="0"/>
                <a:ea typeface="Calibri" pitchFamily="34" charset="-122"/>
                <a:cs typeface="Calibri" pitchFamily="34" charset="-120"/>
              </a:rPr>
              <a:t>Best when: you have GPUs + need top accuracy</a:t>
            </a:r>
            <a:endParaRPr lang="en-US" sz="1100" dirty="0"/>
          </a:p>
        </p:txBody>
      </p:sp>
      <p:sp>
        <p:nvSpPr>
          <p:cNvPr id="30" name="Text 28"/>
          <p:cNvSpPr/>
          <p:nvPr/>
        </p:nvSpPr>
        <p:spPr>
          <a:xfrm>
            <a:off x="548640" y="6400800"/>
            <a:ext cx="11064240" cy="365760"/>
          </a:xfrm>
          <a:prstGeom prst="rect">
            <a:avLst/>
          </a:prstGeom>
          <a:noFill/>
          <a:ln/>
        </p:spPr>
        <p:txBody>
          <a:bodyPr wrap="square" lIns="0" tIns="0" rIns="0" bIns="0" rtlCol="0" anchor="ctr"/>
          <a:lstStyle/>
          <a:p>
            <a:pPr marL="0" indent="0">
              <a:buNone/>
            </a:pPr>
            <a:r>
              <a:rPr lang="en-US" sz="1200" b="1" i="1" dirty="0">
                <a:solidFill>
                  <a:srgbClr val="0F2440"/>
                </a:solidFill>
                <a:latin typeface="Calibri" pitchFamily="34" charset="0"/>
                <a:ea typeface="Calibri" pitchFamily="34" charset="-122"/>
                <a:cs typeface="Calibri" pitchFamily="34" charset="-120"/>
              </a:rPr>
              <a:t>Today: Logistic Regression first  →  GridSearch later  →  later in the course: IndoBERT.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1E3A5F"/>
          </a:solidFill>
          <a:ln w="12700">
            <a:solidFill>
              <a:srgbClr val="1E3A5F"/>
            </a:solidFill>
            <a:prstDash val="solid"/>
          </a:ln>
        </p:spPr>
        <p:txBody>
          <a:bodyPr/>
          <a:lstStyle/>
          <a:p>
            <a:endParaRPr lang="en-GB"/>
          </a:p>
        </p:txBody>
      </p:sp>
      <p:sp>
        <p:nvSpPr>
          <p:cNvPr id="3" name="Shape 1"/>
          <p:cNvSpPr/>
          <p:nvPr/>
        </p:nvSpPr>
        <p:spPr>
          <a:xfrm>
            <a:off x="0" y="0"/>
            <a:ext cx="2377440" cy="164592"/>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457200" y="292608"/>
            <a:ext cx="10972800" cy="320040"/>
          </a:xfrm>
          <a:prstGeom prst="rect">
            <a:avLst/>
          </a:prstGeom>
          <a:noFill/>
          <a:ln/>
        </p:spPr>
        <p:txBody>
          <a:bodyPr wrap="square" rtlCol="0" anchor="ctr"/>
          <a:lstStyle/>
          <a:p>
            <a:pPr marL="0" indent="0">
              <a:buNone/>
            </a:pPr>
            <a:r>
              <a:rPr lang="en-US" sz="1100" b="1" kern="0" spc="400" dirty="0">
                <a:solidFill>
                  <a:srgbClr val="F77F00"/>
                </a:solidFill>
                <a:latin typeface="Calibri" pitchFamily="34" charset="0"/>
                <a:ea typeface="Calibri" pitchFamily="34" charset="-122"/>
                <a:cs typeface="Calibri" pitchFamily="34" charset="-120"/>
              </a:rPr>
              <a:t>BEFORE WE TOUCH CODE</a:t>
            </a:r>
            <a:endParaRPr lang="en-US" sz="1100" dirty="0"/>
          </a:p>
        </p:txBody>
      </p:sp>
      <p:sp>
        <p:nvSpPr>
          <p:cNvPr id="5" name="Text 3"/>
          <p:cNvSpPr/>
          <p:nvPr/>
        </p:nvSpPr>
        <p:spPr>
          <a:xfrm>
            <a:off x="457200" y="594360"/>
            <a:ext cx="11247120" cy="777240"/>
          </a:xfrm>
          <a:prstGeom prst="rect">
            <a:avLst/>
          </a:prstGeom>
          <a:noFill/>
          <a:ln/>
        </p:spPr>
        <p:txBody>
          <a:bodyPr wrap="square" lIns="0" tIns="0" rIns="0" bIns="0" rtlCol="0" anchor="ctr"/>
          <a:lstStyle/>
          <a:p>
            <a:pPr marL="0" indent="0">
              <a:buNone/>
            </a:pPr>
            <a:r>
              <a:rPr lang="en-US" sz="3000" b="1" dirty="0">
                <a:solidFill>
                  <a:srgbClr val="0F2440"/>
                </a:solidFill>
                <a:latin typeface="Calibri" pitchFamily="34" charset="0"/>
                <a:ea typeface="Calibri" pitchFamily="34" charset="-122"/>
                <a:cs typeface="Calibri" pitchFamily="34" charset="-120"/>
              </a:rPr>
              <a:t>Live demo · The dataset</a:t>
            </a:r>
            <a:endParaRPr lang="en-US" sz="3000" dirty="0"/>
          </a:p>
        </p:txBody>
      </p:sp>
      <p:sp>
        <p:nvSpPr>
          <p:cNvPr id="6" name="Shape 4"/>
          <p:cNvSpPr/>
          <p:nvPr/>
        </p:nvSpPr>
        <p:spPr>
          <a:xfrm>
            <a:off x="457200" y="137160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12 / 35</a:t>
            </a:r>
            <a:endParaRPr lang="en-US" sz="900" dirty="0"/>
          </a:p>
        </p:txBody>
      </p:sp>
      <p:sp>
        <p:nvSpPr>
          <p:cNvPr id="10" name="Shape 8"/>
          <p:cNvSpPr/>
          <p:nvPr/>
        </p:nvSpPr>
        <p:spPr>
          <a:xfrm>
            <a:off x="548640" y="1691640"/>
            <a:ext cx="5486400" cy="475488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1" name="Text 9"/>
          <p:cNvSpPr/>
          <p:nvPr/>
        </p:nvSpPr>
        <p:spPr>
          <a:xfrm>
            <a:off x="777240" y="1828800"/>
            <a:ext cx="5029200" cy="365760"/>
          </a:xfrm>
          <a:prstGeom prst="rect">
            <a:avLst/>
          </a:prstGeom>
          <a:noFill/>
          <a:ln/>
        </p:spPr>
        <p:txBody>
          <a:bodyPr wrap="square" lIns="0" tIns="0" rIns="0" bIns="0" rtlCol="0" anchor="ctr"/>
          <a:lstStyle/>
          <a:p>
            <a:pPr marL="0" indent="0">
              <a:buNone/>
            </a:pPr>
            <a:r>
              <a:rPr lang="en-US" sz="1600" b="1" dirty="0">
                <a:solidFill>
                  <a:srgbClr val="0F2440"/>
                </a:solidFill>
                <a:latin typeface="Calibri" pitchFamily="34" charset="0"/>
                <a:ea typeface="Calibri" pitchFamily="34" charset="-122"/>
                <a:cs typeface="Calibri" pitchFamily="34" charset="-120"/>
              </a:rPr>
              <a:t>SmSA — IndoNLU sentiment subset</a:t>
            </a:r>
            <a:endParaRPr lang="en-US" sz="1600" dirty="0"/>
          </a:p>
        </p:txBody>
      </p:sp>
      <p:sp>
        <p:nvSpPr>
          <p:cNvPr id="12" name="Text 10"/>
          <p:cNvSpPr/>
          <p:nvPr/>
        </p:nvSpPr>
        <p:spPr>
          <a:xfrm>
            <a:off x="777240" y="2286000"/>
            <a:ext cx="5029200" cy="64008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Sentence-level sentiment from Indonesian comments &amp; reviews, hand-annotated by linguists.</a:t>
            </a:r>
            <a:endParaRPr lang="en-US" sz="1200" dirty="0"/>
          </a:p>
        </p:txBody>
      </p:sp>
      <p:sp>
        <p:nvSpPr>
          <p:cNvPr id="13" name="Text 11"/>
          <p:cNvSpPr/>
          <p:nvPr/>
        </p:nvSpPr>
        <p:spPr>
          <a:xfrm>
            <a:off x="777240" y="3108960"/>
            <a:ext cx="2011680" cy="365760"/>
          </a:xfrm>
          <a:prstGeom prst="rect">
            <a:avLst/>
          </a:prstGeom>
          <a:noFill/>
          <a:ln/>
        </p:spPr>
        <p:txBody>
          <a:bodyPr wrap="square" lIns="0" tIns="0" rIns="0" bIns="0" rtlCol="0" anchor="ctr"/>
          <a:lstStyle/>
          <a:p>
            <a:pPr marL="0" indent="0">
              <a:buNone/>
            </a:pPr>
            <a:r>
              <a:rPr lang="en-US" sz="1800" b="1" dirty="0">
                <a:solidFill>
                  <a:srgbClr val="F77F00"/>
                </a:solidFill>
                <a:latin typeface="Calibri" pitchFamily="34" charset="0"/>
                <a:ea typeface="Calibri" pitchFamily="34" charset="-122"/>
                <a:cs typeface="Calibri" pitchFamily="34" charset="-120"/>
              </a:rPr>
              <a:t>~12,760</a:t>
            </a:r>
            <a:endParaRPr lang="en-US" sz="1800" dirty="0"/>
          </a:p>
        </p:txBody>
      </p:sp>
      <p:sp>
        <p:nvSpPr>
          <p:cNvPr id="14" name="Text 12"/>
          <p:cNvSpPr/>
          <p:nvPr/>
        </p:nvSpPr>
        <p:spPr>
          <a:xfrm>
            <a:off x="2834640" y="3154680"/>
            <a:ext cx="3108960" cy="36576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labelled sentences</a:t>
            </a:r>
            <a:endParaRPr lang="en-US" sz="1200" dirty="0"/>
          </a:p>
        </p:txBody>
      </p:sp>
      <p:sp>
        <p:nvSpPr>
          <p:cNvPr id="15" name="Text 13"/>
          <p:cNvSpPr/>
          <p:nvPr/>
        </p:nvSpPr>
        <p:spPr>
          <a:xfrm>
            <a:off x="777240" y="3886200"/>
            <a:ext cx="2011680" cy="365760"/>
          </a:xfrm>
          <a:prstGeom prst="rect">
            <a:avLst/>
          </a:prstGeom>
          <a:noFill/>
          <a:ln/>
        </p:spPr>
        <p:txBody>
          <a:bodyPr wrap="square" lIns="0" tIns="0" rIns="0" bIns="0" rtlCol="0" anchor="ctr"/>
          <a:lstStyle/>
          <a:p>
            <a:pPr marL="0" indent="0">
              <a:buNone/>
            </a:pPr>
            <a:r>
              <a:rPr lang="en-US" sz="1800" b="1" dirty="0">
                <a:solidFill>
                  <a:srgbClr val="F77F00"/>
                </a:solidFill>
                <a:latin typeface="Calibri" pitchFamily="34" charset="0"/>
                <a:ea typeface="Calibri" pitchFamily="34" charset="-122"/>
                <a:cs typeface="Calibri" pitchFamily="34" charset="-120"/>
              </a:rPr>
              <a:t>3 classes</a:t>
            </a:r>
            <a:endParaRPr lang="en-US" sz="1800" dirty="0"/>
          </a:p>
        </p:txBody>
      </p:sp>
      <p:sp>
        <p:nvSpPr>
          <p:cNvPr id="16" name="Text 14"/>
          <p:cNvSpPr/>
          <p:nvPr/>
        </p:nvSpPr>
        <p:spPr>
          <a:xfrm>
            <a:off x="2834640" y="3931920"/>
            <a:ext cx="3108960" cy="36576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positive / neutral / negative</a:t>
            </a:r>
            <a:endParaRPr lang="en-US" sz="1200" dirty="0"/>
          </a:p>
        </p:txBody>
      </p:sp>
      <p:sp>
        <p:nvSpPr>
          <p:cNvPr id="17" name="Text 15"/>
          <p:cNvSpPr/>
          <p:nvPr/>
        </p:nvSpPr>
        <p:spPr>
          <a:xfrm>
            <a:off x="777240" y="4663440"/>
            <a:ext cx="2011680" cy="365760"/>
          </a:xfrm>
          <a:prstGeom prst="rect">
            <a:avLst/>
          </a:prstGeom>
          <a:noFill/>
          <a:ln/>
        </p:spPr>
        <p:txBody>
          <a:bodyPr wrap="square" lIns="0" tIns="0" rIns="0" bIns="0" rtlCol="0" anchor="ctr"/>
          <a:lstStyle/>
          <a:p>
            <a:pPr marL="0" indent="0">
              <a:buNone/>
            </a:pPr>
            <a:r>
              <a:rPr lang="en-US" sz="1800" b="1" dirty="0">
                <a:solidFill>
                  <a:srgbClr val="F77F00"/>
                </a:solidFill>
                <a:latin typeface="Calibri" pitchFamily="34" charset="0"/>
                <a:ea typeface="Calibri" pitchFamily="34" charset="-122"/>
                <a:cs typeface="Calibri" pitchFamily="34" charset="-120"/>
              </a:rPr>
              <a:t>MIT licence</a:t>
            </a:r>
            <a:endParaRPr lang="en-US" sz="1800" dirty="0"/>
          </a:p>
        </p:txBody>
      </p:sp>
      <p:sp>
        <p:nvSpPr>
          <p:cNvPr id="18" name="Text 16"/>
          <p:cNvSpPr/>
          <p:nvPr/>
        </p:nvSpPr>
        <p:spPr>
          <a:xfrm>
            <a:off x="2834640" y="4709160"/>
            <a:ext cx="3108960" cy="36576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free for teaching &amp; research</a:t>
            </a:r>
            <a:endParaRPr lang="en-US" sz="1200" dirty="0"/>
          </a:p>
        </p:txBody>
      </p:sp>
      <p:sp>
        <p:nvSpPr>
          <p:cNvPr id="19" name="Text 17"/>
          <p:cNvSpPr/>
          <p:nvPr/>
        </p:nvSpPr>
        <p:spPr>
          <a:xfrm>
            <a:off x="777240" y="5440680"/>
            <a:ext cx="2011680" cy="365760"/>
          </a:xfrm>
          <a:prstGeom prst="rect">
            <a:avLst/>
          </a:prstGeom>
          <a:noFill/>
          <a:ln/>
        </p:spPr>
        <p:txBody>
          <a:bodyPr wrap="square" lIns="0" tIns="0" rIns="0" bIns="0" rtlCol="0" anchor="ctr"/>
          <a:lstStyle/>
          <a:p>
            <a:pPr marL="0" indent="0">
              <a:buNone/>
            </a:pPr>
            <a:r>
              <a:rPr lang="en-US" sz="1800" b="1" dirty="0">
                <a:solidFill>
                  <a:srgbClr val="F77F00"/>
                </a:solidFill>
                <a:latin typeface="Calibri" pitchFamily="34" charset="0"/>
                <a:ea typeface="Calibri" pitchFamily="34" charset="-122"/>
                <a:cs typeface="Calibri" pitchFamily="34" charset="-120"/>
              </a:rPr>
              <a:t>Hugging Face</a:t>
            </a:r>
            <a:endParaRPr lang="en-US" sz="1800" dirty="0"/>
          </a:p>
        </p:txBody>
      </p:sp>
      <p:sp>
        <p:nvSpPr>
          <p:cNvPr id="20" name="Text 18"/>
          <p:cNvSpPr/>
          <p:nvPr/>
        </p:nvSpPr>
        <p:spPr>
          <a:xfrm>
            <a:off x="2834640" y="5486400"/>
            <a:ext cx="3108960" cy="36576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indonlp/indonlu  →  config 'smsa'</a:t>
            </a:r>
            <a:endParaRPr lang="en-US" sz="1200" dirty="0"/>
          </a:p>
        </p:txBody>
      </p:sp>
      <p:sp>
        <p:nvSpPr>
          <p:cNvPr id="21" name="Shape 19"/>
          <p:cNvSpPr/>
          <p:nvPr/>
        </p:nvSpPr>
        <p:spPr>
          <a:xfrm>
            <a:off x="6126480" y="1691640"/>
            <a:ext cx="5486400" cy="475488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22" name="Text 20"/>
          <p:cNvSpPr/>
          <p:nvPr/>
        </p:nvSpPr>
        <p:spPr>
          <a:xfrm>
            <a:off x="6355080" y="1828800"/>
            <a:ext cx="5029200" cy="365760"/>
          </a:xfrm>
          <a:prstGeom prst="rect">
            <a:avLst/>
          </a:prstGeom>
          <a:noFill/>
          <a:ln/>
        </p:spPr>
        <p:txBody>
          <a:bodyPr wrap="square" lIns="0" tIns="0" rIns="0" bIns="0" rtlCol="0" anchor="ctr"/>
          <a:lstStyle/>
          <a:p>
            <a:pPr marL="0" indent="0">
              <a:buNone/>
            </a:pPr>
            <a:r>
              <a:rPr lang="en-US" sz="1400" b="1" kern="0" spc="300" dirty="0">
                <a:solidFill>
                  <a:srgbClr val="00B4D8"/>
                </a:solidFill>
                <a:latin typeface="Calibri" pitchFamily="34" charset="0"/>
                <a:ea typeface="Calibri" pitchFamily="34" charset="-122"/>
                <a:cs typeface="Calibri" pitchFamily="34" charset="-120"/>
              </a:rPr>
              <a:t>Sample rows</a:t>
            </a:r>
            <a:endParaRPr lang="en-US" sz="1400" dirty="0"/>
          </a:p>
        </p:txBody>
      </p:sp>
      <p:sp>
        <p:nvSpPr>
          <p:cNvPr id="23" name="Shape 21"/>
          <p:cNvSpPr/>
          <p:nvPr/>
        </p:nvSpPr>
        <p:spPr>
          <a:xfrm>
            <a:off x="6355080" y="2331720"/>
            <a:ext cx="54864" cy="777240"/>
          </a:xfrm>
          <a:prstGeom prst="rect">
            <a:avLst/>
          </a:prstGeom>
          <a:solidFill>
            <a:srgbClr val="06A77D"/>
          </a:solidFill>
          <a:ln w="12700">
            <a:solidFill>
              <a:srgbClr val="06A77D"/>
            </a:solidFill>
            <a:prstDash val="solid"/>
          </a:ln>
        </p:spPr>
        <p:txBody>
          <a:bodyPr/>
          <a:lstStyle/>
          <a:p>
            <a:endParaRPr lang="en-GB"/>
          </a:p>
        </p:txBody>
      </p:sp>
      <p:sp>
        <p:nvSpPr>
          <p:cNvPr id="24" name="Text 22"/>
          <p:cNvSpPr/>
          <p:nvPr/>
        </p:nvSpPr>
        <p:spPr>
          <a:xfrm>
            <a:off x="6492240" y="2331720"/>
            <a:ext cx="4937760" cy="502920"/>
          </a:xfrm>
          <a:prstGeom prst="rect">
            <a:avLst/>
          </a:prstGeom>
          <a:noFill/>
          <a:ln/>
        </p:spPr>
        <p:txBody>
          <a:bodyPr wrap="square" lIns="0" tIns="0" rIns="0" bIns="0" rtlCol="0" anchor="ctr"/>
          <a:lstStyle/>
          <a:p>
            <a:pPr marL="0" indent="0">
              <a:buNone/>
            </a:pPr>
            <a:r>
              <a:rPr lang="en-US" sz="1200" i="1" dirty="0">
                <a:solidFill>
                  <a:srgbClr val="212529"/>
                </a:solidFill>
                <a:latin typeface="Calibri" pitchFamily="34" charset="0"/>
                <a:ea typeface="Calibri" pitchFamily="34" charset="-122"/>
                <a:cs typeface="Calibri" pitchFamily="34" charset="-120"/>
              </a:rPr>
              <a:t>"Pelayanan ramah dan barang sesuai pesanan, terima kasih!"</a:t>
            </a:r>
            <a:endParaRPr lang="en-US" sz="1200" dirty="0"/>
          </a:p>
        </p:txBody>
      </p:sp>
      <p:sp>
        <p:nvSpPr>
          <p:cNvPr id="25" name="Text 23"/>
          <p:cNvSpPr/>
          <p:nvPr/>
        </p:nvSpPr>
        <p:spPr>
          <a:xfrm>
            <a:off x="6492240" y="2834640"/>
            <a:ext cx="2286000" cy="274320"/>
          </a:xfrm>
          <a:prstGeom prst="rect">
            <a:avLst/>
          </a:prstGeom>
          <a:noFill/>
          <a:ln/>
        </p:spPr>
        <p:txBody>
          <a:bodyPr wrap="square" lIns="0" tIns="0" rIns="0" bIns="0" rtlCol="0" anchor="ctr"/>
          <a:lstStyle/>
          <a:p>
            <a:pPr marL="0" indent="0">
              <a:buNone/>
            </a:pPr>
            <a:r>
              <a:rPr lang="en-US" sz="1100" b="1" kern="0" spc="300" dirty="0">
                <a:solidFill>
                  <a:srgbClr val="06A77D"/>
                </a:solidFill>
                <a:latin typeface="Calibri" pitchFamily="34" charset="0"/>
                <a:ea typeface="Calibri" pitchFamily="34" charset="-122"/>
                <a:cs typeface="Calibri" pitchFamily="34" charset="-120"/>
              </a:rPr>
              <a:t>POSITIF</a:t>
            </a:r>
            <a:endParaRPr lang="en-US" sz="1100" dirty="0"/>
          </a:p>
        </p:txBody>
      </p:sp>
      <p:sp>
        <p:nvSpPr>
          <p:cNvPr id="26" name="Shape 24"/>
          <p:cNvSpPr/>
          <p:nvPr/>
        </p:nvSpPr>
        <p:spPr>
          <a:xfrm>
            <a:off x="6355080" y="3291840"/>
            <a:ext cx="54864" cy="777240"/>
          </a:xfrm>
          <a:prstGeom prst="rect">
            <a:avLst/>
          </a:prstGeom>
          <a:solidFill>
            <a:srgbClr val="D62828"/>
          </a:solidFill>
          <a:ln w="12700">
            <a:solidFill>
              <a:srgbClr val="D62828"/>
            </a:solidFill>
            <a:prstDash val="solid"/>
          </a:ln>
        </p:spPr>
        <p:txBody>
          <a:bodyPr/>
          <a:lstStyle/>
          <a:p>
            <a:endParaRPr lang="en-GB"/>
          </a:p>
        </p:txBody>
      </p:sp>
      <p:sp>
        <p:nvSpPr>
          <p:cNvPr id="27" name="Text 25"/>
          <p:cNvSpPr/>
          <p:nvPr/>
        </p:nvSpPr>
        <p:spPr>
          <a:xfrm>
            <a:off x="6492240" y="3291840"/>
            <a:ext cx="4937760" cy="502920"/>
          </a:xfrm>
          <a:prstGeom prst="rect">
            <a:avLst/>
          </a:prstGeom>
          <a:noFill/>
          <a:ln/>
        </p:spPr>
        <p:txBody>
          <a:bodyPr wrap="square" lIns="0" tIns="0" rIns="0" bIns="0" rtlCol="0" anchor="ctr"/>
          <a:lstStyle/>
          <a:p>
            <a:pPr marL="0" indent="0">
              <a:buNone/>
            </a:pPr>
            <a:r>
              <a:rPr lang="en-US" sz="1200" i="1" dirty="0">
                <a:solidFill>
                  <a:srgbClr val="212529"/>
                </a:solidFill>
                <a:latin typeface="Calibri" pitchFamily="34" charset="0"/>
                <a:ea typeface="Calibri" pitchFamily="34" charset="-122"/>
                <a:cs typeface="Calibri" pitchFamily="34" charset="-120"/>
              </a:rPr>
              <a:t>"Pengiriman lambat banget, sudah seminggu belum sampai."</a:t>
            </a:r>
            <a:endParaRPr lang="en-US" sz="1200" dirty="0"/>
          </a:p>
        </p:txBody>
      </p:sp>
      <p:sp>
        <p:nvSpPr>
          <p:cNvPr id="28" name="Text 26"/>
          <p:cNvSpPr/>
          <p:nvPr/>
        </p:nvSpPr>
        <p:spPr>
          <a:xfrm>
            <a:off x="6492240" y="3794760"/>
            <a:ext cx="2286000" cy="274320"/>
          </a:xfrm>
          <a:prstGeom prst="rect">
            <a:avLst/>
          </a:prstGeom>
          <a:noFill/>
          <a:ln/>
        </p:spPr>
        <p:txBody>
          <a:bodyPr wrap="square" lIns="0" tIns="0" rIns="0" bIns="0" rtlCol="0" anchor="ctr"/>
          <a:lstStyle/>
          <a:p>
            <a:pPr marL="0" indent="0">
              <a:buNone/>
            </a:pPr>
            <a:r>
              <a:rPr lang="en-US" sz="1100" b="1" kern="0" spc="300" dirty="0">
                <a:solidFill>
                  <a:srgbClr val="D62828"/>
                </a:solidFill>
                <a:latin typeface="Calibri" pitchFamily="34" charset="0"/>
                <a:ea typeface="Calibri" pitchFamily="34" charset="-122"/>
                <a:cs typeface="Calibri" pitchFamily="34" charset="-120"/>
              </a:rPr>
              <a:t>NEGATIF</a:t>
            </a:r>
            <a:endParaRPr lang="en-US" sz="1100" dirty="0"/>
          </a:p>
        </p:txBody>
      </p:sp>
      <p:sp>
        <p:nvSpPr>
          <p:cNvPr id="29" name="Shape 27"/>
          <p:cNvSpPr/>
          <p:nvPr/>
        </p:nvSpPr>
        <p:spPr>
          <a:xfrm>
            <a:off x="6355080" y="4251960"/>
            <a:ext cx="54864" cy="777240"/>
          </a:xfrm>
          <a:prstGeom prst="rect">
            <a:avLst/>
          </a:prstGeom>
          <a:solidFill>
            <a:srgbClr val="6C757D"/>
          </a:solidFill>
          <a:ln w="12700">
            <a:solidFill>
              <a:srgbClr val="6C757D"/>
            </a:solidFill>
            <a:prstDash val="solid"/>
          </a:ln>
        </p:spPr>
        <p:txBody>
          <a:bodyPr/>
          <a:lstStyle/>
          <a:p>
            <a:endParaRPr lang="en-GB"/>
          </a:p>
        </p:txBody>
      </p:sp>
      <p:sp>
        <p:nvSpPr>
          <p:cNvPr id="30" name="Text 28"/>
          <p:cNvSpPr/>
          <p:nvPr/>
        </p:nvSpPr>
        <p:spPr>
          <a:xfrm>
            <a:off x="6492240" y="4251960"/>
            <a:ext cx="4937760" cy="502920"/>
          </a:xfrm>
          <a:prstGeom prst="rect">
            <a:avLst/>
          </a:prstGeom>
          <a:noFill/>
          <a:ln/>
        </p:spPr>
        <p:txBody>
          <a:bodyPr wrap="square" lIns="0" tIns="0" rIns="0" bIns="0" rtlCol="0" anchor="ctr"/>
          <a:lstStyle/>
          <a:p>
            <a:pPr marL="0" indent="0">
              <a:buNone/>
            </a:pPr>
            <a:r>
              <a:rPr lang="en-US" sz="1200" i="1" dirty="0">
                <a:solidFill>
                  <a:srgbClr val="212529"/>
                </a:solidFill>
                <a:latin typeface="Calibri" pitchFamily="34" charset="0"/>
                <a:ea typeface="Calibri" pitchFamily="34" charset="-122"/>
                <a:cs typeface="Calibri" pitchFamily="34" charset="-120"/>
              </a:rPr>
              <a:t>"Barang sampai dengan baik, packaging standar."</a:t>
            </a:r>
            <a:endParaRPr lang="en-US" sz="1200" dirty="0"/>
          </a:p>
        </p:txBody>
      </p:sp>
      <p:sp>
        <p:nvSpPr>
          <p:cNvPr id="31" name="Text 29"/>
          <p:cNvSpPr/>
          <p:nvPr/>
        </p:nvSpPr>
        <p:spPr>
          <a:xfrm>
            <a:off x="6492240" y="4754880"/>
            <a:ext cx="2286000" cy="274320"/>
          </a:xfrm>
          <a:prstGeom prst="rect">
            <a:avLst/>
          </a:prstGeom>
          <a:noFill/>
          <a:ln/>
        </p:spPr>
        <p:txBody>
          <a:bodyPr wrap="square" lIns="0" tIns="0" rIns="0" bIns="0" rtlCol="0" anchor="ctr"/>
          <a:lstStyle/>
          <a:p>
            <a:pPr marL="0" indent="0">
              <a:buNone/>
            </a:pPr>
            <a:r>
              <a:rPr lang="en-US" sz="1100" b="1" kern="0" spc="300" dirty="0">
                <a:solidFill>
                  <a:srgbClr val="6C757D"/>
                </a:solidFill>
                <a:latin typeface="Calibri" pitchFamily="34" charset="0"/>
                <a:ea typeface="Calibri" pitchFamily="34" charset="-122"/>
                <a:cs typeface="Calibri" pitchFamily="34" charset="-120"/>
              </a:rPr>
              <a:t>NETRAL</a:t>
            </a:r>
            <a:endParaRPr lang="en-US" sz="1100" dirty="0"/>
          </a:p>
        </p:txBody>
      </p:sp>
      <p:sp>
        <p:nvSpPr>
          <p:cNvPr id="32" name="Shape 30"/>
          <p:cNvSpPr/>
          <p:nvPr/>
        </p:nvSpPr>
        <p:spPr>
          <a:xfrm>
            <a:off x="6355080" y="5212080"/>
            <a:ext cx="54864" cy="777240"/>
          </a:xfrm>
          <a:prstGeom prst="rect">
            <a:avLst/>
          </a:prstGeom>
          <a:solidFill>
            <a:srgbClr val="06A77D"/>
          </a:solidFill>
          <a:ln w="12700">
            <a:solidFill>
              <a:srgbClr val="06A77D"/>
            </a:solidFill>
            <a:prstDash val="solid"/>
          </a:ln>
        </p:spPr>
        <p:txBody>
          <a:bodyPr/>
          <a:lstStyle/>
          <a:p>
            <a:endParaRPr lang="en-GB"/>
          </a:p>
        </p:txBody>
      </p:sp>
      <p:sp>
        <p:nvSpPr>
          <p:cNvPr id="33" name="Text 31"/>
          <p:cNvSpPr/>
          <p:nvPr/>
        </p:nvSpPr>
        <p:spPr>
          <a:xfrm>
            <a:off x="6492240" y="5212080"/>
            <a:ext cx="4937760" cy="502920"/>
          </a:xfrm>
          <a:prstGeom prst="rect">
            <a:avLst/>
          </a:prstGeom>
          <a:noFill/>
          <a:ln/>
        </p:spPr>
        <p:txBody>
          <a:bodyPr wrap="square" lIns="0" tIns="0" rIns="0" bIns="0" rtlCol="0" anchor="ctr"/>
          <a:lstStyle/>
          <a:p>
            <a:pPr marL="0" indent="0">
              <a:buNone/>
            </a:pPr>
            <a:r>
              <a:rPr lang="en-US" sz="1200" i="1" dirty="0">
                <a:solidFill>
                  <a:srgbClr val="212529"/>
                </a:solidFill>
                <a:latin typeface="Calibri" pitchFamily="34" charset="0"/>
                <a:ea typeface="Calibri" pitchFamily="34" charset="-122"/>
                <a:cs typeface="Calibri" pitchFamily="34" charset="-120"/>
              </a:rPr>
              <a:t>"Recommended seller!! Cepat respon, harga oke."</a:t>
            </a:r>
            <a:endParaRPr lang="en-US" sz="1200" dirty="0"/>
          </a:p>
        </p:txBody>
      </p:sp>
      <p:sp>
        <p:nvSpPr>
          <p:cNvPr id="34" name="Text 32"/>
          <p:cNvSpPr/>
          <p:nvPr/>
        </p:nvSpPr>
        <p:spPr>
          <a:xfrm>
            <a:off x="6492240" y="5715000"/>
            <a:ext cx="2286000" cy="274320"/>
          </a:xfrm>
          <a:prstGeom prst="rect">
            <a:avLst/>
          </a:prstGeom>
          <a:noFill/>
          <a:ln/>
        </p:spPr>
        <p:txBody>
          <a:bodyPr wrap="square" lIns="0" tIns="0" rIns="0" bIns="0" rtlCol="0" anchor="ctr"/>
          <a:lstStyle/>
          <a:p>
            <a:pPr marL="0" indent="0">
              <a:buNone/>
            </a:pPr>
            <a:r>
              <a:rPr lang="en-US" sz="1100" b="1" kern="0" spc="300" dirty="0">
                <a:solidFill>
                  <a:srgbClr val="06A77D"/>
                </a:solidFill>
                <a:latin typeface="Calibri" pitchFamily="34" charset="0"/>
                <a:ea typeface="Calibri" pitchFamily="34" charset="-122"/>
                <a:cs typeface="Calibri" pitchFamily="34" charset="-120"/>
              </a:rPr>
              <a:t>POSITIF</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1E3A5F"/>
          </a:solidFill>
          <a:ln w="12700">
            <a:solidFill>
              <a:srgbClr val="1E3A5F"/>
            </a:solidFill>
            <a:prstDash val="solid"/>
          </a:ln>
        </p:spPr>
        <p:txBody>
          <a:bodyPr/>
          <a:lstStyle/>
          <a:p>
            <a:endParaRPr lang="en-GB"/>
          </a:p>
        </p:txBody>
      </p:sp>
      <p:sp>
        <p:nvSpPr>
          <p:cNvPr id="3" name="Shape 1"/>
          <p:cNvSpPr/>
          <p:nvPr/>
        </p:nvSpPr>
        <p:spPr>
          <a:xfrm>
            <a:off x="0" y="0"/>
            <a:ext cx="2377440" cy="164592"/>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457200" y="292608"/>
            <a:ext cx="10972800" cy="320040"/>
          </a:xfrm>
          <a:prstGeom prst="rect">
            <a:avLst/>
          </a:prstGeom>
          <a:noFill/>
          <a:ln/>
        </p:spPr>
        <p:txBody>
          <a:bodyPr wrap="square" rtlCol="0" anchor="ctr"/>
          <a:lstStyle/>
          <a:p>
            <a:pPr marL="0" indent="0">
              <a:buNone/>
            </a:pPr>
            <a:r>
              <a:rPr lang="en-US" sz="1100" b="1" kern="0" spc="400" dirty="0">
                <a:solidFill>
                  <a:srgbClr val="F77F00"/>
                </a:solidFill>
                <a:latin typeface="Calibri" pitchFamily="34" charset="0"/>
                <a:ea typeface="Calibri" pitchFamily="34" charset="-122"/>
                <a:cs typeface="Calibri" pitchFamily="34" charset="-120"/>
              </a:rPr>
              <a:t>SCIKIT-LEARN 1.8</a:t>
            </a:r>
            <a:endParaRPr lang="en-US" sz="1100" dirty="0"/>
          </a:p>
        </p:txBody>
      </p:sp>
      <p:sp>
        <p:nvSpPr>
          <p:cNvPr id="5" name="Text 3"/>
          <p:cNvSpPr/>
          <p:nvPr/>
        </p:nvSpPr>
        <p:spPr>
          <a:xfrm>
            <a:off x="457200" y="594360"/>
            <a:ext cx="11247120" cy="777240"/>
          </a:xfrm>
          <a:prstGeom prst="rect">
            <a:avLst/>
          </a:prstGeom>
          <a:noFill/>
          <a:ln/>
        </p:spPr>
        <p:txBody>
          <a:bodyPr wrap="square" lIns="0" tIns="0" rIns="0" bIns="0" rtlCol="0" anchor="ctr"/>
          <a:lstStyle/>
          <a:p>
            <a:pPr marL="0" indent="0">
              <a:buNone/>
            </a:pPr>
            <a:r>
              <a:rPr lang="en-US" sz="3000" b="1" dirty="0">
                <a:solidFill>
                  <a:srgbClr val="0F2440"/>
                </a:solidFill>
                <a:latin typeface="Calibri" pitchFamily="34" charset="0"/>
                <a:ea typeface="Calibri" pitchFamily="34" charset="-122"/>
                <a:cs typeface="Calibri" pitchFamily="34" charset="-120"/>
              </a:rPr>
              <a:t>Code · Build the pipeline in 15 lines</a:t>
            </a:r>
            <a:endParaRPr lang="en-US" sz="3000" dirty="0"/>
          </a:p>
        </p:txBody>
      </p:sp>
      <p:sp>
        <p:nvSpPr>
          <p:cNvPr id="6" name="Shape 4"/>
          <p:cNvSpPr/>
          <p:nvPr/>
        </p:nvSpPr>
        <p:spPr>
          <a:xfrm>
            <a:off x="457200" y="137160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13 / 35</a:t>
            </a:r>
            <a:endParaRPr lang="en-US" sz="900" dirty="0"/>
          </a:p>
        </p:txBody>
      </p:sp>
      <p:sp>
        <p:nvSpPr>
          <p:cNvPr id="10" name="Shape 8"/>
          <p:cNvSpPr/>
          <p:nvPr/>
        </p:nvSpPr>
        <p:spPr>
          <a:xfrm>
            <a:off x="548640" y="1691640"/>
            <a:ext cx="11064240" cy="4572000"/>
          </a:xfrm>
          <a:prstGeom prst="rect">
            <a:avLst/>
          </a:prstGeom>
          <a:solidFill>
            <a:srgbClr val="1B2330"/>
          </a:solidFill>
          <a:ln w="12700">
            <a:solidFill>
              <a:srgbClr val="1B2330"/>
            </a:solidFill>
            <a:prstDash val="solid"/>
          </a:ln>
        </p:spPr>
        <p:txBody>
          <a:bodyPr/>
          <a:lstStyle/>
          <a:p>
            <a:endParaRPr lang="en-GB"/>
          </a:p>
        </p:txBody>
      </p:sp>
      <p:sp>
        <p:nvSpPr>
          <p:cNvPr id="11" name="Text 9"/>
          <p:cNvSpPr/>
          <p:nvPr/>
        </p:nvSpPr>
        <p:spPr>
          <a:xfrm>
            <a:off x="685800" y="1783080"/>
            <a:ext cx="10789920" cy="4389120"/>
          </a:xfrm>
          <a:prstGeom prst="rect">
            <a:avLst/>
          </a:prstGeom>
          <a:noFill/>
          <a:ln/>
        </p:spPr>
        <p:txBody>
          <a:bodyPr wrap="square" lIns="0" tIns="0" rIns="0" bIns="0" rtlCol="0" anchor="t"/>
          <a:lstStyle/>
          <a:p>
            <a:pPr marL="0" indent="0">
              <a:buNone/>
            </a:pPr>
            <a:r>
              <a:rPr lang="en-US" sz="1300" dirty="0">
                <a:solidFill>
                  <a:srgbClr val="E8F0F8"/>
                </a:solidFill>
                <a:latin typeface="Consolas" pitchFamily="34" charset="0"/>
                <a:ea typeface="Consolas" pitchFamily="34" charset="-122"/>
                <a:cs typeface="Consolas" pitchFamily="34" charset="-120"/>
              </a:rPr>
              <a:t># 1. Load</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from datasets import load_dataset</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ds = load_dataset("indonlp/indonlu", "smsa")</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X_train, y_train = ds["train"]["text"], ds["train"]["label"]</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X_test,  y_test  = ds["validation"]["text"], ds["validation"]["label"]</a:t>
            </a:r>
            <a:endParaRPr lang="en-US" sz="1300" dirty="0"/>
          </a:p>
          <a:p>
            <a:pPr marL="0" indent="0">
              <a:buNone/>
            </a:pP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 2. Preprocess: stem with Sastrawi (+ lowercase + strip)</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from Sastrawi.Stemmer.StemmerFactory import StemmerFactory</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stemmer = StemmerFactory().create_stemmer()</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def clean_id(text):</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    return stemmer.stem(text.lower())</a:t>
            </a:r>
            <a:endParaRPr lang="en-US" sz="1300" dirty="0"/>
          </a:p>
          <a:p>
            <a:pPr marL="0" indent="0">
              <a:buNone/>
            </a:pP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 3. Build the Pipeline (vectorise + classify)</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from sklearn.pipeline       import Pipeline</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from sklearn.feature_extraction.text import TfidfVectorizer</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from sklearn.linear_model   import LogisticRegression</a:t>
            </a:r>
            <a:endParaRPr lang="en-US" sz="1300" dirty="0"/>
          </a:p>
          <a:p>
            <a:pPr marL="0" indent="0">
              <a:buNone/>
            </a:pP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pipe = Pipeline([</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    ("tfidf", TfidfVectorizer(preprocessor=clean_id,</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                              ngram_range=(1, 2),</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                              min_df=3, max_df=0.95)),</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    ("clf",   LogisticRegression(max_iter=1000, C=1.0,</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                                  class_weight="balanced")),</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a:t>
            </a:r>
            <a:endParaRPr lang="en-US" sz="1300" dirty="0"/>
          </a:p>
          <a:p>
            <a:pPr marL="0" indent="0">
              <a:buNone/>
            </a:pP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pipe.fit(X_train, y_train)</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print("Test accuracy:", pipe.score(X_test, y_test))</a:t>
            </a:r>
            <a:endParaRPr lang="en-US" sz="1300" dirty="0"/>
          </a:p>
        </p:txBody>
      </p:sp>
      <p:sp>
        <p:nvSpPr>
          <p:cNvPr id="12" name="Shape 10"/>
          <p:cNvSpPr/>
          <p:nvPr/>
        </p:nvSpPr>
        <p:spPr>
          <a:xfrm>
            <a:off x="548640" y="6400800"/>
            <a:ext cx="11064240" cy="411480"/>
          </a:xfrm>
          <a:prstGeom prst="rect">
            <a:avLst/>
          </a:prstGeom>
          <a:solidFill>
            <a:srgbClr val="FFE9D6"/>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3" name="Text 11"/>
          <p:cNvSpPr/>
          <p:nvPr/>
        </p:nvSpPr>
        <p:spPr>
          <a:xfrm>
            <a:off x="777240" y="6446520"/>
            <a:ext cx="10607040" cy="365760"/>
          </a:xfrm>
          <a:prstGeom prst="rect">
            <a:avLst/>
          </a:prstGeom>
          <a:noFill/>
          <a:ln/>
        </p:spPr>
        <p:txBody>
          <a:bodyPr wrap="square" lIns="0" tIns="0" rIns="0" bIns="0" rtlCol="0" anchor="ctr"/>
          <a:lstStyle/>
          <a:p>
            <a:pPr marL="0" indent="0">
              <a:buNone/>
            </a:pPr>
            <a:r>
              <a:rPr lang="en-US" sz="1200" b="1" i="1" dirty="0">
                <a:solidFill>
                  <a:srgbClr val="0F2440"/>
                </a:solidFill>
                <a:latin typeface="Calibri" pitchFamily="34" charset="0"/>
                <a:ea typeface="Calibri" pitchFamily="34" charset="-122"/>
                <a:cs typeface="Calibri" pitchFamily="34" charset="-120"/>
              </a:rPr>
              <a:t>Three primitives:  ① Pipeline    ② TfidfVectorizer    ③ LogisticRegression.   That's the whole baseline.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1E3A5F"/>
          </a:solidFill>
          <a:ln w="12700">
            <a:solidFill>
              <a:srgbClr val="1E3A5F"/>
            </a:solidFill>
            <a:prstDash val="solid"/>
          </a:ln>
        </p:spPr>
        <p:txBody>
          <a:bodyPr/>
          <a:lstStyle/>
          <a:p>
            <a:endParaRPr lang="en-GB"/>
          </a:p>
        </p:txBody>
      </p:sp>
      <p:sp>
        <p:nvSpPr>
          <p:cNvPr id="3" name="Shape 1"/>
          <p:cNvSpPr/>
          <p:nvPr/>
        </p:nvSpPr>
        <p:spPr>
          <a:xfrm>
            <a:off x="0" y="0"/>
            <a:ext cx="2377440" cy="164592"/>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457200" y="292608"/>
            <a:ext cx="10972800" cy="320040"/>
          </a:xfrm>
          <a:prstGeom prst="rect">
            <a:avLst/>
          </a:prstGeom>
          <a:noFill/>
          <a:ln/>
        </p:spPr>
        <p:txBody>
          <a:bodyPr wrap="square" rtlCol="0" anchor="ctr"/>
          <a:lstStyle/>
          <a:p>
            <a:pPr marL="0" indent="0">
              <a:buNone/>
            </a:pPr>
            <a:r>
              <a:rPr lang="en-US" sz="1100" b="1" kern="0" spc="400" dirty="0">
                <a:solidFill>
                  <a:srgbClr val="F77F00"/>
                </a:solidFill>
                <a:latin typeface="Calibri" pitchFamily="34" charset="0"/>
                <a:ea typeface="Calibri" pitchFamily="34" charset="-122"/>
                <a:cs typeface="Calibri" pitchFamily="34" charset="-120"/>
              </a:rPr>
              <a:t>WHAT DID WE JUST BUILD?</a:t>
            </a:r>
            <a:endParaRPr lang="en-US" sz="1100" dirty="0"/>
          </a:p>
        </p:txBody>
      </p:sp>
      <p:sp>
        <p:nvSpPr>
          <p:cNvPr id="5" name="Text 3"/>
          <p:cNvSpPr/>
          <p:nvPr/>
        </p:nvSpPr>
        <p:spPr>
          <a:xfrm>
            <a:off x="457200" y="594360"/>
            <a:ext cx="11247120" cy="777240"/>
          </a:xfrm>
          <a:prstGeom prst="rect">
            <a:avLst/>
          </a:prstGeom>
          <a:noFill/>
          <a:ln/>
        </p:spPr>
        <p:txBody>
          <a:bodyPr wrap="square" lIns="0" tIns="0" rIns="0" bIns="0" rtlCol="0" anchor="ctr"/>
          <a:lstStyle/>
          <a:p>
            <a:pPr marL="0" indent="0">
              <a:buNone/>
            </a:pPr>
            <a:r>
              <a:rPr lang="en-US" sz="3000" b="1" dirty="0">
                <a:solidFill>
                  <a:srgbClr val="0F2440"/>
                </a:solidFill>
                <a:latin typeface="Calibri" pitchFamily="34" charset="0"/>
                <a:ea typeface="Calibri" pitchFamily="34" charset="-122"/>
                <a:cs typeface="Calibri" pitchFamily="34" charset="-120"/>
              </a:rPr>
              <a:t>Baseline results</a:t>
            </a:r>
            <a:endParaRPr lang="en-US" sz="3000" dirty="0"/>
          </a:p>
        </p:txBody>
      </p:sp>
      <p:sp>
        <p:nvSpPr>
          <p:cNvPr id="6" name="Shape 4"/>
          <p:cNvSpPr/>
          <p:nvPr/>
        </p:nvSpPr>
        <p:spPr>
          <a:xfrm>
            <a:off x="457200" y="137160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14 / 35</a:t>
            </a:r>
            <a:endParaRPr lang="en-US" sz="900" dirty="0"/>
          </a:p>
        </p:txBody>
      </p:sp>
      <p:sp>
        <p:nvSpPr>
          <p:cNvPr id="10" name="Shape 8"/>
          <p:cNvSpPr/>
          <p:nvPr/>
        </p:nvSpPr>
        <p:spPr>
          <a:xfrm>
            <a:off x="548640" y="1691640"/>
            <a:ext cx="5029200" cy="274320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1" name="Text 9"/>
          <p:cNvSpPr/>
          <p:nvPr/>
        </p:nvSpPr>
        <p:spPr>
          <a:xfrm>
            <a:off x="777240" y="1828800"/>
            <a:ext cx="4572000" cy="365760"/>
          </a:xfrm>
          <a:prstGeom prst="rect">
            <a:avLst/>
          </a:prstGeom>
          <a:noFill/>
          <a:ln/>
        </p:spPr>
        <p:txBody>
          <a:bodyPr wrap="square" lIns="0" tIns="0" rIns="0" bIns="0" rtlCol="0" anchor="ctr"/>
          <a:lstStyle/>
          <a:p>
            <a:pPr marL="0" indent="0">
              <a:buNone/>
            </a:pPr>
            <a:r>
              <a:rPr lang="en-US" sz="1200" b="1" kern="0" spc="300" dirty="0">
                <a:solidFill>
                  <a:srgbClr val="00B4D8"/>
                </a:solidFill>
                <a:latin typeface="Calibri" pitchFamily="34" charset="0"/>
                <a:ea typeface="Calibri" pitchFamily="34" charset="-122"/>
                <a:cs typeface="Calibri" pitchFamily="34" charset="-120"/>
              </a:rPr>
              <a:t>Accuracy on validation</a:t>
            </a:r>
            <a:endParaRPr lang="en-US" sz="1200" dirty="0"/>
          </a:p>
        </p:txBody>
      </p:sp>
      <p:sp>
        <p:nvSpPr>
          <p:cNvPr id="12" name="Text 10"/>
          <p:cNvSpPr/>
          <p:nvPr/>
        </p:nvSpPr>
        <p:spPr>
          <a:xfrm>
            <a:off x="777240" y="2194560"/>
            <a:ext cx="4572000" cy="1463040"/>
          </a:xfrm>
          <a:prstGeom prst="rect">
            <a:avLst/>
          </a:prstGeom>
          <a:noFill/>
          <a:ln/>
        </p:spPr>
        <p:txBody>
          <a:bodyPr wrap="square" lIns="0" tIns="0" rIns="0" bIns="0" rtlCol="0" anchor="ctr"/>
          <a:lstStyle/>
          <a:p>
            <a:pPr marL="0" indent="0">
              <a:buNone/>
            </a:pPr>
            <a:r>
              <a:rPr lang="en-US" sz="9600" b="1" dirty="0">
                <a:solidFill>
                  <a:srgbClr val="F77F00"/>
                </a:solidFill>
                <a:latin typeface="Calibri" pitchFamily="34" charset="0"/>
                <a:ea typeface="Calibri" pitchFamily="34" charset="-122"/>
                <a:cs typeface="Calibri" pitchFamily="34" charset="-120"/>
              </a:rPr>
              <a:t>0.81</a:t>
            </a:r>
            <a:endParaRPr lang="en-US" sz="9600" dirty="0"/>
          </a:p>
        </p:txBody>
      </p:sp>
      <p:sp>
        <p:nvSpPr>
          <p:cNvPr id="13" name="Text 11"/>
          <p:cNvSpPr/>
          <p:nvPr/>
        </p:nvSpPr>
        <p:spPr>
          <a:xfrm>
            <a:off x="777240" y="3749040"/>
            <a:ext cx="4572000" cy="54864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 81% of unseen Indonesian reviews classified correctly</a:t>
            </a:r>
            <a:endParaRPr lang="en-US" sz="1200" dirty="0"/>
          </a:p>
        </p:txBody>
      </p:sp>
      <p:sp>
        <p:nvSpPr>
          <p:cNvPr id="14" name="Shape 12"/>
          <p:cNvSpPr/>
          <p:nvPr/>
        </p:nvSpPr>
        <p:spPr>
          <a:xfrm>
            <a:off x="5760720" y="1691640"/>
            <a:ext cx="5852160" cy="402336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5" name="Text 13"/>
          <p:cNvSpPr/>
          <p:nvPr/>
        </p:nvSpPr>
        <p:spPr>
          <a:xfrm>
            <a:off x="5989320" y="1828800"/>
            <a:ext cx="5486400" cy="365760"/>
          </a:xfrm>
          <a:prstGeom prst="rect">
            <a:avLst/>
          </a:prstGeom>
          <a:noFill/>
          <a:ln/>
        </p:spPr>
        <p:txBody>
          <a:bodyPr wrap="square" lIns="0" tIns="0" rIns="0" bIns="0" rtlCol="0" anchor="ctr"/>
          <a:lstStyle/>
          <a:p>
            <a:pPr marL="0" indent="0">
              <a:buNone/>
            </a:pPr>
            <a:r>
              <a:rPr lang="en-US" sz="1300" b="1" dirty="0">
                <a:solidFill>
                  <a:srgbClr val="0F2440"/>
                </a:solidFill>
                <a:latin typeface="Calibri" pitchFamily="34" charset="0"/>
                <a:ea typeface="Calibri" pitchFamily="34" charset="-122"/>
                <a:cs typeface="Calibri" pitchFamily="34" charset="-120"/>
              </a:rPr>
              <a:t>Confusion matrix (validation)</a:t>
            </a:r>
            <a:endParaRPr lang="en-US" sz="1300" dirty="0"/>
          </a:p>
        </p:txBody>
      </p:sp>
      <p:sp>
        <p:nvSpPr>
          <p:cNvPr id="16" name="Text 14"/>
          <p:cNvSpPr/>
          <p:nvPr/>
        </p:nvSpPr>
        <p:spPr>
          <a:xfrm>
            <a:off x="7178040" y="2240280"/>
            <a:ext cx="1371600" cy="320040"/>
          </a:xfrm>
          <a:prstGeom prst="rect">
            <a:avLst/>
          </a:prstGeom>
          <a:noFill/>
          <a:ln/>
        </p:spPr>
        <p:txBody>
          <a:bodyPr wrap="square" lIns="0" tIns="0" rIns="0" bIns="0" rtlCol="0" anchor="ctr"/>
          <a:lstStyle/>
          <a:p>
            <a:pPr marL="0" indent="0" algn="ctr">
              <a:buNone/>
            </a:pPr>
            <a:r>
              <a:rPr lang="en-US" sz="1000" b="1" dirty="0">
                <a:solidFill>
                  <a:srgbClr val="6C757D"/>
                </a:solidFill>
                <a:latin typeface="Calibri" pitchFamily="34" charset="0"/>
                <a:ea typeface="Calibri" pitchFamily="34" charset="-122"/>
                <a:cs typeface="Calibri" pitchFamily="34" charset="-120"/>
              </a:rPr>
              <a:t>positif</a:t>
            </a:r>
            <a:endParaRPr lang="en-US" sz="1000" dirty="0"/>
          </a:p>
        </p:txBody>
      </p:sp>
      <p:sp>
        <p:nvSpPr>
          <p:cNvPr id="17" name="Text 15"/>
          <p:cNvSpPr/>
          <p:nvPr/>
        </p:nvSpPr>
        <p:spPr>
          <a:xfrm>
            <a:off x="8549640" y="2240280"/>
            <a:ext cx="1371600" cy="320040"/>
          </a:xfrm>
          <a:prstGeom prst="rect">
            <a:avLst/>
          </a:prstGeom>
          <a:noFill/>
          <a:ln/>
        </p:spPr>
        <p:txBody>
          <a:bodyPr wrap="square" lIns="0" tIns="0" rIns="0" bIns="0" rtlCol="0" anchor="ctr"/>
          <a:lstStyle/>
          <a:p>
            <a:pPr marL="0" indent="0" algn="ctr">
              <a:buNone/>
            </a:pPr>
            <a:r>
              <a:rPr lang="en-US" sz="1000" b="1" dirty="0">
                <a:solidFill>
                  <a:srgbClr val="6C757D"/>
                </a:solidFill>
                <a:latin typeface="Calibri" pitchFamily="34" charset="0"/>
                <a:ea typeface="Calibri" pitchFamily="34" charset="-122"/>
                <a:cs typeface="Calibri" pitchFamily="34" charset="-120"/>
              </a:rPr>
              <a:t>netral</a:t>
            </a:r>
            <a:endParaRPr lang="en-US" sz="1000" dirty="0"/>
          </a:p>
        </p:txBody>
      </p:sp>
      <p:sp>
        <p:nvSpPr>
          <p:cNvPr id="18" name="Text 16"/>
          <p:cNvSpPr/>
          <p:nvPr/>
        </p:nvSpPr>
        <p:spPr>
          <a:xfrm>
            <a:off x="9921240" y="2240280"/>
            <a:ext cx="1371600" cy="320040"/>
          </a:xfrm>
          <a:prstGeom prst="rect">
            <a:avLst/>
          </a:prstGeom>
          <a:noFill/>
          <a:ln/>
        </p:spPr>
        <p:txBody>
          <a:bodyPr wrap="square" lIns="0" tIns="0" rIns="0" bIns="0" rtlCol="0" anchor="ctr"/>
          <a:lstStyle/>
          <a:p>
            <a:pPr marL="0" indent="0" algn="ctr">
              <a:buNone/>
            </a:pPr>
            <a:r>
              <a:rPr lang="en-US" sz="1000" b="1" dirty="0">
                <a:solidFill>
                  <a:srgbClr val="6C757D"/>
                </a:solidFill>
                <a:latin typeface="Calibri" pitchFamily="34" charset="0"/>
                <a:ea typeface="Calibri" pitchFamily="34" charset="-122"/>
                <a:cs typeface="Calibri" pitchFamily="34" charset="-120"/>
              </a:rPr>
              <a:t>negatif</a:t>
            </a:r>
            <a:endParaRPr lang="en-US" sz="1000" dirty="0"/>
          </a:p>
        </p:txBody>
      </p:sp>
      <p:sp>
        <p:nvSpPr>
          <p:cNvPr id="19" name="Text 17"/>
          <p:cNvSpPr/>
          <p:nvPr/>
        </p:nvSpPr>
        <p:spPr>
          <a:xfrm>
            <a:off x="7178040" y="1965960"/>
            <a:ext cx="4114800" cy="274320"/>
          </a:xfrm>
          <a:prstGeom prst="rect">
            <a:avLst/>
          </a:prstGeom>
          <a:noFill/>
          <a:ln/>
        </p:spPr>
        <p:txBody>
          <a:bodyPr wrap="square" lIns="0" tIns="0" rIns="0" bIns="0" rtlCol="0" anchor="ctr"/>
          <a:lstStyle/>
          <a:p>
            <a:pPr marL="0" indent="0" algn="ctr">
              <a:buNone/>
            </a:pPr>
            <a:r>
              <a:rPr lang="en-US" sz="900" i="1" dirty="0">
                <a:solidFill>
                  <a:srgbClr val="6C757D"/>
                </a:solidFill>
                <a:latin typeface="Calibri" pitchFamily="34" charset="0"/>
                <a:ea typeface="Calibri" pitchFamily="34" charset="-122"/>
                <a:cs typeface="Calibri" pitchFamily="34" charset="-120"/>
              </a:rPr>
              <a:t>predicted →</a:t>
            </a:r>
            <a:endParaRPr lang="en-US" sz="900" dirty="0"/>
          </a:p>
        </p:txBody>
      </p:sp>
      <p:sp>
        <p:nvSpPr>
          <p:cNvPr id="20" name="Text 18"/>
          <p:cNvSpPr/>
          <p:nvPr/>
        </p:nvSpPr>
        <p:spPr>
          <a:xfrm>
            <a:off x="5852160" y="3977640"/>
            <a:ext cx="1280160" cy="274320"/>
          </a:xfrm>
          <a:prstGeom prst="rect">
            <a:avLst/>
          </a:prstGeom>
          <a:noFill/>
          <a:ln/>
        </p:spPr>
        <p:txBody>
          <a:bodyPr wrap="square" lIns="0" tIns="0" rIns="0" bIns="0" rtlCol="0" anchor="ctr"/>
          <a:lstStyle/>
          <a:p>
            <a:pPr marL="0" indent="0">
              <a:buNone/>
            </a:pPr>
            <a:r>
              <a:rPr lang="en-US" sz="900" i="1" dirty="0">
                <a:solidFill>
                  <a:srgbClr val="6C757D"/>
                </a:solidFill>
                <a:latin typeface="Calibri" pitchFamily="34" charset="0"/>
                <a:ea typeface="Calibri" pitchFamily="34" charset="-122"/>
                <a:cs typeface="Calibri" pitchFamily="34" charset="-120"/>
              </a:rPr>
              <a:t>↓ actual</a:t>
            </a:r>
            <a:endParaRPr lang="en-US" sz="900" dirty="0"/>
          </a:p>
        </p:txBody>
      </p:sp>
      <p:sp>
        <p:nvSpPr>
          <p:cNvPr id="21" name="Text 19"/>
          <p:cNvSpPr/>
          <p:nvPr/>
        </p:nvSpPr>
        <p:spPr>
          <a:xfrm>
            <a:off x="5852160" y="2606040"/>
            <a:ext cx="1280160" cy="502920"/>
          </a:xfrm>
          <a:prstGeom prst="rect">
            <a:avLst/>
          </a:prstGeom>
          <a:noFill/>
          <a:ln/>
        </p:spPr>
        <p:txBody>
          <a:bodyPr wrap="square" lIns="0" tIns="0" rIns="0" bIns="0" rtlCol="0" anchor="ctr"/>
          <a:lstStyle/>
          <a:p>
            <a:pPr marL="0" indent="0" algn="r">
              <a:buNone/>
            </a:pPr>
            <a:r>
              <a:rPr lang="en-US" sz="1100" b="1" dirty="0">
                <a:solidFill>
                  <a:srgbClr val="0F2440"/>
                </a:solidFill>
                <a:latin typeface="Calibri" pitchFamily="34" charset="0"/>
                <a:ea typeface="Calibri" pitchFamily="34" charset="-122"/>
                <a:cs typeface="Calibri" pitchFamily="34" charset="-120"/>
              </a:rPr>
              <a:t>positif</a:t>
            </a:r>
            <a:endParaRPr lang="en-US" sz="1100" dirty="0"/>
          </a:p>
        </p:txBody>
      </p:sp>
      <p:sp>
        <p:nvSpPr>
          <p:cNvPr id="22" name="Shape 20"/>
          <p:cNvSpPr/>
          <p:nvPr/>
        </p:nvSpPr>
        <p:spPr>
          <a:xfrm>
            <a:off x="7178040" y="2606040"/>
            <a:ext cx="1325880" cy="502920"/>
          </a:xfrm>
          <a:prstGeom prst="rect">
            <a:avLst/>
          </a:prstGeom>
          <a:solidFill>
            <a:srgbClr val="06A77D"/>
          </a:solidFill>
          <a:ln w="12700">
            <a:solidFill>
              <a:srgbClr val="FFFFFF"/>
            </a:solidFill>
            <a:prstDash val="solid"/>
          </a:ln>
        </p:spPr>
        <p:txBody>
          <a:bodyPr/>
          <a:lstStyle/>
          <a:p>
            <a:endParaRPr lang="en-GB"/>
          </a:p>
        </p:txBody>
      </p:sp>
      <p:sp>
        <p:nvSpPr>
          <p:cNvPr id="23" name="Text 21"/>
          <p:cNvSpPr/>
          <p:nvPr/>
        </p:nvSpPr>
        <p:spPr>
          <a:xfrm>
            <a:off x="7178040" y="2606040"/>
            <a:ext cx="132588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728</a:t>
            </a:r>
            <a:endParaRPr lang="en-US" sz="1400" dirty="0"/>
          </a:p>
        </p:txBody>
      </p:sp>
      <p:sp>
        <p:nvSpPr>
          <p:cNvPr id="24" name="Shape 22"/>
          <p:cNvSpPr/>
          <p:nvPr/>
        </p:nvSpPr>
        <p:spPr>
          <a:xfrm>
            <a:off x="8549640" y="2606040"/>
            <a:ext cx="1325880" cy="502920"/>
          </a:xfrm>
          <a:prstGeom prst="rect">
            <a:avLst/>
          </a:prstGeom>
          <a:solidFill>
            <a:srgbClr val="E7F1FB"/>
          </a:solidFill>
          <a:ln w="12700">
            <a:solidFill>
              <a:srgbClr val="FFFFFF"/>
            </a:solidFill>
            <a:prstDash val="solid"/>
          </a:ln>
        </p:spPr>
        <p:txBody>
          <a:bodyPr/>
          <a:lstStyle/>
          <a:p>
            <a:endParaRPr lang="en-GB"/>
          </a:p>
        </p:txBody>
      </p:sp>
      <p:sp>
        <p:nvSpPr>
          <p:cNvPr id="25" name="Text 23"/>
          <p:cNvSpPr/>
          <p:nvPr/>
        </p:nvSpPr>
        <p:spPr>
          <a:xfrm>
            <a:off x="8549640" y="2606040"/>
            <a:ext cx="1325880" cy="502920"/>
          </a:xfrm>
          <a:prstGeom prst="rect">
            <a:avLst/>
          </a:prstGeom>
          <a:noFill/>
          <a:ln/>
        </p:spPr>
        <p:txBody>
          <a:bodyPr wrap="square" lIns="0" tIns="0" rIns="0" bIns="0" rtlCol="0" anchor="ctr"/>
          <a:lstStyle/>
          <a:p>
            <a:pPr marL="0" indent="0" algn="ctr">
              <a:buNone/>
            </a:pPr>
            <a:r>
              <a:rPr lang="en-US" sz="1400" b="1" dirty="0">
                <a:solidFill>
                  <a:srgbClr val="0F2440"/>
                </a:solidFill>
                <a:latin typeface="Calibri" pitchFamily="34" charset="0"/>
                <a:ea typeface="Calibri" pitchFamily="34" charset="-122"/>
                <a:cs typeface="Calibri" pitchFamily="34" charset="-120"/>
              </a:rPr>
              <a:t>38</a:t>
            </a:r>
            <a:endParaRPr lang="en-US" sz="1400" dirty="0"/>
          </a:p>
        </p:txBody>
      </p:sp>
      <p:sp>
        <p:nvSpPr>
          <p:cNvPr id="26" name="Shape 24"/>
          <p:cNvSpPr/>
          <p:nvPr/>
        </p:nvSpPr>
        <p:spPr>
          <a:xfrm>
            <a:off x="9921240" y="2606040"/>
            <a:ext cx="1325880" cy="502920"/>
          </a:xfrm>
          <a:prstGeom prst="rect">
            <a:avLst/>
          </a:prstGeom>
          <a:solidFill>
            <a:srgbClr val="E7F1FB"/>
          </a:solidFill>
          <a:ln w="12700">
            <a:solidFill>
              <a:srgbClr val="FFFFFF"/>
            </a:solidFill>
            <a:prstDash val="solid"/>
          </a:ln>
        </p:spPr>
        <p:txBody>
          <a:bodyPr/>
          <a:lstStyle/>
          <a:p>
            <a:endParaRPr lang="en-GB"/>
          </a:p>
        </p:txBody>
      </p:sp>
      <p:sp>
        <p:nvSpPr>
          <p:cNvPr id="27" name="Text 25"/>
          <p:cNvSpPr/>
          <p:nvPr/>
        </p:nvSpPr>
        <p:spPr>
          <a:xfrm>
            <a:off x="9921240" y="2606040"/>
            <a:ext cx="1325880" cy="502920"/>
          </a:xfrm>
          <a:prstGeom prst="rect">
            <a:avLst/>
          </a:prstGeom>
          <a:noFill/>
          <a:ln/>
        </p:spPr>
        <p:txBody>
          <a:bodyPr wrap="square" lIns="0" tIns="0" rIns="0" bIns="0" rtlCol="0" anchor="ctr"/>
          <a:lstStyle/>
          <a:p>
            <a:pPr marL="0" indent="0" algn="ctr">
              <a:buNone/>
            </a:pPr>
            <a:r>
              <a:rPr lang="en-US" sz="1400" b="1" dirty="0">
                <a:solidFill>
                  <a:srgbClr val="0F2440"/>
                </a:solidFill>
                <a:latin typeface="Calibri" pitchFamily="34" charset="0"/>
                <a:ea typeface="Calibri" pitchFamily="34" charset="-122"/>
                <a:cs typeface="Calibri" pitchFamily="34" charset="-120"/>
              </a:rPr>
              <a:t>22</a:t>
            </a:r>
            <a:endParaRPr lang="en-US" sz="1400" dirty="0"/>
          </a:p>
        </p:txBody>
      </p:sp>
      <p:sp>
        <p:nvSpPr>
          <p:cNvPr id="28" name="Text 26"/>
          <p:cNvSpPr/>
          <p:nvPr/>
        </p:nvSpPr>
        <p:spPr>
          <a:xfrm>
            <a:off x="5852160" y="3200400"/>
            <a:ext cx="1280160" cy="502920"/>
          </a:xfrm>
          <a:prstGeom prst="rect">
            <a:avLst/>
          </a:prstGeom>
          <a:noFill/>
          <a:ln/>
        </p:spPr>
        <p:txBody>
          <a:bodyPr wrap="square" lIns="0" tIns="0" rIns="0" bIns="0" rtlCol="0" anchor="ctr"/>
          <a:lstStyle/>
          <a:p>
            <a:pPr marL="0" indent="0" algn="r">
              <a:buNone/>
            </a:pPr>
            <a:r>
              <a:rPr lang="en-US" sz="1100" b="1" dirty="0">
                <a:solidFill>
                  <a:srgbClr val="0F2440"/>
                </a:solidFill>
                <a:latin typeface="Calibri" pitchFamily="34" charset="0"/>
                <a:ea typeface="Calibri" pitchFamily="34" charset="-122"/>
                <a:cs typeface="Calibri" pitchFamily="34" charset="-120"/>
              </a:rPr>
              <a:t>netral</a:t>
            </a:r>
            <a:endParaRPr lang="en-US" sz="1100" dirty="0"/>
          </a:p>
        </p:txBody>
      </p:sp>
      <p:sp>
        <p:nvSpPr>
          <p:cNvPr id="29" name="Shape 27"/>
          <p:cNvSpPr/>
          <p:nvPr/>
        </p:nvSpPr>
        <p:spPr>
          <a:xfrm>
            <a:off x="7178040" y="3200400"/>
            <a:ext cx="1325880" cy="502920"/>
          </a:xfrm>
          <a:prstGeom prst="rect">
            <a:avLst/>
          </a:prstGeom>
          <a:solidFill>
            <a:srgbClr val="E7F1FB"/>
          </a:solidFill>
          <a:ln w="12700">
            <a:solidFill>
              <a:srgbClr val="FFFFFF"/>
            </a:solidFill>
            <a:prstDash val="solid"/>
          </a:ln>
        </p:spPr>
        <p:txBody>
          <a:bodyPr/>
          <a:lstStyle/>
          <a:p>
            <a:endParaRPr lang="en-GB"/>
          </a:p>
        </p:txBody>
      </p:sp>
      <p:sp>
        <p:nvSpPr>
          <p:cNvPr id="30" name="Text 28"/>
          <p:cNvSpPr/>
          <p:nvPr/>
        </p:nvSpPr>
        <p:spPr>
          <a:xfrm>
            <a:off x="7178040" y="3200400"/>
            <a:ext cx="1325880" cy="502920"/>
          </a:xfrm>
          <a:prstGeom prst="rect">
            <a:avLst/>
          </a:prstGeom>
          <a:noFill/>
          <a:ln/>
        </p:spPr>
        <p:txBody>
          <a:bodyPr wrap="square" lIns="0" tIns="0" rIns="0" bIns="0" rtlCol="0" anchor="ctr"/>
          <a:lstStyle/>
          <a:p>
            <a:pPr marL="0" indent="0" algn="ctr">
              <a:buNone/>
            </a:pPr>
            <a:r>
              <a:rPr lang="en-US" sz="1400" b="1" dirty="0">
                <a:solidFill>
                  <a:srgbClr val="0F2440"/>
                </a:solidFill>
                <a:latin typeface="Calibri" pitchFamily="34" charset="0"/>
                <a:ea typeface="Calibri" pitchFamily="34" charset="-122"/>
                <a:cs typeface="Calibri" pitchFamily="34" charset="-120"/>
              </a:rPr>
              <a:t>78</a:t>
            </a:r>
            <a:endParaRPr lang="en-US" sz="1400" dirty="0"/>
          </a:p>
        </p:txBody>
      </p:sp>
      <p:sp>
        <p:nvSpPr>
          <p:cNvPr id="31" name="Shape 29"/>
          <p:cNvSpPr/>
          <p:nvPr/>
        </p:nvSpPr>
        <p:spPr>
          <a:xfrm>
            <a:off x="8549640" y="3200400"/>
            <a:ext cx="1325880" cy="502920"/>
          </a:xfrm>
          <a:prstGeom prst="rect">
            <a:avLst/>
          </a:prstGeom>
          <a:solidFill>
            <a:srgbClr val="06A77D"/>
          </a:solidFill>
          <a:ln w="12700">
            <a:solidFill>
              <a:srgbClr val="FFFFFF"/>
            </a:solidFill>
            <a:prstDash val="solid"/>
          </a:ln>
        </p:spPr>
        <p:txBody>
          <a:bodyPr/>
          <a:lstStyle/>
          <a:p>
            <a:endParaRPr lang="en-GB"/>
          </a:p>
        </p:txBody>
      </p:sp>
      <p:sp>
        <p:nvSpPr>
          <p:cNvPr id="32" name="Text 30"/>
          <p:cNvSpPr/>
          <p:nvPr/>
        </p:nvSpPr>
        <p:spPr>
          <a:xfrm>
            <a:off x="8549640" y="3200400"/>
            <a:ext cx="132588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184</a:t>
            </a:r>
            <a:endParaRPr lang="en-US" sz="1400" dirty="0"/>
          </a:p>
        </p:txBody>
      </p:sp>
      <p:sp>
        <p:nvSpPr>
          <p:cNvPr id="33" name="Shape 31"/>
          <p:cNvSpPr/>
          <p:nvPr/>
        </p:nvSpPr>
        <p:spPr>
          <a:xfrm>
            <a:off x="9921240" y="3200400"/>
            <a:ext cx="1325880" cy="502920"/>
          </a:xfrm>
          <a:prstGeom prst="rect">
            <a:avLst/>
          </a:prstGeom>
          <a:solidFill>
            <a:srgbClr val="E7F1FB"/>
          </a:solidFill>
          <a:ln w="12700">
            <a:solidFill>
              <a:srgbClr val="FFFFFF"/>
            </a:solidFill>
            <a:prstDash val="solid"/>
          </a:ln>
        </p:spPr>
        <p:txBody>
          <a:bodyPr/>
          <a:lstStyle/>
          <a:p>
            <a:endParaRPr lang="en-GB"/>
          </a:p>
        </p:txBody>
      </p:sp>
      <p:sp>
        <p:nvSpPr>
          <p:cNvPr id="34" name="Text 32"/>
          <p:cNvSpPr/>
          <p:nvPr/>
        </p:nvSpPr>
        <p:spPr>
          <a:xfrm>
            <a:off x="9921240" y="3200400"/>
            <a:ext cx="1325880" cy="502920"/>
          </a:xfrm>
          <a:prstGeom prst="rect">
            <a:avLst/>
          </a:prstGeom>
          <a:noFill/>
          <a:ln/>
        </p:spPr>
        <p:txBody>
          <a:bodyPr wrap="square" lIns="0" tIns="0" rIns="0" bIns="0" rtlCol="0" anchor="ctr"/>
          <a:lstStyle/>
          <a:p>
            <a:pPr marL="0" indent="0" algn="ctr">
              <a:buNone/>
            </a:pPr>
            <a:r>
              <a:rPr lang="en-US" sz="1400" b="1" dirty="0">
                <a:solidFill>
                  <a:srgbClr val="0F2440"/>
                </a:solidFill>
                <a:latin typeface="Calibri" pitchFamily="34" charset="0"/>
                <a:ea typeface="Calibri" pitchFamily="34" charset="-122"/>
                <a:cs typeface="Calibri" pitchFamily="34" charset="-120"/>
              </a:rPr>
              <a:t>31</a:t>
            </a:r>
            <a:endParaRPr lang="en-US" sz="1400" dirty="0"/>
          </a:p>
        </p:txBody>
      </p:sp>
      <p:sp>
        <p:nvSpPr>
          <p:cNvPr id="35" name="Text 33"/>
          <p:cNvSpPr/>
          <p:nvPr/>
        </p:nvSpPr>
        <p:spPr>
          <a:xfrm>
            <a:off x="5852160" y="3794760"/>
            <a:ext cx="1280160" cy="502920"/>
          </a:xfrm>
          <a:prstGeom prst="rect">
            <a:avLst/>
          </a:prstGeom>
          <a:noFill/>
          <a:ln/>
        </p:spPr>
        <p:txBody>
          <a:bodyPr wrap="square" lIns="0" tIns="0" rIns="0" bIns="0" rtlCol="0" anchor="ctr"/>
          <a:lstStyle/>
          <a:p>
            <a:pPr marL="0" indent="0" algn="r">
              <a:buNone/>
            </a:pPr>
            <a:r>
              <a:rPr lang="en-US" sz="1100" b="1" dirty="0">
                <a:solidFill>
                  <a:srgbClr val="0F2440"/>
                </a:solidFill>
                <a:latin typeface="Calibri" pitchFamily="34" charset="0"/>
                <a:ea typeface="Calibri" pitchFamily="34" charset="-122"/>
                <a:cs typeface="Calibri" pitchFamily="34" charset="-120"/>
              </a:rPr>
              <a:t>negatif</a:t>
            </a:r>
            <a:endParaRPr lang="en-US" sz="1100" dirty="0"/>
          </a:p>
        </p:txBody>
      </p:sp>
      <p:sp>
        <p:nvSpPr>
          <p:cNvPr id="36" name="Shape 34"/>
          <p:cNvSpPr/>
          <p:nvPr/>
        </p:nvSpPr>
        <p:spPr>
          <a:xfrm>
            <a:off x="7178040" y="3794760"/>
            <a:ext cx="1325880" cy="502920"/>
          </a:xfrm>
          <a:prstGeom prst="rect">
            <a:avLst/>
          </a:prstGeom>
          <a:solidFill>
            <a:srgbClr val="E7F1FB"/>
          </a:solidFill>
          <a:ln w="12700">
            <a:solidFill>
              <a:srgbClr val="FFFFFF"/>
            </a:solidFill>
            <a:prstDash val="solid"/>
          </a:ln>
        </p:spPr>
        <p:txBody>
          <a:bodyPr/>
          <a:lstStyle/>
          <a:p>
            <a:endParaRPr lang="en-GB"/>
          </a:p>
        </p:txBody>
      </p:sp>
      <p:sp>
        <p:nvSpPr>
          <p:cNvPr id="37" name="Text 35"/>
          <p:cNvSpPr/>
          <p:nvPr/>
        </p:nvSpPr>
        <p:spPr>
          <a:xfrm>
            <a:off x="7178040" y="3794760"/>
            <a:ext cx="1325880" cy="502920"/>
          </a:xfrm>
          <a:prstGeom prst="rect">
            <a:avLst/>
          </a:prstGeom>
          <a:noFill/>
          <a:ln/>
        </p:spPr>
        <p:txBody>
          <a:bodyPr wrap="square" lIns="0" tIns="0" rIns="0" bIns="0" rtlCol="0" anchor="ctr"/>
          <a:lstStyle/>
          <a:p>
            <a:pPr marL="0" indent="0" algn="ctr">
              <a:buNone/>
            </a:pPr>
            <a:r>
              <a:rPr lang="en-US" sz="1400" b="1" dirty="0">
                <a:solidFill>
                  <a:srgbClr val="0F2440"/>
                </a:solidFill>
                <a:latin typeface="Calibri" pitchFamily="34" charset="0"/>
                <a:ea typeface="Calibri" pitchFamily="34" charset="-122"/>
                <a:cs typeface="Calibri" pitchFamily="34" charset="-120"/>
              </a:rPr>
              <a:t>54</a:t>
            </a:r>
            <a:endParaRPr lang="en-US" sz="1400" dirty="0"/>
          </a:p>
        </p:txBody>
      </p:sp>
      <p:sp>
        <p:nvSpPr>
          <p:cNvPr id="38" name="Shape 36"/>
          <p:cNvSpPr/>
          <p:nvPr/>
        </p:nvSpPr>
        <p:spPr>
          <a:xfrm>
            <a:off x="8549640" y="3794760"/>
            <a:ext cx="1325880" cy="502920"/>
          </a:xfrm>
          <a:prstGeom prst="rect">
            <a:avLst/>
          </a:prstGeom>
          <a:solidFill>
            <a:srgbClr val="E7F1FB"/>
          </a:solidFill>
          <a:ln w="12700">
            <a:solidFill>
              <a:srgbClr val="FFFFFF"/>
            </a:solidFill>
            <a:prstDash val="solid"/>
          </a:ln>
        </p:spPr>
        <p:txBody>
          <a:bodyPr/>
          <a:lstStyle/>
          <a:p>
            <a:endParaRPr lang="en-GB"/>
          </a:p>
        </p:txBody>
      </p:sp>
      <p:sp>
        <p:nvSpPr>
          <p:cNvPr id="39" name="Text 37"/>
          <p:cNvSpPr/>
          <p:nvPr/>
        </p:nvSpPr>
        <p:spPr>
          <a:xfrm>
            <a:off x="8549640" y="3794760"/>
            <a:ext cx="1325880" cy="502920"/>
          </a:xfrm>
          <a:prstGeom prst="rect">
            <a:avLst/>
          </a:prstGeom>
          <a:noFill/>
          <a:ln/>
        </p:spPr>
        <p:txBody>
          <a:bodyPr wrap="square" lIns="0" tIns="0" rIns="0" bIns="0" rtlCol="0" anchor="ctr"/>
          <a:lstStyle/>
          <a:p>
            <a:pPr marL="0" indent="0" algn="ctr">
              <a:buNone/>
            </a:pPr>
            <a:r>
              <a:rPr lang="en-US" sz="1400" b="1" dirty="0">
                <a:solidFill>
                  <a:srgbClr val="0F2440"/>
                </a:solidFill>
                <a:latin typeface="Calibri" pitchFamily="34" charset="0"/>
                <a:ea typeface="Calibri" pitchFamily="34" charset="-122"/>
                <a:cs typeface="Calibri" pitchFamily="34" charset="-120"/>
              </a:rPr>
              <a:t>41</a:t>
            </a:r>
            <a:endParaRPr lang="en-US" sz="1400" dirty="0"/>
          </a:p>
        </p:txBody>
      </p:sp>
      <p:sp>
        <p:nvSpPr>
          <p:cNvPr id="40" name="Shape 38"/>
          <p:cNvSpPr/>
          <p:nvPr/>
        </p:nvSpPr>
        <p:spPr>
          <a:xfrm>
            <a:off x="9921240" y="3794760"/>
            <a:ext cx="1325880" cy="502920"/>
          </a:xfrm>
          <a:prstGeom prst="rect">
            <a:avLst/>
          </a:prstGeom>
          <a:solidFill>
            <a:srgbClr val="06A77D"/>
          </a:solidFill>
          <a:ln w="12700">
            <a:solidFill>
              <a:srgbClr val="FFFFFF"/>
            </a:solidFill>
            <a:prstDash val="solid"/>
          </a:ln>
        </p:spPr>
        <p:txBody>
          <a:bodyPr/>
          <a:lstStyle/>
          <a:p>
            <a:endParaRPr lang="en-GB"/>
          </a:p>
        </p:txBody>
      </p:sp>
      <p:sp>
        <p:nvSpPr>
          <p:cNvPr id="41" name="Text 39"/>
          <p:cNvSpPr/>
          <p:nvPr/>
        </p:nvSpPr>
        <p:spPr>
          <a:xfrm>
            <a:off x="9921240" y="3794760"/>
            <a:ext cx="132588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354</a:t>
            </a:r>
            <a:endParaRPr lang="en-US" sz="1400" dirty="0"/>
          </a:p>
        </p:txBody>
      </p:sp>
      <p:sp>
        <p:nvSpPr>
          <p:cNvPr id="42" name="Shape 40"/>
          <p:cNvSpPr/>
          <p:nvPr/>
        </p:nvSpPr>
        <p:spPr>
          <a:xfrm>
            <a:off x="548640" y="4572000"/>
            <a:ext cx="5029200" cy="187452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43" name="Text 41"/>
          <p:cNvSpPr/>
          <p:nvPr/>
        </p:nvSpPr>
        <p:spPr>
          <a:xfrm>
            <a:off x="777240" y="4663440"/>
            <a:ext cx="4572000" cy="320040"/>
          </a:xfrm>
          <a:prstGeom prst="rect">
            <a:avLst/>
          </a:prstGeom>
          <a:noFill/>
          <a:ln/>
        </p:spPr>
        <p:txBody>
          <a:bodyPr wrap="square" lIns="0" tIns="0" rIns="0" bIns="0" rtlCol="0" anchor="ctr"/>
          <a:lstStyle/>
          <a:p>
            <a:pPr marL="0" indent="0">
              <a:buNone/>
            </a:pPr>
            <a:r>
              <a:rPr lang="en-US" sz="1200" b="1" kern="0" spc="300" dirty="0">
                <a:solidFill>
                  <a:srgbClr val="00B4D8"/>
                </a:solidFill>
                <a:latin typeface="Calibri" pitchFamily="34" charset="0"/>
                <a:ea typeface="Calibri" pitchFamily="34" charset="-122"/>
                <a:cs typeface="Calibri" pitchFamily="34" charset="-120"/>
              </a:rPr>
              <a:t>Per-class F1 scores</a:t>
            </a:r>
            <a:endParaRPr lang="en-US" sz="1200" dirty="0"/>
          </a:p>
        </p:txBody>
      </p:sp>
      <p:sp>
        <p:nvSpPr>
          <p:cNvPr id="44" name="Text 42"/>
          <p:cNvSpPr/>
          <p:nvPr/>
        </p:nvSpPr>
        <p:spPr>
          <a:xfrm>
            <a:off x="777240" y="5074920"/>
            <a:ext cx="914400" cy="320040"/>
          </a:xfrm>
          <a:prstGeom prst="rect">
            <a:avLst/>
          </a:prstGeom>
          <a:noFill/>
          <a:ln/>
        </p:spPr>
        <p:txBody>
          <a:bodyPr wrap="square" lIns="0" tIns="0" rIns="0" bIns="0" rtlCol="0" anchor="ctr"/>
          <a:lstStyle/>
          <a:p>
            <a:pPr marL="0" indent="0">
              <a:buNone/>
            </a:pPr>
            <a:r>
              <a:rPr lang="en-US" sz="1200" b="1" dirty="0">
                <a:solidFill>
                  <a:srgbClr val="212529"/>
                </a:solidFill>
                <a:latin typeface="Calibri" pitchFamily="34" charset="0"/>
                <a:ea typeface="Calibri" pitchFamily="34" charset="-122"/>
                <a:cs typeface="Calibri" pitchFamily="34" charset="-120"/>
              </a:rPr>
              <a:t>positif</a:t>
            </a:r>
            <a:endParaRPr lang="en-US" sz="1200" dirty="0"/>
          </a:p>
        </p:txBody>
      </p:sp>
      <p:sp>
        <p:nvSpPr>
          <p:cNvPr id="45" name="Shape 43"/>
          <p:cNvSpPr/>
          <p:nvPr/>
        </p:nvSpPr>
        <p:spPr>
          <a:xfrm>
            <a:off x="1783080" y="5138928"/>
            <a:ext cx="2286000" cy="201168"/>
          </a:xfrm>
          <a:prstGeom prst="rect">
            <a:avLst/>
          </a:prstGeom>
          <a:solidFill>
            <a:srgbClr val="E5E9F0"/>
          </a:solidFill>
          <a:ln w="12700">
            <a:solidFill>
              <a:srgbClr val="E5E9F0"/>
            </a:solidFill>
            <a:prstDash val="solid"/>
          </a:ln>
        </p:spPr>
        <p:txBody>
          <a:bodyPr/>
          <a:lstStyle/>
          <a:p>
            <a:endParaRPr lang="en-GB"/>
          </a:p>
        </p:txBody>
      </p:sp>
      <p:sp>
        <p:nvSpPr>
          <p:cNvPr id="46" name="Shape 44"/>
          <p:cNvSpPr/>
          <p:nvPr/>
        </p:nvSpPr>
        <p:spPr>
          <a:xfrm>
            <a:off x="1783080" y="5138928"/>
            <a:ext cx="1965960" cy="201168"/>
          </a:xfrm>
          <a:prstGeom prst="rect">
            <a:avLst/>
          </a:prstGeom>
          <a:solidFill>
            <a:srgbClr val="06A77D"/>
          </a:solidFill>
          <a:ln w="12700">
            <a:solidFill>
              <a:srgbClr val="06A77D"/>
            </a:solidFill>
            <a:prstDash val="solid"/>
          </a:ln>
        </p:spPr>
        <p:txBody>
          <a:bodyPr/>
          <a:lstStyle/>
          <a:p>
            <a:endParaRPr lang="en-GB"/>
          </a:p>
        </p:txBody>
      </p:sp>
      <p:sp>
        <p:nvSpPr>
          <p:cNvPr id="47" name="Text 45"/>
          <p:cNvSpPr/>
          <p:nvPr/>
        </p:nvSpPr>
        <p:spPr>
          <a:xfrm>
            <a:off x="4160520" y="5074920"/>
            <a:ext cx="914400" cy="320040"/>
          </a:xfrm>
          <a:prstGeom prst="rect">
            <a:avLst/>
          </a:prstGeom>
          <a:noFill/>
          <a:ln/>
        </p:spPr>
        <p:txBody>
          <a:bodyPr wrap="square" lIns="0" tIns="0" rIns="0" bIns="0" rtlCol="0" anchor="ctr"/>
          <a:lstStyle/>
          <a:p>
            <a:pPr marL="0" indent="0">
              <a:buNone/>
            </a:pPr>
            <a:r>
              <a:rPr lang="en-US" sz="1200" b="1" dirty="0">
                <a:solidFill>
                  <a:srgbClr val="0F2440"/>
                </a:solidFill>
                <a:latin typeface="Calibri" pitchFamily="34" charset="0"/>
                <a:ea typeface="Calibri" pitchFamily="34" charset="-122"/>
                <a:cs typeface="Calibri" pitchFamily="34" charset="-120"/>
              </a:rPr>
              <a:t>0.86</a:t>
            </a:r>
            <a:endParaRPr lang="en-US" sz="1200" dirty="0"/>
          </a:p>
        </p:txBody>
      </p:sp>
      <p:sp>
        <p:nvSpPr>
          <p:cNvPr id="48" name="Text 46"/>
          <p:cNvSpPr/>
          <p:nvPr/>
        </p:nvSpPr>
        <p:spPr>
          <a:xfrm>
            <a:off x="777240" y="5486400"/>
            <a:ext cx="914400" cy="320040"/>
          </a:xfrm>
          <a:prstGeom prst="rect">
            <a:avLst/>
          </a:prstGeom>
          <a:noFill/>
          <a:ln/>
        </p:spPr>
        <p:txBody>
          <a:bodyPr wrap="square" lIns="0" tIns="0" rIns="0" bIns="0" rtlCol="0" anchor="ctr"/>
          <a:lstStyle/>
          <a:p>
            <a:pPr marL="0" indent="0">
              <a:buNone/>
            </a:pPr>
            <a:r>
              <a:rPr lang="en-US" sz="1200" b="1" dirty="0">
                <a:solidFill>
                  <a:srgbClr val="212529"/>
                </a:solidFill>
                <a:latin typeface="Calibri" pitchFamily="34" charset="0"/>
                <a:ea typeface="Calibri" pitchFamily="34" charset="-122"/>
                <a:cs typeface="Calibri" pitchFamily="34" charset="-120"/>
              </a:rPr>
              <a:t>netral</a:t>
            </a:r>
            <a:endParaRPr lang="en-US" sz="1200" dirty="0"/>
          </a:p>
        </p:txBody>
      </p:sp>
      <p:sp>
        <p:nvSpPr>
          <p:cNvPr id="49" name="Shape 47"/>
          <p:cNvSpPr/>
          <p:nvPr/>
        </p:nvSpPr>
        <p:spPr>
          <a:xfrm>
            <a:off x="1783080" y="5550408"/>
            <a:ext cx="2286000" cy="201168"/>
          </a:xfrm>
          <a:prstGeom prst="rect">
            <a:avLst/>
          </a:prstGeom>
          <a:solidFill>
            <a:srgbClr val="E5E9F0"/>
          </a:solidFill>
          <a:ln w="12700">
            <a:solidFill>
              <a:srgbClr val="E5E9F0"/>
            </a:solidFill>
            <a:prstDash val="solid"/>
          </a:ln>
        </p:spPr>
        <p:txBody>
          <a:bodyPr/>
          <a:lstStyle/>
          <a:p>
            <a:endParaRPr lang="en-GB"/>
          </a:p>
        </p:txBody>
      </p:sp>
      <p:sp>
        <p:nvSpPr>
          <p:cNvPr id="50" name="Shape 48"/>
          <p:cNvSpPr/>
          <p:nvPr/>
        </p:nvSpPr>
        <p:spPr>
          <a:xfrm>
            <a:off x="1783080" y="5550408"/>
            <a:ext cx="1417320" cy="201168"/>
          </a:xfrm>
          <a:prstGeom prst="rect">
            <a:avLst/>
          </a:prstGeom>
          <a:solidFill>
            <a:srgbClr val="F77F00"/>
          </a:solidFill>
          <a:ln w="12700">
            <a:solidFill>
              <a:srgbClr val="F77F00"/>
            </a:solidFill>
            <a:prstDash val="solid"/>
          </a:ln>
        </p:spPr>
        <p:txBody>
          <a:bodyPr/>
          <a:lstStyle/>
          <a:p>
            <a:endParaRPr lang="en-GB"/>
          </a:p>
        </p:txBody>
      </p:sp>
      <p:sp>
        <p:nvSpPr>
          <p:cNvPr id="51" name="Text 49"/>
          <p:cNvSpPr/>
          <p:nvPr/>
        </p:nvSpPr>
        <p:spPr>
          <a:xfrm>
            <a:off x="4160520" y="5486400"/>
            <a:ext cx="914400" cy="320040"/>
          </a:xfrm>
          <a:prstGeom prst="rect">
            <a:avLst/>
          </a:prstGeom>
          <a:noFill/>
          <a:ln/>
        </p:spPr>
        <p:txBody>
          <a:bodyPr wrap="square" lIns="0" tIns="0" rIns="0" bIns="0" rtlCol="0" anchor="ctr"/>
          <a:lstStyle/>
          <a:p>
            <a:pPr marL="0" indent="0">
              <a:buNone/>
            </a:pPr>
            <a:r>
              <a:rPr lang="en-US" sz="1200" b="1" dirty="0">
                <a:solidFill>
                  <a:srgbClr val="0F2440"/>
                </a:solidFill>
                <a:latin typeface="Calibri" pitchFamily="34" charset="0"/>
                <a:ea typeface="Calibri" pitchFamily="34" charset="-122"/>
                <a:cs typeface="Calibri" pitchFamily="34" charset="-120"/>
              </a:rPr>
              <a:t>0.62</a:t>
            </a:r>
            <a:endParaRPr lang="en-US" sz="1200" dirty="0"/>
          </a:p>
        </p:txBody>
      </p:sp>
      <p:sp>
        <p:nvSpPr>
          <p:cNvPr id="52" name="Text 50"/>
          <p:cNvSpPr/>
          <p:nvPr/>
        </p:nvSpPr>
        <p:spPr>
          <a:xfrm>
            <a:off x="777240" y="5897880"/>
            <a:ext cx="914400" cy="320040"/>
          </a:xfrm>
          <a:prstGeom prst="rect">
            <a:avLst/>
          </a:prstGeom>
          <a:noFill/>
          <a:ln/>
        </p:spPr>
        <p:txBody>
          <a:bodyPr wrap="square" lIns="0" tIns="0" rIns="0" bIns="0" rtlCol="0" anchor="ctr"/>
          <a:lstStyle/>
          <a:p>
            <a:pPr marL="0" indent="0">
              <a:buNone/>
            </a:pPr>
            <a:r>
              <a:rPr lang="en-US" sz="1200" b="1" dirty="0">
                <a:solidFill>
                  <a:srgbClr val="212529"/>
                </a:solidFill>
                <a:latin typeface="Calibri" pitchFamily="34" charset="0"/>
                <a:ea typeface="Calibri" pitchFamily="34" charset="-122"/>
                <a:cs typeface="Calibri" pitchFamily="34" charset="-120"/>
              </a:rPr>
              <a:t>negatif</a:t>
            </a:r>
            <a:endParaRPr lang="en-US" sz="1200" dirty="0"/>
          </a:p>
        </p:txBody>
      </p:sp>
      <p:sp>
        <p:nvSpPr>
          <p:cNvPr id="53" name="Shape 51"/>
          <p:cNvSpPr/>
          <p:nvPr/>
        </p:nvSpPr>
        <p:spPr>
          <a:xfrm>
            <a:off x="1783080" y="5961888"/>
            <a:ext cx="2286000" cy="201168"/>
          </a:xfrm>
          <a:prstGeom prst="rect">
            <a:avLst/>
          </a:prstGeom>
          <a:solidFill>
            <a:srgbClr val="E5E9F0"/>
          </a:solidFill>
          <a:ln w="12700">
            <a:solidFill>
              <a:srgbClr val="E5E9F0"/>
            </a:solidFill>
            <a:prstDash val="solid"/>
          </a:ln>
        </p:spPr>
        <p:txBody>
          <a:bodyPr/>
          <a:lstStyle/>
          <a:p>
            <a:endParaRPr lang="en-GB"/>
          </a:p>
        </p:txBody>
      </p:sp>
      <p:sp>
        <p:nvSpPr>
          <p:cNvPr id="54" name="Shape 52"/>
          <p:cNvSpPr/>
          <p:nvPr/>
        </p:nvSpPr>
        <p:spPr>
          <a:xfrm>
            <a:off x="1783080" y="5961888"/>
            <a:ext cx="1805940" cy="201168"/>
          </a:xfrm>
          <a:prstGeom prst="rect">
            <a:avLst/>
          </a:prstGeom>
          <a:solidFill>
            <a:srgbClr val="D62828"/>
          </a:solidFill>
          <a:ln w="12700">
            <a:solidFill>
              <a:srgbClr val="D62828"/>
            </a:solidFill>
            <a:prstDash val="solid"/>
          </a:ln>
        </p:spPr>
        <p:txBody>
          <a:bodyPr/>
          <a:lstStyle/>
          <a:p>
            <a:endParaRPr lang="en-GB"/>
          </a:p>
        </p:txBody>
      </p:sp>
      <p:sp>
        <p:nvSpPr>
          <p:cNvPr id="55" name="Text 53"/>
          <p:cNvSpPr/>
          <p:nvPr/>
        </p:nvSpPr>
        <p:spPr>
          <a:xfrm>
            <a:off x="4160520" y="5897880"/>
            <a:ext cx="914400" cy="320040"/>
          </a:xfrm>
          <a:prstGeom prst="rect">
            <a:avLst/>
          </a:prstGeom>
          <a:noFill/>
          <a:ln/>
        </p:spPr>
        <p:txBody>
          <a:bodyPr wrap="square" lIns="0" tIns="0" rIns="0" bIns="0" rtlCol="0" anchor="ctr"/>
          <a:lstStyle/>
          <a:p>
            <a:pPr marL="0" indent="0">
              <a:buNone/>
            </a:pPr>
            <a:r>
              <a:rPr lang="en-US" sz="1200" b="1" dirty="0">
                <a:solidFill>
                  <a:srgbClr val="0F2440"/>
                </a:solidFill>
                <a:latin typeface="Calibri" pitchFamily="34" charset="0"/>
                <a:ea typeface="Calibri" pitchFamily="34" charset="-122"/>
                <a:cs typeface="Calibri" pitchFamily="34" charset="-120"/>
              </a:rPr>
              <a:t>0.79</a:t>
            </a:r>
            <a:endParaRPr lang="en-US" sz="1200" dirty="0"/>
          </a:p>
        </p:txBody>
      </p:sp>
      <p:sp>
        <p:nvSpPr>
          <p:cNvPr id="56" name="Text 54"/>
          <p:cNvSpPr/>
          <p:nvPr/>
        </p:nvSpPr>
        <p:spPr>
          <a:xfrm>
            <a:off x="5760720" y="5852160"/>
            <a:ext cx="5852160" cy="548640"/>
          </a:xfrm>
          <a:prstGeom prst="rect">
            <a:avLst/>
          </a:prstGeom>
          <a:noFill/>
          <a:ln/>
        </p:spPr>
        <p:txBody>
          <a:bodyPr wrap="square" lIns="0" tIns="0" rIns="0" bIns="0" rtlCol="0" anchor="ctr"/>
          <a:lstStyle/>
          <a:p>
            <a:pPr marL="0" indent="0">
              <a:buNone/>
            </a:pPr>
            <a:r>
              <a:rPr lang="en-US" sz="1200" i="1" dirty="0">
                <a:solidFill>
                  <a:srgbClr val="6C757D"/>
                </a:solidFill>
                <a:latin typeface="Calibri" pitchFamily="34" charset="0"/>
                <a:ea typeface="Calibri" pitchFamily="34" charset="-122"/>
                <a:cs typeface="Calibri" pitchFamily="34" charset="-120"/>
              </a:rPr>
              <a:t>Notice: 'netral' is the hardest class — the model confuses it with 'positif'. We'll see why in feature importance.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548640" y="1280160"/>
            <a:ext cx="3657600" cy="3200400"/>
          </a:xfrm>
          <a:prstGeom prst="rect">
            <a:avLst/>
          </a:prstGeom>
          <a:noFill/>
          <a:ln/>
        </p:spPr>
        <p:txBody>
          <a:bodyPr wrap="square" rtlCol="0" anchor="t"/>
          <a:lstStyle/>
          <a:p>
            <a:pPr marL="0" indent="0">
              <a:buNone/>
            </a:pPr>
            <a:r>
              <a:rPr lang="en-US" sz="24000" b="1" dirty="0">
                <a:solidFill>
                  <a:srgbClr val="F77F00"/>
                </a:solidFill>
                <a:latin typeface="Calibri" pitchFamily="34" charset="0"/>
                <a:ea typeface="Calibri" pitchFamily="34" charset="-122"/>
                <a:cs typeface="Calibri" pitchFamily="34" charset="-120"/>
              </a:rPr>
              <a:t>02</a:t>
            </a:r>
            <a:endParaRPr lang="en-US" sz="24000" dirty="0"/>
          </a:p>
        </p:txBody>
      </p:sp>
      <p:sp>
        <p:nvSpPr>
          <p:cNvPr id="3" name="Shape 1"/>
          <p:cNvSpPr/>
          <p:nvPr/>
        </p:nvSpPr>
        <p:spPr>
          <a:xfrm>
            <a:off x="4754880" y="2377440"/>
            <a:ext cx="54864" cy="1828800"/>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5029200" y="2286000"/>
            <a:ext cx="5486400" cy="365760"/>
          </a:xfrm>
          <a:prstGeom prst="rect">
            <a:avLst/>
          </a:prstGeom>
          <a:noFill/>
          <a:ln/>
        </p:spPr>
        <p:txBody>
          <a:bodyPr wrap="square" rtlCol="0" anchor="ctr"/>
          <a:lstStyle/>
          <a:p>
            <a:pPr marL="0" indent="0">
              <a:buNone/>
            </a:pPr>
            <a:r>
              <a:rPr lang="en-US" sz="1400" b="1" kern="0" spc="600" dirty="0">
                <a:solidFill>
                  <a:srgbClr val="00B4D8"/>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5029200" y="2606040"/>
            <a:ext cx="6858000" cy="11887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Cross-Validation</a:t>
            </a:r>
            <a:endParaRPr lang="en-US" sz="3800" dirty="0"/>
          </a:p>
        </p:txBody>
      </p:sp>
      <p:sp>
        <p:nvSpPr>
          <p:cNvPr id="6" name="Text 4"/>
          <p:cNvSpPr/>
          <p:nvPr/>
        </p:nvSpPr>
        <p:spPr>
          <a:xfrm>
            <a:off x="5029200" y="3749040"/>
            <a:ext cx="6675120" cy="822960"/>
          </a:xfrm>
          <a:prstGeom prst="rect">
            <a:avLst/>
          </a:prstGeom>
          <a:noFill/>
          <a:ln/>
        </p:spPr>
        <p:txBody>
          <a:bodyPr wrap="square" lIns="0" tIns="0" rIns="0" bIns="0" rtlCol="0" anchor="ctr"/>
          <a:lstStyle/>
          <a:p>
            <a:pPr marL="0" indent="0">
              <a:buNone/>
            </a:pPr>
            <a:r>
              <a:rPr lang="en-US" sz="1600" dirty="0">
                <a:solidFill>
                  <a:srgbClr val="CFE5F8"/>
                </a:solidFill>
                <a:latin typeface="Calibri" pitchFamily="34" charset="0"/>
                <a:ea typeface="Calibri" pitchFamily="34" charset="-122"/>
                <a:cs typeface="Calibri" pitchFamily="34" charset="-120"/>
              </a:rPr>
              <a:t>Why 81% on a single split is a number you should not trust</a:t>
            </a:r>
            <a:endParaRPr lang="en-US" sz="1600" dirty="0"/>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15 / 35</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1E3A5F"/>
          </a:solidFill>
          <a:ln w="12700">
            <a:solidFill>
              <a:srgbClr val="1E3A5F"/>
            </a:solidFill>
            <a:prstDash val="solid"/>
          </a:ln>
        </p:spPr>
        <p:txBody>
          <a:bodyPr/>
          <a:lstStyle/>
          <a:p>
            <a:endParaRPr lang="en-GB"/>
          </a:p>
        </p:txBody>
      </p:sp>
      <p:sp>
        <p:nvSpPr>
          <p:cNvPr id="3" name="Shape 1"/>
          <p:cNvSpPr/>
          <p:nvPr/>
        </p:nvSpPr>
        <p:spPr>
          <a:xfrm>
            <a:off x="0" y="0"/>
            <a:ext cx="2377440" cy="164592"/>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457200" y="292608"/>
            <a:ext cx="10972800" cy="320040"/>
          </a:xfrm>
          <a:prstGeom prst="rect">
            <a:avLst/>
          </a:prstGeom>
          <a:noFill/>
          <a:ln/>
        </p:spPr>
        <p:txBody>
          <a:bodyPr wrap="square" rtlCol="0" anchor="ctr"/>
          <a:lstStyle/>
          <a:p>
            <a:pPr marL="0" indent="0">
              <a:buNone/>
            </a:pPr>
            <a:r>
              <a:rPr lang="en-US" sz="1100" b="1" kern="0" spc="400" dirty="0">
                <a:solidFill>
                  <a:srgbClr val="F77F00"/>
                </a:solidFill>
                <a:latin typeface="Calibri" pitchFamily="34" charset="0"/>
                <a:ea typeface="Calibri" pitchFamily="34" charset="-122"/>
                <a:cs typeface="Calibri" pitchFamily="34" charset="-120"/>
              </a:rPr>
              <a:t>VARIANCE YOU CAN'T SEE</a:t>
            </a:r>
            <a:endParaRPr lang="en-US" sz="1100" dirty="0"/>
          </a:p>
        </p:txBody>
      </p:sp>
      <p:sp>
        <p:nvSpPr>
          <p:cNvPr id="5" name="Text 3"/>
          <p:cNvSpPr/>
          <p:nvPr/>
        </p:nvSpPr>
        <p:spPr>
          <a:xfrm>
            <a:off x="457200" y="594360"/>
            <a:ext cx="11247120" cy="777240"/>
          </a:xfrm>
          <a:prstGeom prst="rect">
            <a:avLst/>
          </a:prstGeom>
          <a:noFill/>
          <a:ln/>
        </p:spPr>
        <p:txBody>
          <a:bodyPr wrap="square" lIns="0" tIns="0" rIns="0" bIns="0" rtlCol="0" anchor="ctr"/>
          <a:lstStyle/>
          <a:p>
            <a:pPr marL="0" indent="0">
              <a:buNone/>
            </a:pPr>
            <a:r>
              <a:rPr lang="en-US" sz="3000" b="1" dirty="0">
                <a:solidFill>
                  <a:srgbClr val="0F2440"/>
                </a:solidFill>
                <a:latin typeface="Calibri" pitchFamily="34" charset="0"/>
                <a:ea typeface="Calibri" pitchFamily="34" charset="-122"/>
                <a:cs typeface="Calibri" pitchFamily="34" charset="-120"/>
              </a:rPr>
              <a:t>Why one test split lies</a:t>
            </a:r>
            <a:endParaRPr lang="en-US" sz="3000" dirty="0"/>
          </a:p>
        </p:txBody>
      </p:sp>
      <p:sp>
        <p:nvSpPr>
          <p:cNvPr id="6" name="Shape 4"/>
          <p:cNvSpPr/>
          <p:nvPr/>
        </p:nvSpPr>
        <p:spPr>
          <a:xfrm>
            <a:off x="457200" y="137160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16 / 35</a:t>
            </a:r>
            <a:endParaRPr lang="en-US" sz="900" dirty="0"/>
          </a:p>
        </p:txBody>
      </p:sp>
      <p:sp>
        <p:nvSpPr>
          <p:cNvPr id="10" name="Shape 8"/>
          <p:cNvSpPr/>
          <p:nvPr/>
        </p:nvSpPr>
        <p:spPr>
          <a:xfrm>
            <a:off x="548640" y="1691640"/>
            <a:ext cx="11064240" cy="1463040"/>
          </a:xfrm>
          <a:prstGeom prst="rect">
            <a:avLst/>
          </a:prstGeom>
          <a:solidFill>
            <a:srgbClr val="FFE9D6"/>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1" name="Text 9"/>
          <p:cNvSpPr/>
          <p:nvPr/>
        </p:nvSpPr>
        <p:spPr>
          <a:xfrm>
            <a:off x="777240" y="1828800"/>
            <a:ext cx="10607040" cy="365760"/>
          </a:xfrm>
          <a:prstGeom prst="rect">
            <a:avLst/>
          </a:prstGeom>
          <a:noFill/>
          <a:ln/>
        </p:spPr>
        <p:txBody>
          <a:bodyPr wrap="square" lIns="0" tIns="0" rIns="0" bIns="0" rtlCol="0" anchor="ctr"/>
          <a:lstStyle/>
          <a:p>
            <a:pPr marL="0" indent="0">
              <a:buNone/>
            </a:pPr>
            <a:r>
              <a:rPr lang="en-US" sz="1400" b="1" dirty="0">
                <a:solidFill>
                  <a:srgbClr val="0F2440"/>
                </a:solidFill>
                <a:latin typeface="Calibri" pitchFamily="34" charset="0"/>
                <a:ea typeface="Calibri" pitchFamily="34" charset="-122"/>
                <a:cs typeface="Calibri" pitchFamily="34" charset="-120"/>
              </a:rPr>
              <a:t>If you ran the same code 5 times with 5 different random_state values…</a:t>
            </a:r>
            <a:endParaRPr lang="en-US" sz="1400" dirty="0"/>
          </a:p>
        </p:txBody>
      </p:sp>
      <p:sp>
        <p:nvSpPr>
          <p:cNvPr id="12" name="Shape 10"/>
          <p:cNvSpPr/>
          <p:nvPr/>
        </p:nvSpPr>
        <p:spPr>
          <a:xfrm>
            <a:off x="914400" y="2622499"/>
            <a:ext cx="1371600" cy="440741"/>
          </a:xfrm>
          <a:prstGeom prst="rect">
            <a:avLst/>
          </a:prstGeom>
          <a:solidFill>
            <a:srgbClr val="F77F00"/>
          </a:solidFill>
          <a:ln w="12700">
            <a:solidFill>
              <a:srgbClr val="F77F00"/>
            </a:solidFill>
            <a:prstDash val="solid"/>
          </a:ln>
        </p:spPr>
        <p:txBody>
          <a:bodyPr/>
          <a:lstStyle/>
          <a:p>
            <a:endParaRPr lang="en-GB"/>
          </a:p>
        </p:txBody>
      </p:sp>
      <p:sp>
        <p:nvSpPr>
          <p:cNvPr id="13" name="Text 11"/>
          <p:cNvSpPr/>
          <p:nvPr/>
        </p:nvSpPr>
        <p:spPr>
          <a:xfrm>
            <a:off x="914400" y="2286000"/>
            <a:ext cx="1371600" cy="274320"/>
          </a:xfrm>
          <a:prstGeom prst="rect">
            <a:avLst/>
          </a:prstGeom>
          <a:noFill/>
          <a:ln/>
        </p:spPr>
        <p:txBody>
          <a:bodyPr wrap="square" lIns="0" tIns="0" rIns="0" bIns="0" rtlCol="0" anchor="ctr"/>
          <a:lstStyle/>
          <a:p>
            <a:pPr marL="0" indent="0" algn="ctr">
              <a:buNone/>
            </a:pPr>
            <a:r>
              <a:rPr lang="en-US" sz="1100" b="1" dirty="0">
                <a:solidFill>
                  <a:srgbClr val="0F2440"/>
                </a:solidFill>
                <a:latin typeface="Calibri" pitchFamily="34" charset="0"/>
                <a:ea typeface="Calibri" pitchFamily="34" charset="-122"/>
                <a:cs typeface="Calibri" pitchFamily="34" charset="-120"/>
              </a:rPr>
              <a:t>0.804</a:t>
            </a:r>
            <a:endParaRPr lang="en-US" sz="1100" dirty="0"/>
          </a:p>
        </p:txBody>
      </p:sp>
      <p:sp>
        <p:nvSpPr>
          <p:cNvPr id="14" name="Text 12"/>
          <p:cNvSpPr/>
          <p:nvPr/>
        </p:nvSpPr>
        <p:spPr>
          <a:xfrm>
            <a:off x="914400" y="2788920"/>
            <a:ext cx="1371600" cy="274320"/>
          </a:xfrm>
          <a:prstGeom prst="rect">
            <a:avLst/>
          </a:prstGeom>
          <a:noFill/>
          <a:ln/>
        </p:spPr>
        <p:txBody>
          <a:bodyPr wrap="square" lIns="0" tIns="0" rIns="0" bIns="0" rtlCol="0" anchor="ctr"/>
          <a:lstStyle/>
          <a:p>
            <a:pPr marL="0" indent="0" algn="ctr">
              <a:buNone/>
            </a:pPr>
            <a:r>
              <a:rPr lang="en-US" sz="900" dirty="0">
                <a:solidFill>
                  <a:srgbClr val="6C757D"/>
                </a:solidFill>
                <a:latin typeface="Calibri" pitchFamily="34" charset="0"/>
                <a:ea typeface="Calibri" pitchFamily="34" charset="-122"/>
                <a:cs typeface="Calibri" pitchFamily="34" charset="-120"/>
              </a:rPr>
              <a:t>seed 1</a:t>
            </a:r>
            <a:endParaRPr lang="en-US" sz="900" dirty="0"/>
          </a:p>
        </p:txBody>
      </p:sp>
      <p:sp>
        <p:nvSpPr>
          <p:cNvPr id="15" name="Shape 13"/>
          <p:cNvSpPr/>
          <p:nvPr/>
        </p:nvSpPr>
        <p:spPr>
          <a:xfrm>
            <a:off x="2926080" y="2498141"/>
            <a:ext cx="1371600" cy="565099"/>
          </a:xfrm>
          <a:prstGeom prst="rect">
            <a:avLst/>
          </a:prstGeom>
          <a:solidFill>
            <a:srgbClr val="F77F00"/>
          </a:solidFill>
          <a:ln w="12700">
            <a:solidFill>
              <a:srgbClr val="F77F00"/>
            </a:solidFill>
            <a:prstDash val="solid"/>
          </a:ln>
        </p:spPr>
        <p:txBody>
          <a:bodyPr/>
          <a:lstStyle/>
          <a:p>
            <a:endParaRPr lang="en-GB"/>
          </a:p>
        </p:txBody>
      </p:sp>
      <p:sp>
        <p:nvSpPr>
          <p:cNvPr id="16" name="Text 14"/>
          <p:cNvSpPr/>
          <p:nvPr/>
        </p:nvSpPr>
        <p:spPr>
          <a:xfrm>
            <a:off x="2926080" y="2286000"/>
            <a:ext cx="1371600" cy="274320"/>
          </a:xfrm>
          <a:prstGeom prst="rect">
            <a:avLst/>
          </a:prstGeom>
          <a:noFill/>
          <a:ln/>
        </p:spPr>
        <p:txBody>
          <a:bodyPr wrap="square" lIns="0" tIns="0" rIns="0" bIns="0" rtlCol="0" anchor="ctr"/>
          <a:lstStyle/>
          <a:p>
            <a:pPr marL="0" indent="0" algn="ctr">
              <a:buNone/>
            </a:pPr>
            <a:r>
              <a:rPr lang="en-US" sz="1100" b="1" dirty="0">
                <a:solidFill>
                  <a:srgbClr val="0F2440"/>
                </a:solidFill>
                <a:latin typeface="Calibri" pitchFamily="34" charset="0"/>
                <a:ea typeface="Calibri" pitchFamily="34" charset="-122"/>
                <a:cs typeface="Calibri" pitchFamily="34" charset="-120"/>
              </a:rPr>
              <a:t>0.821</a:t>
            </a:r>
            <a:endParaRPr lang="en-US" sz="1100" dirty="0"/>
          </a:p>
        </p:txBody>
      </p:sp>
      <p:sp>
        <p:nvSpPr>
          <p:cNvPr id="17" name="Text 15"/>
          <p:cNvSpPr/>
          <p:nvPr/>
        </p:nvSpPr>
        <p:spPr>
          <a:xfrm>
            <a:off x="2926080" y="2788920"/>
            <a:ext cx="1371600" cy="274320"/>
          </a:xfrm>
          <a:prstGeom prst="rect">
            <a:avLst/>
          </a:prstGeom>
          <a:noFill/>
          <a:ln/>
        </p:spPr>
        <p:txBody>
          <a:bodyPr wrap="square" lIns="0" tIns="0" rIns="0" bIns="0" rtlCol="0" anchor="ctr"/>
          <a:lstStyle/>
          <a:p>
            <a:pPr marL="0" indent="0" algn="ctr">
              <a:buNone/>
            </a:pPr>
            <a:r>
              <a:rPr lang="en-US" sz="900" dirty="0">
                <a:solidFill>
                  <a:srgbClr val="6C757D"/>
                </a:solidFill>
                <a:latin typeface="Calibri" pitchFamily="34" charset="0"/>
                <a:ea typeface="Calibri" pitchFamily="34" charset="-122"/>
                <a:cs typeface="Calibri" pitchFamily="34" charset="-120"/>
              </a:rPr>
              <a:t>seed 2</a:t>
            </a:r>
            <a:endParaRPr lang="en-US" sz="900" dirty="0"/>
          </a:p>
        </p:txBody>
      </p:sp>
      <p:sp>
        <p:nvSpPr>
          <p:cNvPr id="18" name="Shape 16"/>
          <p:cNvSpPr/>
          <p:nvPr/>
        </p:nvSpPr>
        <p:spPr>
          <a:xfrm>
            <a:off x="4937760" y="2688336"/>
            <a:ext cx="1371600" cy="374904"/>
          </a:xfrm>
          <a:prstGeom prst="rect">
            <a:avLst/>
          </a:prstGeom>
          <a:solidFill>
            <a:srgbClr val="F77F00"/>
          </a:solidFill>
          <a:ln w="12700">
            <a:solidFill>
              <a:srgbClr val="F77F00"/>
            </a:solidFill>
            <a:prstDash val="solid"/>
          </a:ln>
        </p:spPr>
        <p:txBody>
          <a:bodyPr/>
          <a:lstStyle/>
          <a:p>
            <a:endParaRPr lang="en-GB"/>
          </a:p>
        </p:txBody>
      </p:sp>
      <p:sp>
        <p:nvSpPr>
          <p:cNvPr id="19" name="Text 17"/>
          <p:cNvSpPr/>
          <p:nvPr/>
        </p:nvSpPr>
        <p:spPr>
          <a:xfrm>
            <a:off x="4937760" y="2286000"/>
            <a:ext cx="1371600" cy="274320"/>
          </a:xfrm>
          <a:prstGeom prst="rect">
            <a:avLst/>
          </a:prstGeom>
          <a:noFill/>
          <a:ln/>
        </p:spPr>
        <p:txBody>
          <a:bodyPr wrap="square" lIns="0" tIns="0" rIns="0" bIns="0" rtlCol="0" anchor="ctr"/>
          <a:lstStyle/>
          <a:p>
            <a:pPr marL="0" indent="0" algn="ctr">
              <a:buNone/>
            </a:pPr>
            <a:r>
              <a:rPr lang="en-US" sz="1100" b="1" dirty="0">
                <a:solidFill>
                  <a:srgbClr val="0F2440"/>
                </a:solidFill>
                <a:latin typeface="Calibri" pitchFamily="34" charset="0"/>
                <a:ea typeface="Calibri" pitchFamily="34" charset="-122"/>
                <a:cs typeface="Calibri" pitchFamily="34" charset="-120"/>
              </a:rPr>
              <a:t>0.795</a:t>
            </a:r>
            <a:endParaRPr lang="en-US" sz="1100" dirty="0"/>
          </a:p>
        </p:txBody>
      </p:sp>
      <p:sp>
        <p:nvSpPr>
          <p:cNvPr id="20" name="Text 18"/>
          <p:cNvSpPr/>
          <p:nvPr/>
        </p:nvSpPr>
        <p:spPr>
          <a:xfrm>
            <a:off x="4937760" y="2788920"/>
            <a:ext cx="1371600" cy="274320"/>
          </a:xfrm>
          <a:prstGeom prst="rect">
            <a:avLst/>
          </a:prstGeom>
          <a:noFill/>
          <a:ln/>
        </p:spPr>
        <p:txBody>
          <a:bodyPr wrap="square" lIns="0" tIns="0" rIns="0" bIns="0" rtlCol="0" anchor="ctr"/>
          <a:lstStyle/>
          <a:p>
            <a:pPr marL="0" indent="0" algn="ctr">
              <a:buNone/>
            </a:pPr>
            <a:r>
              <a:rPr lang="en-US" sz="900" dirty="0">
                <a:solidFill>
                  <a:srgbClr val="6C757D"/>
                </a:solidFill>
                <a:latin typeface="Calibri" pitchFamily="34" charset="0"/>
                <a:ea typeface="Calibri" pitchFamily="34" charset="-122"/>
                <a:cs typeface="Calibri" pitchFamily="34" charset="-120"/>
              </a:rPr>
              <a:t>seed 3</a:t>
            </a:r>
            <a:endParaRPr lang="en-US" sz="900" dirty="0"/>
          </a:p>
        </p:txBody>
      </p:sp>
      <p:sp>
        <p:nvSpPr>
          <p:cNvPr id="21" name="Shape 19"/>
          <p:cNvSpPr/>
          <p:nvPr/>
        </p:nvSpPr>
        <p:spPr>
          <a:xfrm>
            <a:off x="6949440" y="2373782"/>
            <a:ext cx="1371600" cy="689458"/>
          </a:xfrm>
          <a:prstGeom prst="rect">
            <a:avLst/>
          </a:prstGeom>
          <a:solidFill>
            <a:srgbClr val="F77F00"/>
          </a:solidFill>
          <a:ln w="12700">
            <a:solidFill>
              <a:srgbClr val="F77F00"/>
            </a:solidFill>
            <a:prstDash val="solid"/>
          </a:ln>
        </p:spPr>
        <p:txBody>
          <a:bodyPr/>
          <a:lstStyle/>
          <a:p>
            <a:endParaRPr lang="en-GB"/>
          </a:p>
        </p:txBody>
      </p:sp>
      <p:sp>
        <p:nvSpPr>
          <p:cNvPr id="22" name="Text 20"/>
          <p:cNvSpPr/>
          <p:nvPr/>
        </p:nvSpPr>
        <p:spPr>
          <a:xfrm>
            <a:off x="6949440" y="2286000"/>
            <a:ext cx="1371600" cy="274320"/>
          </a:xfrm>
          <a:prstGeom prst="rect">
            <a:avLst/>
          </a:prstGeom>
          <a:noFill/>
          <a:ln/>
        </p:spPr>
        <p:txBody>
          <a:bodyPr wrap="square" lIns="0" tIns="0" rIns="0" bIns="0" rtlCol="0" anchor="ctr"/>
          <a:lstStyle/>
          <a:p>
            <a:pPr marL="0" indent="0" algn="ctr">
              <a:buNone/>
            </a:pPr>
            <a:r>
              <a:rPr lang="en-US" sz="1100" b="1" dirty="0">
                <a:solidFill>
                  <a:srgbClr val="0F2440"/>
                </a:solidFill>
                <a:latin typeface="Calibri" pitchFamily="34" charset="0"/>
                <a:ea typeface="Calibri" pitchFamily="34" charset="-122"/>
                <a:cs typeface="Calibri" pitchFamily="34" charset="-120"/>
              </a:rPr>
              <a:t>0.838</a:t>
            </a:r>
            <a:endParaRPr lang="en-US" sz="1100" dirty="0"/>
          </a:p>
        </p:txBody>
      </p:sp>
      <p:sp>
        <p:nvSpPr>
          <p:cNvPr id="23" name="Text 21"/>
          <p:cNvSpPr/>
          <p:nvPr/>
        </p:nvSpPr>
        <p:spPr>
          <a:xfrm>
            <a:off x="6949440" y="2788920"/>
            <a:ext cx="1371600" cy="274320"/>
          </a:xfrm>
          <a:prstGeom prst="rect">
            <a:avLst/>
          </a:prstGeom>
          <a:noFill/>
          <a:ln/>
        </p:spPr>
        <p:txBody>
          <a:bodyPr wrap="square" lIns="0" tIns="0" rIns="0" bIns="0" rtlCol="0" anchor="ctr"/>
          <a:lstStyle/>
          <a:p>
            <a:pPr marL="0" indent="0" algn="ctr">
              <a:buNone/>
            </a:pPr>
            <a:r>
              <a:rPr lang="en-US" sz="900" dirty="0">
                <a:solidFill>
                  <a:srgbClr val="6C757D"/>
                </a:solidFill>
                <a:latin typeface="Calibri" pitchFamily="34" charset="0"/>
                <a:ea typeface="Calibri" pitchFamily="34" charset="-122"/>
                <a:cs typeface="Calibri" pitchFamily="34" charset="-120"/>
              </a:rPr>
              <a:t>seed 4</a:t>
            </a:r>
            <a:endParaRPr lang="en-US" sz="900" dirty="0"/>
          </a:p>
        </p:txBody>
      </p:sp>
      <p:sp>
        <p:nvSpPr>
          <p:cNvPr id="24" name="Shape 22"/>
          <p:cNvSpPr/>
          <p:nvPr/>
        </p:nvSpPr>
        <p:spPr>
          <a:xfrm>
            <a:off x="8961120" y="2563978"/>
            <a:ext cx="1371600" cy="499262"/>
          </a:xfrm>
          <a:prstGeom prst="rect">
            <a:avLst/>
          </a:prstGeom>
          <a:solidFill>
            <a:srgbClr val="F77F00"/>
          </a:solidFill>
          <a:ln w="12700">
            <a:solidFill>
              <a:srgbClr val="F77F00"/>
            </a:solidFill>
            <a:prstDash val="solid"/>
          </a:ln>
        </p:spPr>
        <p:txBody>
          <a:bodyPr/>
          <a:lstStyle/>
          <a:p>
            <a:endParaRPr lang="en-GB"/>
          </a:p>
        </p:txBody>
      </p:sp>
      <p:sp>
        <p:nvSpPr>
          <p:cNvPr id="25" name="Text 23"/>
          <p:cNvSpPr/>
          <p:nvPr/>
        </p:nvSpPr>
        <p:spPr>
          <a:xfrm>
            <a:off x="8961120" y="2286000"/>
            <a:ext cx="1371600" cy="274320"/>
          </a:xfrm>
          <a:prstGeom prst="rect">
            <a:avLst/>
          </a:prstGeom>
          <a:noFill/>
          <a:ln/>
        </p:spPr>
        <p:txBody>
          <a:bodyPr wrap="square" lIns="0" tIns="0" rIns="0" bIns="0" rtlCol="0" anchor="ctr"/>
          <a:lstStyle/>
          <a:p>
            <a:pPr marL="0" indent="0" algn="ctr">
              <a:buNone/>
            </a:pPr>
            <a:r>
              <a:rPr lang="en-US" sz="1100" b="1" dirty="0">
                <a:solidFill>
                  <a:srgbClr val="0F2440"/>
                </a:solidFill>
                <a:latin typeface="Calibri" pitchFamily="34" charset="0"/>
                <a:ea typeface="Calibri" pitchFamily="34" charset="-122"/>
                <a:cs typeface="Calibri" pitchFamily="34" charset="-120"/>
              </a:rPr>
              <a:t>0.812</a:t>
            </a:r>
            <a:endParaRPr lang="en-US" sz="1100" dirty="0"/>
          </a:p>
        </p:txBody>
      </p:sp>
      <p:sp>
        <p:nvSpPr>
          <p:cNvPr id="26" name="Text 24"/>
          <p:cNvSpPr/>
          <p:nvPr/>
        </p:nvSpPr>
        <p:spPr>
          <a:xfrm>
            <a:off x="8961120" y="2788920"/>
            <a:ext cx="1371600" cy="274320"/>
          </a:xfrm>
          <a:prstGeom prst="rect">
            <a:avLst/>
          </a:prstGeom>
          <a:noFill/>
          <a:ln/>
        </p:spPr>
        <p:txBody>
          <a:bodyPr wrap="square" lIns="0" tIns="0" rIns="0" bIns="0" rtlCol="0" anchor="ctr"/>
          <a:lstStyle/>
          <a:p>
            <a:pPr marL="0" indent="0" algn="ctr">
              <a:buNone/>
            </a:pPr>
            <a:r>
              <a:rPr lang="en-US" sz="900" dirty="0">
                <a:solidFill>
                  <a:srgbClr val="6C757D"/>
                </a:solidFill>
                <a:latin typeface="Calibri" pitchFamily="34" charset="0"/>
                <a:ea typeface="Calibri" pitchFamily="34" charset="-122"/>
                <a:cs typeface="Calibri" pitchFamily="34" charset="-120"/>
              </a:rPr>
              <a:t>seed 5</a:t>
            </a:r>
            <a:endParaRPr lang="en-US" sz="900" dirty="0"/>
          </a:p>
        </p:txBody>
      </p:sp>
      <p:sp>
        <p:nvSpPr>
          <p:cNvPr id="27" name="Shape 25"/>
          <p:cNvSpPr/>
          <p:nvPr/>
        </p:nvSpPr>
        <p:spPr>
          <a:xfrm>
            <a:off x="548640" y="3657600"/>
            <a:ext cx="11064240" cy="1371600"/>
          </a:xfrm>
          <a:prstGeom prst="rect">
            <a:avLst/>
          </a:prstGeom>
          <a:solidFill>
            <a:srgbClr val="E7F1FB"/>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28" name="Text 26"/>
          <p:cNvSpPr/>
          <p:nvPr/>
        </p:nvSpPr>
        <p:spPr>
          <a:xfrm>
            <a:off x="777240" y="3794760"/>
            <a:ext cx="10607040" cy="365760"/>
          </a:xfrm>
          <a:prstGeom prst="rect">
            <a:avLst/>
          </a:prstGeom>
          <a:noFill/>
          <a:ln/>
        </p:spPr>
        <p:txBody>
          <a:bodyPr wrap="square" lIns="0" tIns="0" rIns="0" bIns="0" rtlCol="0" anchor="ctr"/>
          <a:lstStyle/>
          <a:p>
            <a:pPr marL="0" indent="0">
              <a:buNone/>
            </a:pPr>
            <a:r>
              <a:rPr lang="en-US" sz="1400" b="1" dirty="0">
                <a:solidFill>
                  <a:srgbClr val="0F2440"/>
                </a:solidFill>
                <a:latin typeface="Calibri" pitchFamily="34" charset="0"/>
                <a:ea typeface="Calibri" pitchFamily="34" charset="-122"/>
                <a:cs typeface="Calibri" pitchFamily="34" charset="-120"/>
              </a:rPr>
              <a:t>Range: 0.795 → 0.838.   That's a ±2 percentage-point swing — and we changed nothing real.</a:t>
            </a:r>
            <a:endParaRPr lang="en-US" sz="1400" dirty="0"/>
          </a:p>
        </p:txBody>
      </p:sp>
      <p:sp>
        <p:nvSpPr>
          <p:cNvPr id="29" name="Text 27"/>
          <p:cNvSpPr/>
          <p:nvPr/>
        </p:nvSpPr>
        <p:spPr>
          <a:xfrm>
            <a:off x="777240" y="4206240"/>
            <a:ext cx="10607040" cy="365760"/>
          </a:xfrm>
          <a:prstGeom prst="rect">
            <a:avLst/>
          </a:prstGeom>
          <a:noFill/>
          <a:ln/>
        </p:spPr>
        <p:txBody>
          <a:bodyPr wrap="square" lIns="0" tIns="0" rIns="0" bIns="0" rtlCol="0" anchor="ctr"/>
          <a:lstStyle/>
          <a:p>
            <a:pPr marL="0" indent="0">
              <a:buNone/>
            </a:pPr>
            <a:r>
              <a:rPr lang="en-US" sz="1300" i="1" dirty="0">
                <a:solidFill>
                  <a:srgbClr val="212529"/>
                </a:solidFill>
                <a:latin typeface="Calibri" pitchFamily="34" charset="0"/>
                <a:ea typeface="Calibri" pitchFamily="34" charset="-122"/>
                <a:cs typeface="Calibri" pitchFamily="34" charset="-120"/>
              </a:rPr>
              <a:t>Reporting just one number gives a false sense of precision. We need a distribution.</a:t>
            </a:r>
            <a:endParaRPr lang="en-US" sz="1300" dirty="0"/>
          </a:p>
        </p:txBody>
      </p:sp>
      <p:sp>
        <p:nvSpPr>
          <p:cNvPr id="30" name="Text 28"/>
          <p:cNvSpPr/>
          <p:nvPr/>
        </p:nvSpPr>
        <p:spPr>
          <a:xfrm>
            <a:off x="777240" y="4572000"/>
            <a:ext cx="10607040" cy="365760"/>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Cross-validation gives us that distribution — without spending more data.</a:t>
            </a:r>
            <a:endParaRPr lang="en-US" sz="1300" dirty="0"/>
          </a:p>
        </p:txBody>
      </p:sp>
      <p:sp>
        <p:nvSpPr>
          <p:cNvPr id="31" name="Text 29"/>
          <p:cNvSpPr/>
          <p:nvPr/>
        </p:nvSpPr>
        <p:spPr>
          <a:xfrm>
            <a:off x="548640" y="5212080"/>
            <a:ext cx="10972800" cy="320040"/>
          </a:xfrm>
          <a:prstGeom prst="rect">
            <a:avLst/>
          </a:prstGeom>
          <a:noFill/>
          <a:ln/>
        </p:spPr>
        <p:txBody>
          <a:bodyPr wrap="square" lIns="0" tIns="0" rIns="0" bIns="0" rtlCol="0" anchor="ctr"/>
          <a:lstStyle/>
          <a:p>
            <a:pPr marL="0" indent="0">
              <a:buNone/>
            </a:pPr>
            <a:r>
              <a:rPr lang="en-US" sz="1200" b="1" kern="0" spc="300" dirty="0">
                <a:solidFill>
                  <a:srgbClr val="F77F00"/>
                </a:solidFill>
                <a:latin typeface="Calibri" pitchFamily="34" charset="0"/>
                <a:ea typeface="Calibri" pitchFamily="34" charset="-122"/>
                <a:cs typeface="Calibri" pitchFamily="34" charset="-120"/>
              </a:rPr>
              <a:t>Indonesian analogy</a:t>
            </a:r>
            <a:endParaRPr lang="en-US" sz="1200" dirty="0"/>
          </a:p>
        </p:txBody>
      </p:sp>
      <p:sp>
        <p:nvSpPr>
          <p:cNvPr id="32" name="Text 30"/>
          <p:cNvSpPr/>
          <p:nvPr/>
        </p:nvSpPr>
        <p:spPr>
          <a:xfrm>
            <a:off x="548640" y="5532120"/>
            <a:ext cx="11064240" cy="731520"/>
          </a:xfrm>
          <a:prstGeom prst="rect">
            <a:avLst/>
          </a:prstGeom>
          <a:noFill/>
          <a:ln/>
        </p:spPr>
        <p:txBody>
          <a:bodyPr wrap="square" lIns="0" tIns="0" rIns="0" bIns="0" rtlCol="0" anchor="ctr"/>
          <a:lstStyle/>
          <a:p>
            <a:pPr marL="0" indent="0">
              <a:buNone/>
            </a:pPr>
            <a:r>
              <a:rPr lang="en-US" sz="1300" i="1" dirty="0">
                <a:solidFill>
                  <a:srgbClr val="212529"/>
                </a:solidFill>
                <a:latin typeface="Calibri" pitchFamily="34" charset="0"/>
                <a:ea typeface="Calibri" pitchFamily="34" charset="-122"/>
                <a:cs typeface="Calibri" pitchFamily="34" charset="-120"/>
              </a:rPr>
              <a:t>Tasting nasi padang from one warung doesn't tell you "how good is nasi padang in Jakarta".  You need to taste from many warungs and average.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1E3A5F"/>
          </a:solidFill>
          <a:ln w="12700">
            <a:solidFill>
              <a:srgbClr val="1E3A5F"/>
            </a:solidFill>
            <a:prstDash val="solid"/>
          </a:ln>
        </p:spPr>
        <p:txBody>
          <a:bodyPr/>
          <a:lstStyle/>
          <a:p>
            <a:endParaRPr lang="en-GB"/>
          </a:p>
        </p:txBody>
      </p:sp>
      <p:sp>
        <p:nvSpPr>
          <p:cNvPr id="3" name="Shape 1"/>
          <p:cNvSpPr/>
          <p:nvPr/>
        </p:nvSpPr>
        <p:spPr>
          <a:xfrm>
            <a:off x="0" y="0"/>
            <a:ext cx="2377440" cy="164592"/>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457200" y="292608"/>
            <a:ext cx="10972800" cy="320040"/>
          </a:xfrm>
          <a:prstGeom prst="rect">
            <a:avLst/>
          </a:prstGeom>
          <a:noFill/>
          <a:ln/>
        </p:spPr>
        <p:txBody>
          <a:bodyPr wrap="square" rtlCol="0" anchor="ctr"/>
          <a:lstStyle/>
          <a:p>
            <a:pPr marL="0" indent="0">
              <a:buNone/>
            </a:pPr>
            <a:r>
              <a:rPr lang="en-US" sz="1100" b="1" kern="0" spc="400" dirty="0">
                <a:solidFill>
                  <a:srgbClr val="F77F00"/>
                </a:solidFill>
                <a:latin typeface="Calibri" pitchFamily="34" charset="0"/>
                <a:ea typeface="Calibri" pitchFamily="34" charset="-122"/>
                <a:cs typeface="Calibri" pitchFamily="34" charset="-120"/>
              </a:rPr>
              <a:t>5-FOLD CV, ILLUSTRATED</a:t>
            </a:r>
            <a:endParaRPr lang="en-US" sz="1100" dirty="0"/>
          </a:p>
        </p:txBody>
      </p:sp>
      <p:sp>
        <p:nvSpPr>
          <p:cNvPr id="5" name="Text 3"/>
          <p:cNvSpPr/>
          <p:nvPr/>
        </p:nvSpPr>
        <p:spPr>
          <a:xfrm>
            <a:off x="457200" y="594360"/>
            <a:ext cx="11247120" cy="777240"/>
          </a:xfrm>
          <a:prstGeom prst="rect">
            <a:avLst/>
          </a:prstGeom>
          <a:noFill/>
          <a:ln/>
        </p:spPr>
        <p:txBody>
          <a:bodyPr wrap="square" lIns="0" tIns="0" rIns="0" bIns="0" rtlCol="0" anchor="ctr"/>
          <a:lstStyle/>
          <a:p>
            <a:pPr marL="0" indent="0">
              <a:buNone/>
            </a:pPr>
            <a:r>
              <a:rPr lang="en-US" sz="3000" b="1" dirty="0">
                <a:solidFill>
                  <a:srgbClr val="0F2440"/>
                </a:solidFill>
                <a:latin typeface="Calibri" pitchFamily="34" charset="0"/>
                <a:ea typeface="Calibri" pitchFamily="34" charset="-122"/>
                <a:cs typeface="Calibri" pitchFamily="34" charset="-120"/>
              </a:rPr>
              <a:t>K-fold cross-validation</a:t>
            </a:r>
            <a:endParaRPr lang="en-US" sz="3000" dirty="0"/>
          </a:p>
        </p:txBody>
      </p:sp>
      <p:sp>
        <p:nvSpPr>
          <p:cNvPr id="6" name="Shape 4"/>
          <p:cNvSpPr/>
          <p:nvPr/>
        </p:nvSpPr>
        <p:spPr>
          <a:xfrm>
            <a:off x="457200" y="137160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17 / 35</a:t>
            </a:r>
            <a:endParaRPr lang="en-US" sz="900" dirty="0"/>
          </a:p>
        </p:txBody>
      </p:sp>
      <p:sp>
        <p:nvSpPr>
          <p:cNvPr id="10" name="Text 8"/>
          <p:cNvSpPr/>
          <p:nvPr/>
        </p:nvSpPr>
        <p:spPr>
          <a:xfrm>
            <a:off x="2286000" y="1463040"/>
            <a:ext cx="1554480" cy="274320"/>
          </a:xfrm>
          <a:prstGeom prst="rect">
            <a:avLst/>
          </a:prstGeom>
          <a:noFill/>
          <a:ln/>
        </p:spPr>
        <p:txBody>
          <a:bodyPr wrap="square" lIns="0" tIns="0" rIns="0" bIns="0" rtlCol="0" anchor="ctr"/>
          <a:lstStyle/>
          <a:p>
            <a:pPr marL="0" indent="0" algn="ctr">
              <a:buNone/>
            </a:pPr>
            <a:r>
              <a:rPr lang="en-US" sz="1100" b="1" dirty="0">
                <a:solidFill>
                  <a:srgbClr val="6C757D"/>
                </a:solidFill>
                <a:latin typeface="Calibri" pitchFamily="34" charset="0"/>
                <a:ea typeface="Calibri" pitchFamily="34" charset="-122"/>
                <a:cs typeface="Calibri" pitchFamily="34" charset="-120"/>
              </a:rPr>
              <a:t>Fold 1</a:t>
            </a:r>
            <a:endParaRPr lang="en-US" sz="1100" dirty="0"/>
          </a:p>
        </p:txBody>
      </p:sp>
      <p:sp>
        <p:nvSpPr>
          <p:cNvPr id="11" name="Text 9"/>
          <p:cNvSpPr/>
          <p:nvPr/>
        </p:nvSpPr>
        <p:spPr>
          <a:xfrm>
            <a:off x="3840480" y="1463040"/>
            <a:ext cx="1554480" cy="274320"/>
          </a:xfrm>
          <a:prstGeom prst="rect">
            <a:avLst/>
          </a:prstGeom>
          <a:noFill/>
          <a:ln/>
        </p:spPr>
        <p:txBody>
          <a:bodyPr wrap="square" lIns="0" tIns="0" rIns="0" bIns="0" rtlCol="0" anchor="ctr"/>
          <a:lstStyle/>
          <a:p>
            <a:pPr marL="0" indent="0" algn="ctr">
              <a:buNone/>
            </a:pPr>
            <a:r>
              <a:rPr lang="en-US" sz="1100" b="1" dirty="0">
                <a:solidFill>
                  <a:srgbClr val="6C757D"/>
                </a:solidFill>
                <a:latin typeface="Calibri" pitchFamily="34" charset="0"/>
                <a:ea typeface="Calibri" pitchFamily="34" charset="-122"/>
                <a:cs typeface="Calibri" pitchFamily="34" charset="-120"/>
              </a:rPr>
              <a:t>Fold 2</a:t>
            </a:r>
            <a:endParaRPr lang="en-US" sz="1100" dirty="0"/>
          </a:p>
        </p:txBody>
      </p:sp>
      <p:sp>
        <p:nvSpPr>
          <p:cNvPr id="12" name="Text 10"/>
          <p:cNvSpPr/>
          <p:nvPr/>
        </p:nvSpPr>
        <p:spPr>
          <a:xfrm>
            <a:off x="5394960" y="1463040"/>
            <a:ext cx="1554480" cy="274320"/>
          </a:xfrm>
          <a:prstGeom prst="rect">
            <a:avLst/>
          </a:prstGeom>
          <a:noFill/>
          <a:ln/>
        </p:spPr>
        <p:txBody>
          <a:bodyPr wrap="square" lIns="0" tIns="0" rIns="0" bIns="0" rtlCol="0" anchor="ctr"/>
          <a:lstStyle/>
          <a:p>
            <a:pPr marL="0" indent="0" algn="ctr">
              <a:buNone/>
            </a:pPr>
            <a:r>
              <a:rPr lang="en-US" sz="1100" b="1" dirty="0">
                <a:solidFill>
                  <a:srgbClr val="6C757D"/>
                </a:solidFill>
                <a:latin typeface="Calibri" pitchFamily="34" charset="0"/>
                <a:ea typeface="Calibri" pitchFamily="34" charset="-122"/>
                <a:cs typeface="Calibri" pitchFamily="34" charset="-120"/>
              </a:rPr>
              <a:t>Fold 3</a:t>
            </a:r>
            <a:endParaRPr lang="en-US" sz="1100" dirty="0"/>
          </a:p>
        </p:txBody>
      </p:sp>
      <p:sp>
        <p:nvSpPr>
          <p:cNvPr id="13" name="Text 11"/>
          <p:cNvSpPr/>
          <p:nvPr/>
        </p:nvSpPr>
        <p:spPr>
          <a:xfrm>
            <a:off x="6949440" y="1463040"/>
            <a:ext cx="1554480" cy="274320"/>
          </a:xfrm>
          <a:prstGeom prst="rect">
            <a:avLst/>
          </a:prstGeom>
          <a:noFill/>
          <a:ln/>
        </p:spPr>
        <p:txBody>
          <a:bodyPr wrap="square" lIns="0" tIns="0" rIns="0" bIns="0" rtlCol="0" anchor="ctr"/>
          <a:lstStyle/>
          <a:p>
            <a:pPr marL="0" indent="0" algn="ctr">
              <a:buNone/>
            </a:pPr>
            <a:r>
              <a:rPr lang="en-US" sz="1100" b="1" dirty="0">
                <a:solidFill>
                  <a:srgbClr val="6C757D"/>
                </a:solidFill>
                <a:latin typeface="Calibri" pitchFamily="34" charset="0"/>
                <a:ea typeface="Calibri" pitchFamily="34" charset="-122"/>
                <a:cs typeface="Calibri" pitchFamily="34" charset="-120"/>
              </a:rPr>
              <a:t>Fold 4</a:t>
            </a:r>
            <a:endParaRPr lang="en-US" sz="1100" dirty="0"/>
          </a:p>
        </p:txBody>
      </p:sp>
      <p:sp>
        <p:nvSpPr>
          <p:cNvPr id="14" name="Text 12"/>
          <p:cNvSpPr/>
          <p:nvPr/>
        </p:nvSpPr>
        <p:spPr>
          <a:xfrm>
            <a:off x="8503920" y="1463040"/>
            <a:ext cx="1554480" cy="274320"/>
          </a:xfrm>
          <a:prstGeom prst="rect">
            <a:avLst/>
          </a:prstGeom>
          <a:noFill/>
          <a:ln/>
        </p:spPr>
        <p:txBody>
          <a:bodyPr wrap="square" lIns="0" tIns="0" rIns="0" bIns="0" rtlCol="0" anchor="ctr"/>
          <a:lstStyle/>
          <a:p>
            <a:pPr marL="0" indent="0" algn="ctr">
              <a:buNone/>
            </a:pPr>
            <a:r>
              <a:rPr lang="en-US" sz="1100" b="1" dirty="0">
                <a:solidFill>
                  <a:srgbClr val="6C757D"/>
                </a:solidFill>
                <a:latin typeface="Calibri" pitchFamily="34" charset="0"/>
                <a:ea typeface="Calibri" pitchFamily="34" charset="-122"/>
                <a:cs typeface="Calibri" pitchFamily="34" charset="-120"/>
              </a:rPr>
              <a:t>Fold 5</a:t>
            </a:r>
            <a:endParaRPr lang="en-US" sz="1100" dirty="0"/>
          </a:p>
        </p:txBody>
      </p:sp>
      <p:sp>
        <p:nvSpPr>
          <p:cNvPr id="15" name="Text 13"/>
          <p:cNvSpPr/>
          <p:nvPr/>
        </p:nvSpPr>
        <p:spPr>
          <a:xfrm>
            <a:off x="1188720" y="1920240"/>
            <a:ext cx="914400" cy="274320"/>
          </a:xfrm>
          <a:prstGeom prst="rect">
            <a:avLst/>
          </a:prstGeom>
          <a:noFill/>
          <a:ln/>
        </p:spPr>
        <p:txBody>
          <a:bodyPr wrap="square" lIns="0" tIns="0" rIns="0" bIns="0" rtlCol="0" anchor="ctr"/>
          <a:lstStyle/>
          <a:p>
            <a:pPr marL="0" indent="0" algn="r">
              <a:buNone/>
            </a:pPr>
            <a:r>
              <a:rPr lang="en-US" sz="1100" b="1" dirty="0">
                <a:solidFill>
                  <a:srgbClr val="0F2440"/>
                </a:solidFill>
                <a:latin typeface="Calibri" pitchFamily="34" charset="0"/>
                <a:ea typeface="Calibri" pitchFamily="34" charset="-122"/>
                <a:cs typeface="Calibri" pitchFamily="34" charset="-120"/>
              </a:rPr>
              <a:t>Iter 1</a:t>
            </a:r>
            <a:endParaRPr lang="en-US" sz="1100" dirty="0"/>
          </a:p>
        </p:txBody>
      </p:sp>
      <p:sp>
        <p:nvSpPr>
          <p:cNvPr id="16" name="Shape 14"/>
          <p:cNvSpPr/>
          <p:nvPr/>
        </p:nvSpPr>
        <p:spPr>
          <a:xfrm>
            <a:off x="2286000" y="1828800"/>
            <a:ext cx="1463040" cy="411480"/>
          </a:xfrm>
          <a:prstGeom prst="rect">
            <a:avLst/>
          </a:prstGeom>
          <a:solidFill>
            <a:srgbClr val="F77F00"/>
          </a:solidFill>
          <a:ln w="25400">
            <a:solidFill>
              <a:srgbClr val="FFFFFF"/>
            </a:solidFill>
            <a:prstDash val="solid"/>
          </a:ln>
        </p:spPr>
        <p:txBody>
          <a:bodyPr/>
          <a:lstStyle/>
          <a:p>
            <a:endParaRPr lang="en-GB"/>
          </a:p>
        </p:txBody>
      </p:sp>
      <p:sp>
        <p:nvSpPr>
          <p:cNvPr id="17" name="Text 15"/>
          <p:cNvSpPr/>
          <p:nvPr/>
        </p:nvSpPr>
        <p:spPr>
          <a:xfrm>
            <a:off x="2286000" y="182880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VAL</a:t>
            </a:r>
            <a:endParaRPr lang="en-US" sz="1000" dirty="0"/>
          </a:p>
        </p:txBody>
      </p:sp>
      <p:sp>
        <p:nvSpPr>
          <p:cNvPr id="18" name="Shape 16"/>
          <p:cNvSpPr/>
          <p:nvPr/>
        </p:nvSpPr>
        <p:spPr>
          <a:xfrm>
            <a:off x="3840480" y="1828800"/>
            <a:ext cx="1463040" cy="411480"/>
          </a:xfrm>
          <a:prstGeom prst="rect">
            <a:avLst/>
          </a:prstGeom>
          <a:solidFill>
            <a:srgbClr val="1E3A5F"/>
          </a:solidFill>
          <a:ln w="25400">
            <a:solidFill>
              <a:srgbClr val="FFFFFF"/>
            </a:solidFill>
            <a:prstDash val="solid"/>
          </a:ln>
        </p:spPr>
        <p:txBody>
          <a:bodyPr/>
          <a:lstStyle/>
          <a:p>
            <a:endParaRPr lang="en-GB"/>
          </a:p>
        </p:txBody>
      </p:sp>
      <p:sp>
        <p:nvSpPr>
          <p:cNvPr id="19" name="Text 17"/>
          <p:cNvSpPr/>
          <p:nvPr/>
        </p:nvSpPr>
        <p:spPr>
          <a:xfrm>
            <a:off x="3840480" y="182880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TRAIN</a:t>
            </a:r>
            <a:endParaRPr lang="en-US" sz="1000" dirty="0"/>
          </a:p>
        </p:txBody>
      </p:sp>
      <p:sp>
        <p:nvSpPr>
          <p:cNvPr id="20" name="Shape 18"/>
          <p:cNvSpPr/>
          <p:nvPr/>
        </p:nvSpPr>
        <p:spPr>
          <a:xfrm>
            <a:off x="5394960" y="1828800"/>
            <a:ext cx="1463040" cy="411480"/>
          </a:xfrm>
          <a:prstGeom prst="rect">
            <a:avLst/>
          </a:prstGeom>
          <a:solidFill>
            <a:srgbClr val="1E3A5F"/>
          </a:solidFill>
          <a:ln w="25400">
            <a:solidFill>
              <a:srgbClr val="FFFFFF"/>
            </a:solidFill>
            <a:prstDash val="solid"/>
          </a:ln>
        </p:spPr>
        <p:txBody>
          <a:bodyPr/>
          <a:lstStyle/>
          <a:p>
            <a:endParaRPr lang="en-GB"/>
          </a:p>
        </p:txBody>
      </p:sp>
      <p:sp>
        <p:nvSpPr>
          <p:cNvPr id="21" name="Text 19"/>
          <p:cNvSpPr/>
          <p:nvPr/>
        </p:nvSpPr>
        <p:spPr>
          <a:xfrm>
            <a:off x="5394960" y="182880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TRAIN</a:t>
            </a:r>
            <a:endParaRPr lang="en-US" sz="1000" dirty="0"/>
          </a:p>
        </p:txBody>
      </p:sp>
      <p:sp>
        <p:nvSpPr>
          <p:cNvPr id="22" name="Shape 20"/>
          <p:cNvSpPr/>
          <p:nvPr/>
        </p:nvSpPr>
        <p:spPr>
          <a:xfrm>
            <a:off x="6949440" y="1828800"/>
            <a:ext cx="1463040" cy="411480"/>
          </a:xfrm>
          <a:prstGeom prst="rect">
            <a:avLst/>
          </a:prstGeom>
          <a:solidFill>
            <a:srgbClr val="1E3A5F"/>
          </a:solidFill>
          <a:ln w="25400">
            <a:solidFill>
              <a:srgbClr val="FFFFFF"/>
            </a:solidFill>
            <a:prstDash val="solid"/>
          </a:ln>
        </p:spPr>
        <p:txBody>
          <a:bodyPr/>
          <a:lstStyle/>
          <a:p>
            <a:endParaRPr lang="en-GB"/>
          </a:p>
        </p:txBody>
      </p:sp>
      <p:sp>
        <p:nvSpPr>
          <p:cNvPr id="23" name="Text 21"/>
          <p:cNvSpPr/>
          <p:nvPr/>
        </p:nvSpPr>
        <p:spPr>
          <a:xfrm>
            <a:off x="6949440" y="182880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TRAIN</a:t>
            </a:r>
            <a:endParaRPr lang="en-US" sz="1000" dirty="0"/>
          </a:p>
        </p:txBody>
      </p:sp>
      <p:sp>
        <p:nvSpPr>
          <p:cNvPr id="24" name="Shape 22"/>
          <p:cNvSpPr/>
          <p:nvPr/>
        </p:nvSpPr>
        <p:spPr>
          <a:xfrm>
            <a:off x="8503920" y="1828800"/>
            <a:ext cx="1463040" cy="411480"/>
          </a:xfrm>
          <a:prstGeom prst="rect">
            <a:avLst/>
          </a:prstGeom>
          <a:solidFill>
            <a:srgbClr val="1E3A5F"/>
          </a:solidFill>
          <a:ln w="25400">
            <a:solidFill>
              <a:srgbClr val="FFFFFF"/>
            </a:solidFill>
            <a:prstDash val="solid"/>
          </a:ln>
        </p:spPr>
        <p:txBody>
          <a:bodyPr/>
          <a:lstStyle/>
          <a:p>
            <a:endParaRPr lang="en-GB"/>
          </a:p>
        </p:txBody>
      </p:sp>
      <p:sp>
        <p:nvSpPr>
          <p:cNvPr id="25" name="Text 23"/>
          <p:cNvSpPr/>
          <p:nvPr/>
        </p:nvSpPr>
        <p:spPr>
          <a:xfrm>
            <a:off x="8503920" y="182880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TRAIN</a:t>
            </a:r>
            <a:endParaRPr lang="en-US" sz="1000" dirty="0"/>
          </a:p>
        </p:txBody>
      </p:sp>
      <p:sp>
        <p:nvSpPr>
          <p:cNvPr id="26" name="Text 24"/>
          <p:cNvSpPr/>
          <p:nvPr/>
        </p:nvSpPr>
        <p:spPr>
          <a:xfrm>
            <a:off x="10149840" y="1920240"/>
            <a:ext cx="1371600" cy="274320"/>
          </a:xfrm>
          <a:prstGeom prst="rect">
            <a:avLst/>
          </a:prstGeom>
          <a:noFill/>
          <a:ln/>
        </p:spPr>
        <p:txBody>
          <a:bodyPr wrap="square" lIns="0" tIns="0" rIns="0" bIns="0" rtlCol="0" anchor="ctr"/>
          <a:lstStyle/>
          <a:p>
            <a:pPr marL="0" indent="0">
              <a:buNone/>
            </a:pPr>
            <a:r>
              <a:rPr lang="en-US" sz="1100" b="1" dirty="0">
                <a:solidFill>
                  <a:srgbClr val="06A77D"/>
                </a:solidFill>
                <a:latin typeface="Calibri" pitchFamily="34" charset="0"/>
                <a:ea typeface="Calibri" pitchFamily="34" charset="-122"/>
                <a:cs typeface="Calibri" pitchFamily="34" charset="-120"/>
              </a:rPr>
              <a:t>acc = 0.810</a:t>
            </a:r>
            <a:endParaRPr lang="en-US" sz="1100" dirty="0"/>
          </a:p>
        </p:txBody>
      </p:sp>
      <p:sp>
        <p:nvSpPr>
          <p:cNvPr id="27" name="Text 25"/>
          <p:cNvSpPr/>
          <p:nvPr/>
        </p:nvSpPr>
        <p:spPr>
          <a:xfrm>
            <a:off x="1188720" y="2423160"/>
            <a:ext cx="914400" cy="274320"/>
          </a:xfrm>
          <a:prstGeom prst="rect">
            <a:avLst/>
          </a:prstGeom>
          <a:noFill/>
          <a:ln/>
        </p:spPr>
        <p:txBody>
          <a:bodyPr wrap="square" lIns="0" tIns="0" rIns="0" bIns="0" rtlCol="0" anchor="ctr"/>
          <a:lstStyle/>
          <a:p>
            <a:pPr marL="0" indent="0" algn="r">
              <a:buNone/>
            </a:pPr>
            <a:r>
              <a:rPr lang="en-US" sz="1100" b="1" dirty="0">
                <a:solidFill>
                  <a:srgbClr val="0F2440"/>
                </a:solidFill>
                <a:latin typeface="Calibri" pitchFamily="34" charset="0"/>
                <a:ea typeface="Calibri" pitchFamily="34" charset="-122"/>
                <a:cs typeface="Calibri" pitchFamily="34" charset="-120"/>
              </a:rPr>
              <a:t>Iter 2</a:t>
            </a:r>
            <a:endParaRPr lang="en-US" sz="1100" dirty="0"/>
          </a:p>
        </p:txBody>
      </p:sp>
      <p:sp>
        <p:nvSpPr>
          <p:cNvPr id="28" name="Shape 26"/>
          <p:cNvSpPr/>
          <p:nvPr/>
        </p:nvSpPr>
        <p:spPr>
          <a:xfrm>
            <a:off x="2286000" y="2331720"/>
            <a:ext cx="1463040" cy="411480"/>
          </a:xfrm>
          <a:prstGeom prst="rect">
            <a:avLst/>
          </a:prstGeom>
          <a:solidFill>
            <a:srgbClr val="1E3A5F"/>
          </a:solidFill>
          <a:ln w="25400">
            <a:solidFill>
              <a:srgbClr val="FFFFFF"/>
            </a:solidFill>
            <a:prstDash val="solid"/>
          </a:ln>
        </p:spPr>
        <p:txBody>
          <a:bodyPr/>
          <a:lstStyle/>
          <a:p>
            <a:endParaRPr lang="en-GB"/>
          </a:p>
        </p:txBody>
      </p:sp>
      <p:sp>
        <p:nvSpPr>
          <p:cNvPr id="29" name="Text 27"/>
          <p:cNvSpPr/>
          <p:nvPr/>
        </p:nvSpPr>
        <p:spPr>
          <a:xfrm>
            <a:off x="2286000" y="233172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TRAIN</a:t>
            </a:r>
            <a:endParaRPr lang="en-US" sz="1000" dirty="0"/>
          </a:p>
        </p:txBody>
      </p:sp>
      <p:sp>
        <p:nvSpPr>
          <p:cNvPr id="30" name="Shape 28"/>
          <p:cNvSpPr/>
          <p:nvPr/>
        </p:nvSpPr>
        <p:spPr>
          <a:xfrm>
            <a:off x="3840480" y="2331720"/>
            <a:ext cx="1463040" cy="411480"/>
          </a:xfrm>
          <a:prstGeom prst="rect">
            <a:avLst/>
          </a:prstGeom>
          <a:solidFill>
            <a:srgbClr val="F77F00"/>
          </a:solidFill>
          <a:ln w="25400">
            <a:solidFill>
              <a:srgbClr val="FFFFFF"/>
            </a:solidFill>
            <a:prstDash val="solid"/>
          </a:ln>
        </p:spPr>
        <p:txBody>
          <a:bodyPr/>
          <a:lstStyle/>
          <a:p>
            <a:endParaRPr lang="en-GB"/>
          </a:p>
        </p:txBody>
      </p:sp>
      <p:sp>
        <p:nvSpPr>
          <p:cNvPr id="31" name="Text 29"/>
          <p:cNvSpPr/>
          <p:nvPr/>
        </p:nvSpPr>
        <p:spPr>
          <a:xfrm>
            <a:off x="3840480" y="233172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VAL</a:t>
            </a:r>
            <a:endParaRPr lang="en-US" sz="1000" dirty="0"/>
          </a:p>
        </p:txBody>
      </p:sp>
      <p:sp>
        <p:nvSpPr>
          <p:cNvPr id="32" name="Shape 30"/>
          <p:cNvSpPr/>
          <p:nvPr/>
        </p:nvSpPr>
        <p:spPr>
          <a:xfrm>
            <a:off x="5394960" y="2331720"/>
            <a:ext cx="1463040" cy="411480"/>
          </a:xfrm>
          <a:prstGeom prst="rect">
            <a:avLst/>
          </a:prstGeom>
          <a:solidFill>
            <a:srgbClr val="1E3A5F"/>
          </a:solidFill>
          <a:ln w="25400">
            <a:solidFill>
              <a:srgbClr val="FFFFFF"/>
            </a:solidFill>
            <a:prstDash val="solid"/>
          </a:ln>
        </p:spPr>
        <p:txBody>
          <a:bodyPr/>
          <a:lstStyle/>
          <a:p>
            <a:endParaRPr lang="en-GB"/>
          </a:p>
        </p:txBody>
      </p:sp>
      <p:sp>
        <p:nvSpPr>
          <p:cNvPr id="33" name="Text 31"/>
          <p:cNvSpPr/>
          <p:nvPr/>
        </p:nvSpPr>
        <p:spPr>
          <a:xfrm>
            <a:off x="5394960" y="233172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TRAIN</a:t>
            </a:r>
            <a:endParaRPr lang="en-US" sz="1000" dirty="0"/>
          </a:p>
        </p:txBody>
      </p:sp>
      <p:sp>
        <p:nvSpPr>
          <p:cNvPr id="34" name="Shape 32"/>
          <p:cNvSpPr/>
          <p:nvPr/>
        </p:nvSpPr>
        <p:spPr>
          <a:xfrm>
            <a:off x="6949440" y="2331720"/>
            <a:ext cx="1463040" cy="411480"/>
          </a:xfrm>
          <a:prstGeom prst="rect">
            <a:avLst/>
          </a:prstGeom>
          <a:solidFill>
            <a:srgbClr val="1E3A5F"/>
          </a:solidFill>
          <a:ln w="25400">
            <a:solidFill>
              <a:srgbClr val="FFFFFF"/>
            </a:solidFill>
            <a:prstDash val="solid"/>
          </a:ln>
        </p:spPr>
        <p:txBody>
          <a:bodyPr/>
          <a:lstStyle/>
          <a:p>
            <a:endParaRPr lang="en-GB"/>
          </a:p>
        </p:txBody>
      </p:sp>
      <p:sp>
        <p:nvSpPr>
          <p:cNvPr id="35" name="Text 33"/>
          <p:cNvSpPr/>
          <p:nvPr/>
        </p:nvSpPr>
        <p:spPr>
          <a:xfrm>
            <a:off x="6949440" y="233172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TRAIN</a:t>
            </a:r>
            <a:endParaRPr lang="en-US" sz="1000" dirty="0"/>
          </a:p>
        </p:txBody>
      </p:sp>
      <p:sp>
        <p:nvSpPr>
          <p:cNvPr id="36" name="Shape 34"/>
          <p:cNvSpPr/>
          <p:nvPr/>
        </p:nvSpPr>
        <p:spPr>
          <a:xfrm>
            <a:off x="8503920" y="2331720"/>
            <a:ext cx="1463040" cy="411480"/>
          </a:xfrm>
          <a:prstGeom prst="rect">
            <a:avLst/>
          </a:prstGeom>
          <a:solidFill>
            <a:srgbClr val="1E3A5F"/>
          </a:solidFill>
          <a:ln w="25400">
            <a:solidFill>
              <a:srgbClr val="FFFFFF"/>
            </a:solidFill>
            <a:prstDash val="solid"/>
          </a:ln>
        </p:spPr>
        <p:txBody>
          <a:bodyPr/>
          <a:lstStyle/>
          <a:p>
            <a:endParaRPr lang="en-GB"/>
          </a:p>
        </p:txBody>
      </p:sp>
      <p:sp>
        <p:nvSpPr>
          <p:cNvPr id="37" name="Text 35"/>
          <p:cNvSpPr/>
          <p:nvPr/>
        </p:nvSpPr>
        <p:spPr>
          <a:xfrm>
            <a:off x="8503920" y="233172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TRAIN</a:t>
            </a:r>
            <a:endParaRPr lang="en-US" sz="1000" dirty="0"/>
          </a:p>
        </p:txBody>
      </p:sp>
      <p:sp>
        <p:nvSpPr>
          <p:cNvPr id="38" name="Text 36"/>
          <p:cNvSpPr/>
          <p:nvPr/>
        </p:nvSpPr>
        <p:spPr>
          <a:xfrm>
            <a:off x="10149840" y="2423160"/>
            <a:ext cx="1371600" cy="274320"/>
          </a:xfrm>
          <a:prstGeom prst="rect">
            <a:avLst/>
          </a:prstGeom>
          <a:noFill/>
          <a:ln/>
        </p:spPr>
        <p:txBody>
          <a:bodyPr wrap="square" lIns="0" tIns="0" rIns="0" bIns="0" rtlCol="0" anchor="ctr"/>
          <a:lstStyle/>
          <a:p>
            <a:pPr marL="0" indent="0">
              <a:buNone/>
            </a:pPr>
            <a:r>
              <a:rPr lang="en-US" sz="1100" b="1" dirty="0">
                <a:solidFill>
                  <a:srgbClr val="06A77D"/>
                </a:solidFill>
                <a:latin typeface="Calibri" pitchFamily="34" charset="0"/>
                <a:ea typeface="Calibri" pitchFamily="34" charset="-122"/>
                <a:cs typeface="Calibri" pitchFamily="34" charset="-120"/>
              </a:rPr>
              <a:t>acc = 0.818</a:t>
            </a:r>
            <a:endParaRPr lang="en-US" sz="1100" dirty="0"/>
          </a:p>
        </p:txBody>
      </p:sp>
      <p:sp>
        <p:nvSpPr>
          <p:cNvPr id="39" name="Text 37"/>
          <p:cNvSpPr/>
          <p:nvPr/>
        </p:nvSpPr>
        <p:spPr>
          <a:xfrm>
            <a:off x="1188720" y="2926080"/>
            <a:ext cx="914400" cy="274320"/>
          </a:xfrm>
          <a:prstGeom prst="rect">
            <a:avLst/>
          </a:prstGeom>
          <a:noFill/>
          <a:ln/>
        </p:spPr>
        <p:txBody>
          <a:bodyPr wrap="square" lIns="0" tIns="0" rIns="0" bIns="0" rtlCol="0" anchor="ctr"/>
          <a:lstStyle/>
          <a:p>
            <a:pPr marL="0" indent="0" algn="r">
              <a:buNone/>
            </a:pPr>
            <a:r>
              <a:rPr lang="en-US" sz="1100" b="1" dirty="0">
                <a:solidFill>
                  <a:srgbClr val="0F2440"/>
                </a:solidFill>
                <a:latin typeface="Calibri" pitchFamily="34" charset="0"/>
                <a:ea typeface="Calibri" pitchFamily="34" charset="-122"/>
                <a:cs typeface="Calibri" pitchFamily="34" charset="-120"/>
              </a:rPr>
              <a:t>Iter 3</a:t>
            </a:r>
            <a:endParaRPr lang="en-US" sz="1100" dirty="0"/>
          </a:p>
        </p:txBody>
      </p:sp>
      <p:sp>
        <p:nvSpPr>
          <p:cNvPr id="40" name="Shape 38"/>
          <p:cNvSpPr/>
          <p:nvPr/>
        </p:nvSpPr>
        <p:spPr>
          <a:xfrm>
            <a:off x="2286000" y="2834640"/>
            <a:ext cx="1463040" cy="411480"/>
          </a:xfrm>
          <a:prstGeom prst="rect">
            <a:avLst/>
          </a:prstGeom>
          <a:solidFill>
            <a:srgbClr val="1E3A5F"/>
          </a:solidFill>
          <a:ln w="25400">
            <a:solidFill>
              <a:srgbClr val="FFFFFF"/>
            </a:solidFill>
            <a:prstDash val="solid"/>
          </a:ln>
        </p:spPr>
        <p:txBody>
          <a:bodyPr/>
          <a:lstStyle/>
          <a:p>
            <a:endParaRPr lang="en-GB"/>
          </a:p>
        </p:txBody>
      </p:sp>
      <p:sp>
        <p:nvSpPr>
          <p:cNvPr id="41" name="Text 39"/>
          <p:cNvSpPr/>
          <p:nvPr/>
        </p:nvSpPr>
        <p:spPr>
          <a:xfrm>
            <a:off x="2286000" y="283464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TRAIN</a:t>
            </a:r>
            <a:endParaRPr lang="en-US" sz="1000" dirty="0"/>
          </a:p>
        </p:txBody>
      </p:sp>
      <p:sp>
        <p:nvSpPr>
          <p:cNvPr id="42" name="Shape 40"/>
          <p:cNvSpPr/>
          <p:nvPr/>
        </p:nvSpPr>
        <p:spPr>
          <a:xfrm>
            <a:off x="3840480" y="2834640"/>
            <a:ext cx="1463040" cy="411480"/>
          </a:xfrm>
          <a:prstGeom prst="rect">
            <a:avLst/>
          </a:prstGeom>
          <a:solidFill>
            <a:srgbClr val="1E3A5F"/>
          </a:solidFill>
          <a:ln w="25400">
            <a:solidFill>
              <a:srgbClr val="FFFFFF"/>
            </a:solidFill>
            <a:prstDash val="solid"/>
          </a:ln>
        </p:spPr>
        <p:txBody>
          <a:bodyPr/>
          <a:lstStyle/>
          <a:p>
            <a:endParaRPr lang="en-GB"/>
          </a:p>
        </p:txBody>
      </p:sp>
      <p:sp>
        <p:nvSpPr>
          <p:cNvPr id="43" name="Text 41"/>
          <p:cNvSpPr/>
          <p:nvPr/>
        </p:nvSpPr>
        <p:spPr>
          <a:xfrm>
            <a:off x="3840480" y="283464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TRAIN</a:t>
            </a:r>
            <a:endParaRPr lang="en-US" sz="1000" dirty="0"/>
          </a:p>
        </p:txBody>
      </p:sp>
      <p:sp>
        <p:nvSpPr>
          <p:cNvPr id="44" name="Shape 42"/>
          <p:cNvSpPr/>
          <p:nvPr/>
        </p:nvSpPr>
        <p:spPr>
          <a:xfrm>
            <a:off x="5394960" y="2834640"/>
            <a:ext cx="1463040" cy="411480"/>
          </a:xfrm>
          <a:prstGeom prst="rect">
            <a:avLst/>
          </a:prstGeom>
          <a:solidFill>
            <a:srgbClr val="F77F00"/>
          </a:solidFill>
          <a:ln w="25400">
            <a:solidFill>
              <a:srgbClr val="FFFFFF"/>
            </a:solidFill>
            <a:prstDash val="solid"/>
          </a:ln>
        </p:spPr>
        <p:txBody>
          <a:bodyPr/>
          <a:lstStyle/>
          <a:p>
            <a:endParaRPr lang="en-GB"/>
          </a:p>
        </p:txBody>
      </p:sp>
      <p:sp>
        <p:nvSpPr>
          <p:cNvPr id="45" name="Text 43"/>
          <p:cNvSpPr/>
          <p:nvPr/>
        </p:nvSpPr>
        <p:spPr>
          <a:xfrm>
            <a:off x="5394960" y="283464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VAL</a:t>
            </a:r>
            <a:endParaRPr lang="en-US" sz="1000" dirty="0"/>
          </a:p>
        </p:txBody>
      </p:sp>
      <p:sp>
        <p:nvSpPr>
          <p:cNvPr id="46" name="Shape 44"/>
          <p:cNvSpPr/>
          <p:nvPr/>
        </p:nvSpPr>
        <p:spPr>
          <a:xfrm>
            <a:off x="6949440" y="2834640"/>
            <a:ext cx="1463040" cy="411480"/>
          </a:xfrm>
          <a:prstGeom prst="rect">
            <a:avLst/>
          </a:prstGeom>
          <a:solidFill>
            <a:srgbClr val="1E3A5F"/>
          </a:solidFill>
          <a:ln w="25400">
            <a:solidFill>
              <a:srgbClr val="FFFFFF"/>
            </a:solidFill>
            <a:prstDash val="solid"/>
          </a:ln>
        </p:spPr>
        <p:txBody>
          <a:bodyPr/>
          <a:lstStyle/>
          <a:p>
            <a:endParaRPr lang="en-GB"/>
          </a:p>
        </p:txBody>
      </p:sp>
      <p:sp>
        <p:nvSpPr>
          <p:cNvPr id="47" name="Text 45"/>
          <p:cNvSpPr/>
          <p:nvPr/>
        </p:nvSpPr>
        <p:spPr>
          <a:xfrm>
            <a:off x="6949440" y="283464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TRAIN</a:t>
            </a:r>
            <a:endParaRPr lang="en-US" sz="1000" dirty="0"/>
          </a:p>
        </p:txBody>
      </p:sp>
      <p:sp>
        <p:nvSpPr>
          <p:cNvPr id="48" name="Shape 46"/>
          <p:cNvSpPr/>
          <p:nvPr/>
        </p:nvSpPr>
        <p:spPr>
          <a:xfrm>
            <a:off x="8503920" y="2834640"/>
            <a:ext cx="1463040" cy="411480"/>
          </a:xfrm>
          <a:prstGeom prst="rect">
            <a:avLst/>
          </a:prstGeom>
          <a:solidFill>
            <a:srgbClr val="1E3A5F"/>
          </a:solidFill>
          <a:ln w="25400">
            <a:solidFill>
              <a:srgbClr val="FFFFFF"/>
            </a:solidFill>
            <a:prstDash val="solid"/>
          </a:ln>
        </p:spPr>
        <p:txBody>
          <a:bodyPr/>
          <a:lstStyle/>
          <a:p>
            <a:endParaRPr lang="en-GB"/>
          </a:p>
        </p:txBody>
      </p:sp>
      <p:sp>
        <p:nvSpPr>
          <p:cNvPr id="49" name="Text 47"/>
          <p:cNvSpPr/>
          <p:nvPr/>
        </p:nvSpPr>
        <p:spPr>
          <a:xfrm>
            <a:off x="8503920" y="283464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TRAIN</a:t>
            </a:r>
            <a:endParaRPr lang="en-US" sz="1000" dirty="0"/>
          </a:p>
        </p:txBody>
      </p:sp>
      <p:sp>
        <p:nvSpPr>
          <p:cNvPr id="50" name="Text 48"/>
          <p:cNvSpPr/>
          <p:nvPr/>
        </p:nvSpPr>
        <p:spPr>
          <a:xfrm>
            <a:off x="10149840" y="2926080"/>
            <a:ext cx="1371600" cy="274320"/>
          </a:xfrm>
          <a:prstGeom prst="rect">
            <a:avLst/>
          </a:prstGeom>
          <a:noFill/>
          <a:ln/>
        </p:spPr>
        <p:txBody>
          <a:bodyPr wrap="square" lIns="0" tIns="0" rIns="0" bIns="0" rtlCol="0" anchor="ctr"/>
          <a:lstStyle/>
          <a:p>
            <a:pPr marL="0" indent="0">
              <a:buNone/>
            </a:pPr>
            <a:r>
              <a:rPr lang="en-US" sz="1100" b="1" dirty="0">
                <a:solidFill>
                  <a:srgbClr val="06A77D"/>
                </a:solidFill>
                <a:latin typeface="Calibri" pitchFamily="34" charset="0"/>
                <a:ea typeface="Calibri" pitchFamily="34" charset="-122"/>
                <a:cs typeface="Calibri" pitchFamily="34" charset="-120"/>
              </a:rPr>
              <a:t>acc = 0.800</a:t>
            </a:r>
            <a:endParaRPr lang="en-US" sz="1100" dirty="0"/>
          </a:p>
        </p:txBody>
      </p:sp>
      <p:sp>
        <p:nvSpPr>
          <p:cNvPr id="51" name="Text 49"/>
          <p:cNvSpPr/>
          <p:nvPr/>
        </p:nvSpPr>
        <p:spPr>
          <a:xfrm>
            <a:off x="1188720" y="3429000"/>
            <a:ext cx="914400" cy="274320"/>
          </a:xfrm>
          <a:prstGeom prst="rect">
            <a:avLst/>
          </a:prstGeom>
          <a:noFill/>
          <a:ln/>
        </p:spPr>
        <p:txBody>
          <a:bodyPr wrap="square" lIns="0" tIns="0" rIns="0" bIns="0" rtlCol="0" anchor="ctr"/>
          <a:lstStyle/>
          <a:p>
            <a:pPr marL="0" indent="0" algn="r">
              <a:buNone/>
            </a:pPr>
            <a:r>
              <a:rPr lang="en-US" sz="1100" b="1" dirty="0">
                <a:solidFill>
                  <a:srgbClr val="0F2440"/>
                </a:solidFill>
                <a:latin typeface="Calibri" pitchFamily="34" charset="0"/>
                <a:ea typeface="Calibri" pitchFamily="34" charset="-122"/>
                <a:cs typeface="Calibri" pitchFamily="34" charset="-120"/>
              </a:rPr>
              <a:t>Iter 4</a:t>
            </a:r>
            <a:endParaRPr lang="en-US" sz="1100" dirty="0"/>
          </a:p>
        </p:txBody>
      </p:sp>
      <p:sp>
        <p:nvSpPr>
          <p:cNvPr id="52" name="Shape 50"/>
          <p:cNvSpPr/>
          <p:nvPr/>
        </p:nvSpPr>
        <p:spPr>
          <a:xfrm>
            <a:off x="2286000" y="3337560"/>
            <a:ext cx="1463040" cy="411480"/>
          </a:xfrm>
          <a:prstGeom prst="rect">
            <a:avLst/>
          </a:prstGeom>
          <a:solidFill>
            <a:srgbClr val="1E3A5F"/>
          </a:solidFill>
          <a:ln w="25400">
            <a:solidFill>
              <a:srgbClr val="FFFFFF"/>
            </a:solidFill>
            <a:prstDash val="solid"/>
          </a:ln>
        </p:spPr>
        <p:txBody>
          <a:bodyPr/>
          <a:lstStyle/>
          <a:p>
            <a:endParaRPr lang="en-GB"/>
          </a:p>
        </p:txBody>
      </p:sp>
      <p:sp>
        <p:nvSpPr>
          <p:cNvPr id="53" name="Text 51"/>
          <p:cNvSpPr/>
          <p:nvPr/>
        </p:nvSpPr>
        <p:spPr>
          <a:xfrm>
            <a:off x="2286000" y="333756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TRAIN</a:t>
            </a:r>
            <a:endParaRPr lang="en-US" sz="1000" dirty="0"/>
          </a:p>
        </p:txBody>
      </p:sp>
      <p:sp>
        <p:nvSpPr>
          <p:cNvPr id="54" name="Shape 52"/>
          <p:cNvSpPr/>
          <p:nvPr/>
        </p:nvSpPr>
        <p:spPr>
          <a:xfrm>
            <a:off x="3840480" y="3337560"/>
            <a:ext cx="1463040" cy="411480"/>
          </a:xfrm>
          <a:prstGeom prst="rect">
            <a:avLst/>
          </a:prstGeom>
          <a:solidFill>
            <a:srgbClr val="1E3A5F"/>
          </a:solidFill>
          <a:ln w="25400">
            <a:solidFill>
              <a:srgbClr val="FFFFFF"/>
            </a:solidFill>
            <a:prstDash val="solid"/>
          </a:ln>
        </p:spPr>
        <p:txBody>
          <a:bodyPr/>
          <a:lstStyle/>
          <a:p>
            <a:endParaRPr lang="en-GB"/>
          </a:p>
        </p:txBody>
      </p:sp>
      <p:sp>
        <p:nvSpPr>
          <p:cNvPr id="55" name="Text 53"/>
          <p:cNvSpPr/>
          <p:nvPr/>
        </p:nvSpPr>
        <p:spPr>
          <a:xfrm>
            <a:off x="3840480" y="333756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TRAIN</a:t>
            </a:r>
            <a:endParaRPr lang="en-US" sz="1000" dirty="0"/>
          </a:p>
        </p:txBody>
      </p:sp>
      <p:sp>
        <p:nvSpPr>
          <p:cNvPr id="56" name="Shape 54"/>
          <p:cNvSpPr/>
          <p:nvPr/>
        </p:nvSpPr>
        <p:spPr>
          <a:xfrm>
            <a:off x="5394960" y="3337560"/>
            <a:ext cx="1463040" cy="411480"/>
          </a:xfrm>
          <a:prstGeom prst="rect">
            <a:avLst/>
          </a:prstGeom>
          <a:solidFill>
            <a:srgbClr val="1E3A5F"/>
          </a:solidFill>
          <a:ln w="25400">
            <a:solidFill>
              <a:srgbClr val="FFFFFF"/>
            </a:solidFill>
            <a:prstDash val="solid"/>
          </a:ln>
        </p:spPr>
        <p:txBody>
          <a:bodyPr/>
          <a:lstStyle/>
          <a:p>
            <a:endParaRPr lang="en-GB"/>
          </a:p>
        </p:txBody>
      </p:sp>
      <p:sp>
        <p:nvSpPr>
          <p:cNvPr id="57" name="Text 55"/>
          <p:cNvSpPr/>
          <p:nvPr/>
        </p:nvSpPr>
        <p:spPr>
          <a:xfrm>
            <a:off x="5394960" y="333756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TRAIN</a:t>
            </a:r>
            <a:endParaRPr lang="en-US" sz="1000" dirty="0"/>
          </a:p>
        </p:txBody>
      </p:sp>
      <p:sp>
        <p:nvSpPr>
          <p:cNvPr id="58" name="Shape 56"/>
          <p:cNvSpPr/>
          <p:nvPr/>
        </p:nvSpPr>
        <p:spPr>
          <a:xfrm>
            <a:off x="6949440" y="3337560"/>
            <a:ext cx="1463040" cy="411480"/>
          </a:xfrm>
          <a:prstGeom prst="rect">
            <a:avLst/>
          </a:prstGeom>
          <a:solidFill>
            <a:srgbClr val="F77F00"/>
          </a:solidFill>
          <a:ln w="25400">
            <a:solidFill>
              <a:srgbClr val="FFFFFF"/>
            </a:solidFill>
            <a:prstDash val="solid"/>
          </a:ln>
        </p:spPr>
        <p:txBody>
          <a:bodyPr/>
          <a:lstStyle/>
          <a:p>
            <a:endParaRPr lang="en-GB"/>
          </a:p>
        </p:txBody>
      </p:sp>
      <p:sp>
        <p:nvSpPr>
          <p:cNvPr id="59" name="Text 57"/>
          <p:cNvSpPr/>
          <p:nvPr/>
        </p:nvSpPr>
        <p:spPr>
          <a:xfrm>
            <a:off x="6949440" y="333756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VAL</a:t>
            </a:r>
            <a:endParaRPr lang="en-US" sz="1000" dirty="0"/>
          </a:p>
        </p:txBody>
      </p:sp>
      <p:sp>
        <p:nvSpPr>
          <p:cNvPr id="60" name="Shape 58"/>
          <p:cNvSpPr/>
          <p:nvPr/>
        </p:nvSpPr>
        <p:spPr>
          <a:xfrm>
            <a:off x="8503920" y="3337560"/>
            <a:ext cx="1463040" cy="411480"/>
          </a:xfrm>
          <a:prstGeom prst="rect">
            <a:avLst/>
          </a:prstGeom>
          <a:solidFill>
            <a:srgbClr val="1E3A5F"/>
          </a:solidFill>
          <a:ln w="25400">
            <a:solidFill>
              <a:srgbClr val="FFFFFF"/>
            </a:solidFill>
            <a:prstDash val="solid"/>
          </a:ln>
        </p:spPr>
        <p:txBody>
          <a:bodyPr/>
          <a:lstStyle/>
          <a:p>
            <a:endParaRPr lang="en-GB"/>
          </a:p>
        </p:txBody>
      </p:sp>
      <p:sp>
        <p:nvSpPr>
          <p:cNvPr id="61" name="Text 59"/>
          <p:cNvSpPr/>
          <p:nvPr/>
        </p:nvSpPr>
        <p:spPr>
          <a:xfrm>
            <a:off x="8503920" y="333756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TRAIN</a:t>
            </a:r>
            <a:endParaRPr lang="en-US" sz="1000" dirty="0"/>
          </a:p>
        </p:txBody>
      </p:sp>
      <p:sp>
        <p:nvSpPr>
          <p:cNvPr id="62" name="Text 60"/>
          <p:cNvSpPr/>
          <p:nvPr/>
        </p:nvSpPr>
        <p:spPr>
          <a:xfrm>
            <a:off x="10149840" y="3429000"/>
            <a:ext cx="1371600" cy="274320"/>
          </a:xfrm>
          <a:prstGeom prst="rect">
            <a:avLst/>
          </a:prstGeom>
          <a:noFill/>
          <a:ln/>
        </p:spPr>
        <p:txBody>
          <a:bodyPr wrap="square" lIns="0" tIns="0" rIns="0" bIns="0" rtlCol="0" anchor="ctr"/>
          <a:lstStyle/>
          <a:p>
            <a:pPr marL="0" indent="0">
              <a:buNone/>
            </a:pPr>
            <a:r>
              <a:rPr lang="en-US" sz="1100" b="1" dirty="0">
                <a:solidFill>
                  <a:srgbClr val="06A77D"/>
                </a:solidFill>
                <a:latin typeface="Calibri" pitchFamily="34" charset="0"/>
                <a:ea typeface="Calibri" pitchFamily="34" charset="-122"/>
                <a:cs typeface="Calibri" pitchFamily="34" charset="-120"/>
              </a:rPr>
              <a:t>acc = 0.806</a:t>
            </a:r>
            <a:endParaRPr lang="en-US" sz="1100" dirty="0"/>
          </a:p>
        </p:txBody>
      </p:sp>
      <p:sp>
        <p:nvSpPr>
          <p:cNvPr id="63" name="Text 61"/>
          <p:cNvSpPr/>
          <p:nvPr/>
        </p:nvSpPr>
        <p:spPr>
          <a:xfrm>
            <a:off x="1188720" y="3931920"/>
            <a:ext cx="914400" cy="274320"/>
          </a:xfrm>
          <a:prstGeom prst="rect">
            <a:avLst/>
          </a:prstGeom>
          <a:noFill/>
          <a:ln/>
        </p:spPr>
        <p:txBody>
          <a:bodyPr wrap="square" lIns="0" tIns="0" rIns="0" bIns="0" rtlCol="0" anchor="ctr"/>
          <a:lstStyle/>
          <a:p>
            <a:pPr marL="0" indent="0" algn="r">
              <a:buNone/>
            </a:pPr>
            <a:r>
              <a:rPr lang="en-US" sz="1100" b="1" dirty="0">
                <a:solidFill>
                  <a:srgbClr val="0F2440"/>
                </a:solidFill>
                <a:latin typeface="Calibri" pitchFamily="34" charset="0"/>
                <a:ea typeface="Calibri" pitchFamily="34" charset="-122"/>
                <a:cs typeface="Calibri" pitchFamily="34" charset="-120"/>
              </a:rPr>
              <a:t>Iter 5</a:t>
            </a:r>
            <a:endParaRPr lang="en-US" sz="1100" dirty="0"/>
          </a:p>
        </p:txBody>
      </p:sp>
      <p:sp>
        <p:nvSpPr>
          <p:cNvPr id="64" name="Shape 62"/>
          <p:cNvSpPr/>
          <p:nvPr/>
        </p:nvSpPr>
        <p:spPr>
          <a:xfrm>
            <a:off x="2286000" y="3840480"/>
            <a:ext cx="1463040" cy="411480"/>
          </a:xfrm>
          <a:prstGeom prst="rect">
            <a:avLst/>
          </a:prstGeom>
          <a:solidFill>
            <a:srgbClr val="1E3A5F"/>
          </a:solidFill>
          <a:ln w="25400">
            <a:solidFill>
              <a:srgbClr val="FFFFFF"/>
            </a:solidFill>
            <a:prstDash val="solid"/>
          </a:ln>
        </p:spPr>
        <p:txBody>
          <a:bodyPr/>
          <a:lstStyle/>
          <a:p>
            <a:endParaRPr lang="en-GB"/>
          </a:p>
        </p:txBody>
      </p:sp>
      <p:sp>
        <p:nvSpPr>
          <p:cNvPr id="65" name="Text 63"/>
          <p:cNvSpPr/>
          <p:nvPr/>
        </p:nvSpPr>
        <p:spPr>
          <a:xfrm>
            <a:off x="2286000" y="384048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TRAIN</a:t>
            </a:r>
            <a:endParaRPr lang="en-US" sz="1000" dirty="0"/>
          </a:p>
        </p:txBody>
      </p:sp>
      <p:sp>
        <p:nvSpPr>
          <p:cNvPr id="66" name="Shape 64"/>
          <p:cNvSpPr/>
          <p:nvPr/>
        </p:nvSpPr>
        <p:spPr>
          <a:xfrm>
            <a:off x="3840480" y="3840480"/>
            <a:ext cx="1463040" cy="411480"/>
          </a:xfrm>
          <a:prstGeom prst="rect">
            <a:avLst/>
          </a:prstGeom>
          <a:solidFill>
            <a:srgbClr val="1E3A5F"/>
          </a:solidFill>
          <a:ln w="25400">
            <a:solidFill>
              <a:srgbClr val="FFFFFF"/>
            </a:solidFill>
            <a:prstDash val="solid"/>
          </a:ln>
        </p:spPr>
        <p:txBody>
          <a:bodyPr/>
          <a:lstStyle/>
          <a:p>
            <a:endParaRPr lang="en-GB"/>
          </a:p>
        </p:txBody>
      </p:sp>
      <p:sp>
        <p:nvSpPr>
          <p:cNvPr id="67" name="Text 65"/>
          <p:cNvSpPr/>
          <p:nvPr/>
        </p:nvSpPr>
        <p:spPr>
          <a:xfrm>
            <a:off x="3840480" y="384048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TRAIN</a:t>
            </a:r>
            <a:endParaRPr lang="en-US" sz="1000" dirty="0"/>
          </a:p>
        </p:txBody>
      </p:sp>
      <p:sp>
        <p:nvSpPr>
          <p:cNvPr id="68" name="Shape 66"/>
          <p:cNvSpPr/>
          <p:nvPr/>
        </p:nvSpPr>
        <p:spPr>
          <a:xfrm>
            <a:off x="5394960" y="3840480"/>
            <a:ext cx="1463040" cy="411480"/>
          </a:xfrm>
          <a:prstGeom prst="rect">
            <a:avLst/>
          </a:prstGeom>
          <a:solidFill>
            <a:srgbClr val="1E3A5F"/>
          </a:solidFill>
          <a:ln w="25400">
            <a:solidFill>
              <a:srgbClr val="FFFFFF"/>
            </a:solidFill>
            <a:prstDash val="solid"/>
          </a:ln>
        </p:spPr>
        <p:txBody>
          <a:bodyPr/>
          <a:lstStyle/>
          <a:p>
            <a:endParaRPr lang="en-GB"/>
          </a:p>
        </p:txBody>
      </p:sp>
      <p:sp>
        <p:nvSpPr>
          <p:cNvPr id="69" name="Text 67"/>
          <p:cNvSpPr/>
          <p:nvPr/>
        </p:nvSpPr>
        <p:spPr>
          <a:xfrm>
            <a:off x="5394960" y="384048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TRAIN</a:t>
            </a:r>
            <a:endParaRPr lang="en-US" sz="1000" dirty="0"/>
          </a:p>
        </p:txBody>
      </p:sp>
      <p:sp>
        <p:nvSpPr>
          <p:cNvPr id="70" name="Shape 68"/>
          <p:cNvSpPr/>
          <p:nvPr/>
        </p:nvSpPr>
        <p:spPr>
          <a:xfrm>
            <a:off x="6949440" y="3840480"/>
            <a:ext cx="1463040" cy="411480"/>
          </a:xfrm>
          <a:prstGeom prst="rect">
            <a:avLst/>
          </a:prstGeom>
          <a:solidFill>
            <a:srgbClr val="1E3A5F"/>
          </a:solidFill>
          <a:ln w="25400">
            <a:solidFill>
              <a:srgbClr val="FFFFFF"/>
            </a:solidFill>
            <a:prstDash val="solid"/>
          </a:ln>
        </p:spPr>
        <p:txBody>
          <a:bodyPr/>
          <a:lstStyle/>
          <a:p>
            <a:endParaRPr lang="en-GB"/>
          </a:p>
        </p:txBody>
      </p:sp>
      <p:sp>
        <p:nvSpPr>
          <p:cNvPr id="71" name="Text 69"/>
          <p:cNvSpPr/>
          <p:nvPr/>
        </p:nvSpPr>
        <p:spPr>
          <a:xfrm>
            <a:off x="6949440" y="384048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TRAIN</a:t>
            </a:r>
            <a:endParaRPr lang="en-US" sz="1000" dirty="0"/>
          </a:p>
        </p:txBody>
      </p:sp>
      <p:sp>
        <p:nvSpPr>
          <p:cNvPr id="72" name="Shape 70"/>
          <p:cNvSpPr/>
          <p:nvPr/>
        </p:nvSpPr>
        <p:spPr>
          <a:xfrm>
            <a:off x="8503920" y="3840480"/>
            <a:ext cx="1463040" cy="411480"/>
          </a:xfrm>
          <a:prstGeom prst="rect">
            <a:avLst/>
          </a:prstGeom>
          <a:solidFill>
            <a:srgbClr val="F77F00"/>
          </a:solidFill>
          <a:ln w="25400">
            <a:solidFill>
              <a:srgbClr val="FFFFFF"/>
            </a:solidFill>
            <a:prstDash val="solid"/>
          </a:ln>
        </p:spPr>
        <p:txBody>
          <a:bodyPr/>
          <a:lstStyle/>
          <a:p>
            <a:endParaRPr lang="en-GB"/>
          </a:p>
        </p:txBody>
      </p:sp>
      <p:sp>
        <p:nvSpPr>
          <p:cNvPr id="73" name="Text 71"/>
          <p:cNvSpPr/>
          <p:nvPr/>
        </p:nvSpPr>
        <p:spPr>
          <a:xfrm>
            <a:off x="8503920" y="384048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VAL</a:t>
            </a:r>
            <a:endParaRPr lang="en-US" sz="1000" dirty="0"/>
          </a:p>
        </p:txBody>
      </p:sp>
      <p:sp>
        <p:nvSpPr>
          <p:cNvPr id="74" name="Text 72"/>
          <p:cNvSpPr/>
          <p:nvPr/>
        </p:nvSpPr>
        <p:spPr>
          <a:xfrm>
            <a:off x="10149840" y="3931920"/>
            <a:ext cx="1371600" cy="274320"/>
          </a:xfrm>
          <a:prstGeom prst="rect">
            <a:avLst/>
          </a:prstGeom>
          <a:noFill/>
          <a:ln/>
        </p:spPr>
        <p:txBody>
          <a:bodyPr wrap="square" lIns="0" tIns="0" rIns="0" bIns="0" rtlCol="0" anchor="ctr"/>
          <a:lstStyle/>
          <a:p>
            <a:pPr marL="0" indent="0">
              <a:buNone/>
            </a:pPr>
            <a:r>
              <a:rPr lang="en-US" sz="1100" b="1" dirty="0">
                <a:solidFill>
                  <a:srgbClr val="06A77D"/>
                </a:solidFill>
                <a:latin typeface="Calibri" pitchFamily="34" charset="0"/>
                <a:ea typeface="Calibri" pitchFamily="34" charset="-122"/>
                <a:cs typeface="Calibri" pitchFamily="34" charset="-120"/>
              </a:rPr>
              <a:t>acc = 0.818</a:t>
            </a:r>
            <a:endParaRPr lang="en-US" sz="1100" dirty="0"/>
          </a:p>
        </p:txBody>
      </p:sp>
      <p:sp>
        <p:nvSpPr>
          <p:cNvPr id="75" name="Shape 73"/>
          <p:cNvSpPr/>
          <p:nvPr/>
        </p:nvSpPr>
        <p:spPr>
          <a:xfrm>
            <a:off x="548640" y="4937760"/>
            <a:ext cx="11064240" cy="640080"/>
          </a:xfrm>
          <a:prstGeom prst="rect">
            <a:avLst/>
          </a:prstGeom>
          <a:solidFill>
            <a:srgbClr val="E7F1FB"/>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76" name="Text 74"/>
          <p:cNvSpPr/>
          <p:nvPr/>
        </p:nvSpPr>
        <p:spPr>
          <a:xfrm>
            <a:off x="777240" y="5029200"/>
            <a:ext cx="10607040" cy="457200"/>
          </a:xfrm>
          <a:prstGeom prst="rect">
            <a:avLst/>
          </a:prstGeom>
          <a:noFill/>
          <a:ln/>
        </p:spPr>
        <p:txBody>
          <a:bodyPr wrap="square" lIns="0" tIns="0" rIns="0" bIns="0" rtlCol="0" anchor="ctr"/>
          <a:lstStyle/>
          <a:p>
            <a:pPr marL="0" indent="0">
              <a:buNone/>
            </a:pPr>
            <a:r>
              <a:rPr lang="en-US" sz="1600" b="1" dirty="0">
                <a:solidFill>
                  <a:srgbClr val="0F2440"/>
                </a:solidFill>
                <a:latin typeface="Calibri" pitchFamily="34" charset="0"/>
                <a:ea typeface="Calibri" pitchFamily="34" charset="-122"/>
                <a:cs typeface="Calibri" pitchFamily="34" charset="-120"/>
              </a:rPr>
              <a:t>Final score = mean ± std of 5 fold accuracies   →   0.812 ± 0.013</a:t>
            </a:r>
            <a:endParaRPr lang="en-US" sz="1600" dirty="0"/>
          </a:p>
        </p:txBody>
      </p:sp>
      <p:sp>
        <p:nvSpPr>
          <p:cNvPr id="77" name="Shape 75"/>
          <p:cNvSpPr/>
          <p:nvPr/>
        </p:nvSpPr>
        <p:spPr>
          <a:xfrm>
            <a:off x="548640" y="5715000"/>
            <a:ext cx="11064240" cy="77724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78" name="Text 76"/>
          <p:cNvSpPr/>
          <p:nvPr/>
        </p:nvSpPr>
        <p:spPr>
          <a:xfrm>
            <a:off x="777240" y="5852160"/>
            <a:ext cx="10607040" cy="50292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Use </a:t>
            </a:r>
            <a:r>
              <a:rPr lang="en-US" sz="1200" b="1" dirty="0">
                <a:solidFill>
                  <a:srgbClr val="F77F00"/>
                </a:solidFill>
                <a:latin typeface="Consolas" pitchFamily="34" charset="0"/>
                <a:ea typeface="Consolas" pitchFamily="34" charset="-122"/>
                <a:cs typeface="Consolas" pitchFamily="34" charset="-120"/>
              </a:rPr>
              <a:t>StratifiedKFold </a:t>
            </a:r>
            <a:r>
              <a:rPr lang="en-US" sz="1200" dirty="0">
                <a:solidFill>
                  <a:srgbClr val="212529"/>
                </a:solidFill>
                <a:latin typeface="Calibri" pitchFamily="34" charset="0"/>
                <a:ea typeface="Calibri" pitchFamily="34" charset="-122"/>
                <a:cs typeface="Calibri" pitchFamily="34" charset="-120"/>
              </a:rPr>
              <a:t>when classes are imbalanced — it preserves class proportions in every fold.</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1E3A5F"/>
          </a:solidFill>
          <a:ln w="12700">
            <a:solidFill>
              <a:srgbClr val="1E3A5F"/>
            </a:solidFill>
            <a:prstDash val="solid"/>
          </a:ln>
        </p:spPr>
        <p:txBody>
          <a:bodyPr/>
          <a:lstStyle/>
          <a:p>
            <a:endParaRPr lang="en-GB"/>
          </a:p>
        </p:txBody>
      </p:sp>
      <p:sp>
        <p:nvSpPr>
          <p:cNvPr id="3" name="Shape 1"/>
          <p:cNvSpPr/>
          <p:nvPr/>
        </p:nvSpPr>
        <p:spPr>
          <a:xfrm>
            <a:off x="0" y="0"/>
            <a:ext cx="2377440" cy="164592"/>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457200" y="292608"/>
            <a:ext cx="10972800" cy="320040"/>
          </a:xfrm>
          <a:prstGeom prst="rect">
            <a:avLst/>
          </a:prstGeom>
          <a:noFill/>
          <a:ln/>
        </p:spPr>
        <p:txBody>
          <a:bodyPr wrap="square" rtlCol="0" anchor="ctr"/>
          <a:lstStyle/>
          <a:p>
            <a:pPr marL="0" indent="0">
              <a:buNone/>
            </a:pPr>
            <a:r>
              <a:rPr lang="en-US" sz="1100" b="1" kern="0" spc="400" dirty="0">
                <a:solidFill>
                  <a:srgbClr val="F77F00"/>
                </a:solidFill>
                <a:latin typeface="Calibri" pitchFamily="34" charset="0"/>
                <a:ea typeface="Calibri" pitchFamily="34" charset="-122"/>
                <a:cs typeface="Calibri" pitchFamily="34" charset="-120"/>
              </a:rPr>
              <a:t>FROM HOURS OF WORK TO 3 LINES</a:t>
            </a:r>
            <a:endParaRPr lang="en-US" sz="1100" dirty="0"/>
          </a:p>
        </p:txBody>
      </p:sp>
      <p:sp>
        <p:nvSpPr>
          <p:cNvPr id="5" name="Text 3"/>
          <p:cNvSpPr/>
          <p:nvPr/>
        </p:nvSpPr>
        <p:spPr>
          <a:xfrm>
            <a:off x="457200" y="594360"/>
            <a:ext cx="11247120" cy="777240"/>
          </a:xfrm>
          <a:prstGeom prst="rect">
            <a:avLst/>
          </a:prstGeom>
          <a:noFill/>
          <a:ln/>
        </p:spPr>
        <p:txBody>
          <a:bodyPr wrap="square" lIns="0" tIns="0" rIns="0" bIns="0" rtlCol="0" anchor="ctr"/>
          <a:lstStyle/>
          <a:p>
            <a:pPr marL="0" indent="0">
              <a:buNone/>
            </a:pPr>
            <a:r>
              <a:rPr lang="en-US" sz="3000" b="1" dirty="0">
                <a:solidFill>
                  <a:srgbClr val="0F2440"/>
                </a:solidFill>
                <a:latin typeface="Calibri" pitchFamily="34" charset="0"/>
                <a:ea typeface="Calibri" pitchFamily="34" charset="-122"/>
                <a:cs typeface="Calibri" pitchFamily="34" charset="-120"/>
              </a:rPr>
              <a:t>Code · cross_val_score</a:t>
            </a:r>
            <a:endParaRPr lang="en-US" sz="3000" dirty="0"/>
          </a:p>
        </p:txBody>
      </p:sp>
      <p:sp>
        <p:nvSpPr>
          <p:cNvPr id="6" name="Shape 4"/>
          <p:cNvSpPr/>
          <p:nvPr/>
        </p:nvSpPr>
        <p:spPr>
          <a:xfrm>
            <a:off x="457200" y="137160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18 / 35</a:t>
            </a:r>
            <a:endParaRPr lang="en-US" sz="900" dirty="0"/>
          </a:p>
        </p:txBody>
      </p:sp>
      <p:sp>
        <p:nvSpPr>
          <p:cNvPr id="10" name="Shape 8"/>
          <p:cNvSpPr/>
          <p:nvPr/>
        </p:nvSpPr>
        <p:spPr>
          <a:xfrm>
            <a:off x="548640" y="1691640"/>
            <a:ext cx="11064240" cy="3840480"/>
          </a:xfrm>
          <a:prstGeom prst="rect">
            <a:avLst/>
          </a:prstGeom>
          <a:solidFill>
            <a:srgbClr val="1B2330"/>
          </a:solidFill>
          <a:ln w="12700">
            <a:solidFill>
              <a:srgbClr val="1B2330"/>
            </a:solidFill>
            <a:prstDash val="solid"/>
          </a:ln>
        </p:spPr>
        <p:txBody>
          <a:bodyPr/>
          <a:lstStyle/>
          <a:p>
            <a:endParaRPr lang="en-GB"/>
          </a:p>
        </p:txBody>
      </p:sp>
      <p:sp>
        <p:nvSpPr>
          <p:cNvPr id="11" name="Text 9"/>
          <p:cNvSpPr/>
          <p:nvPr/>
        </p:nvSpPr>
        <p:spPr>
          <a:xfrm>
            <a:off x="685800" y="1783080"/>
            <a:ext cx="10789920" cy="3657600"/>
          </a:xfrm>
          <a:prstGeom prst="rect">
            <a:avLst/>
          </a:prstGeom>
          <a:noFill/>
          <a:ln/>
        </p:spPr>
        <p:txBody>
          <a:bodyPr wrap="square" lIns="0" tIns="0" rIns="0" bIns="0" rtlCol="0" anchor="t"/>
          <a:lstStyle/>
          <a:p>
            <a:pPr marL="0" indent="0">
              <a:buNone/>
            </a:pPr>
            <a:r>
              <a:rPr lang="en-US" sz="1400" dirty="0">
                <a:solidFill>
                  <a:srgbClr val="E8F0F8"/>
                </a:solidFill>
                <a:latin typeface="Consolas" pitchFamily="34" charset="0"/>
                <a:ea typeface="Consolas" pitchFamily="34" charset="-122"/>
                <a:cs typeface="Consolas" pitchFamily="34" charset="-120"/>
              </a:rPr>
              <a:t>from sklearn.model_selection import cross_val_score, StratifiedKFold</a:t>
            </a:r>
            <a:endParaRPr lang="en-US" sz="1400" dirty="0"/>
          </a:p>
          <a:p>
            <a:pPr marL="0" indent="0">
              <a:buNone/>
            </a:pPr>
            <a:endParaRPr lang="en-US" sz="1400" dirty="0"/>
          </a:p>
          <a:p>
            <a:pPr marL="0" indent="0">
              <a:buNone/>
            </a:pPr>
            <a:r>
              <a:rPr lang="en-US" sz="1400" dirty="0">
                <a:solidFill>
                  <a:srgbClr val="E8F0F8"/>
                </a:solidFill>
                <a:latin typeface="Consolas" pitchFamily="34" charset="0"/>
                <a:ea typeface="Consolas" pitchFamily="34" charset="-122"/>
                <a:cs typeface="Consolas" pitchFamily="34" charset="-120"/>
              </a:rPr>
              <a:t>cv = StratifiedKFold(n_splits=5, shuffle=True, random_state=42)</a:t>
            </a:r>
            <a:endParaRPr lang="en-US" sz="1400" dirty="0"/>
          </a:p>
          <a:p>
            <a:pPr marL="0" indent="0">
              <a:buNone/>
            </a:pPr>
            <a:endParaRPr lang="en-US" sz="1400" dirty="0"/>
          </a:p>
          <a:p>
            <a:pPr marL="0" indent="0">
              <a:buNone/>
            </a:pPr>
            <a:r>
              <a:rPr lang="en-US" sz="1400" dirty="0">
                <a:solidFill>
                  <a:srgbClr val="E8F0F8"/>
                </a:solidFill>
                <a:latin typeface="Consolas" pitchFamily="34" charset="0"/>
                <a:ea typeface="Consolas" pitchFamily="34" charset="-122"/>
                <a:cs typeface="Consolas" pitchFamily="34" charset="-120"/>
              </a:rPr>
              <a:t>scores = cross_val_score(pipe, X_train, y_train,</a:t>
            </a:r>
            <a:endParaRPr lang="en-US" sz="1400" dirty="0"/>
          </a:p>
          <a:p>
            <a:pPr marL="0" indent="0">
              <a:buNone/>
            </a:pPr>
            <a:r>
              <a:rPr lang="en-US" sz="1400" dirty="0">
                <a:solidFill>
                  <a:srgbClr val="E8F0F8"/>
                </a:solidFill>
                <a:latin typeface="Consolas" pitchFamily="34" charset="0"/>
                <a:ea typeface="Consolas" pitchFamily="34" charset="-122"/>
                <a:cs typeface="Consolas" pitchFamily="34" charset="-120"/>
              </a:rPr>
              <a:t>                         cv=cv, scoring="f1_macro", n_jobs=-1)</a:t>
            </a:r>
            <a:endParaRPr lang="en-US" sz="1400" dirty="0"/>
          </a:p>
          <a:p>
            <a:pPr marL="0" indent="0">
              <a:buNone/>
            </a:pPr>
            <a:endParaRPr lang="en-US" sz="1400" dirty="0"/>
          </a:p>
          <a:p>
            <a:pPr marL="0" indent="0">
              <a:buNone/>
            </a:pPr>
            <a:r>
              <a:rPr lang="en-US" sz="1400" dirty="0">
                <a:solidFill>
                  <a:srgbClr val="E8F0F8"/>
                </a:solidFill>
                <a:latin typeface="Consolas" pitchFamily="34" charset="0"/>
                <a:ea typeface="Consolas" pitchFamily="34" charset="-122"/>
                <a:cs typeface="Consolas" pitchFamily="34" charset="-120"/>
              </a:rPr>
              <a:t>print(f"Macro-F1 = {scores.mean():.3f} ± {scores.std():.3f}")</a:t>
            </a:r>
            <a:endParaRPr lang="en-US" sz="1400" dirty="0"/>
          </a:p>
          <a:p>
            <a:pPr marL="0" indent="0">
              <a:buNone/>
            </a:pPr>
            <a:r>
              <a:rPr lang="en-US" sz="1400" dirty="0">
                <a:solidFill>
                  <a:srgbClr val="E8F0F8"/>
                </a:solidFill>
                <a:latin typeface="Consolas" pitchFamily="34" charset="0"/>
                <a:ea typeface="Consolas" pitchFamily="34" charset="-122"/>
                <a:cs typeface="Consolas" pitchFamily="34" charset="-120"/>
              </a:rPr>
              <a:t>print(f"Folds: {scores.round(3).tolist()}")</a:t>
            </a:r>
            <a:endParaRPr lang="en-US" sz="1400" dirty="0"/>
          </a:p>
          <a:p>
            <a:pPr marL="0" indent="0">
              <a:buNone/>
            </a:pPr>
            <a:endParaRPr lang="en-US" sz="1400" dirty="0"/>
          </a:p>
          <a:p>
            <a:pPr marL="0" indent="0">
              <a:buNone/>
            </a:pPr>
            <a:r>
              <a:rPr lang="en-US" sz="1400" dirty="0">
                <a:solidFill>
                  <a:srgbClr val="E8F0F8"/>
                </a:solidFill>
                <a:latin typeface="Consolas" pitchFamily="34" charset="0"/>
                <a:ea typeface="Consolas" pitchFamily="34" charset="-122"/>
                <a:cs typeface="Consolas" pitchFamily="34" charset="-120"/>
              </a:rPr>
              <a:t># Output:</a:t>
            </a:r>
            <a:endParaRPr lang="en-US" sz="1400" dirty="0"/>
          </a:p>
          <a:p>
            <a:pPr marL="0" indent="0">
              <a:buNone/>
            </a:pPr>
            <a:r>
              <a:rPr lang="en-US" sz="1400" dirty="0">
                <a:solidFill>
                  <a:srgbClr val="E8F0F8"/>
                </a:solidFill>
                <a:latin typeface="Consolas" pitchFamily="34" charset="0"/>
                <a:ea typeface="Consolas" pitchFamily="34" charset="-122"/>
                <a:cs typeface="Consolas" pitchFamily="34" charset="-120"/>
              </a:rPr>
              <a:t># Macro-F1 = 0.762 ± 0.011</a:t>
            </a:r>
            <a:endParaRPr lang="en-US" sz="1400" dirty="0"/>
          </a:p>
          <a:p>
            <a:pPr marL="0" indent="0">
              <a:buNone/>
            </a:pPr>
            <a:r>
              <a:rPr lang="en-US" sz="1400" dirty="0">
                <a:solidFill>
                  <a:srgbClr val="E8F0F8"/>
                </a:solidFill>
                <a:latin typeface="Consolas" pitchFamily="34" charset="0"/>
                <a:ea typeface="Consolas" pitchFamily="34" charset="-122"/>
                <a:cs typeface="Consolas" pitchFamily="34" charset="-120"/>
              </a:rPr>
              <a:t># Folds: [0.751, 0.769, 0.758, 0.778, 0.756]</a:t>
            </a:r>
            <a:endParaRPr lang="en-US" sz="1400" dirty="0"/>
          </a:p>
        </p:txBody>
      </p:sp>
      <p:sp>
        <p:nvSpPr>
          <p:cNvPr id="12" name="Shape 10"/>
          <p:cNvSpPr/>
          <p:nvPr/>
        </p:nvSpPr>
        <p:spPr>
          <a:xfrm>
            <a:off x="548640" y="5669280"/>
            <a:ext cx="11064240" cy="822960"/>
          </a:xfrm>
          <a:prstGeom prst="rect">
            <a:avLst/>
          </a:prstGeom>
          <a:solidFill>
            <a:srgbClr val="FFE9D6"/>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3" name="Text 11"/>
          <p:cNvSpPr/>
          <p:nvPr/>
        </p:nvSpPr>
        <p:spPr>
          <a:xfrm>
            <a:off x="777240" y="5760720"/>
            <a:ext cx="10607040" cy="274320"/>
          </a:xfrm>
          <a:prstGeom prst="rect">
            <a:avLst/>
          </a:prstGeom>
          <a:noFill/>
          <a:ln/>
        </p:spPr>
        <p:txBody>
          <a:bodyPr wrap="square" lIns="0" tIns="0" rIns="0" bIns="0" rtlCol="0" anchor="ctr"/>
          <a:lstStyle/>
          <a:p>
            <a:pPr marL="0" indent="0">
              <a:buNone/>
            </a:pPr>
            <a:r>
              <a:rPr lang="en-US" sz="1200" b="1" dirty="0">
                <a:solidFill>
                  <a:srgbClr val="0F2440"/>
                </a:solidFill>
                <a:latin typeface="Calibri" pitchFamily="34" charset="0"/>
                <a:ea typeface="Calibri" pitchFamily="34" charset="-122"/>
                <a:cs typeface="Calibri" pitchFamily="34" charset="-120"/>
              </a:rPr>
              <a:t>Why f1_macro instead of accuracy?</a:t>
            </a:r>
            <a:endParaRPr lang="en-US" sz="1200" dirty="0"/>
          </a:p>
        </p:txBody>
      </p:sp>
      <p:sp>
        <p:nvSpPr>
          <p:cNvPr id="14" name="Text 12"/>
          <p:cNvSpPr/>
          <p:nvPr/>
        </p:nvSpPr>
        <p:spPr>
          <a:xfrm>
            <a:off x="777240" y="6035040"/>
            <a:ext cx="10607040" cy="36576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Macro-F1 averages F1 across classes equally — accuracy is dominated by 'positif' (the majority class).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548640" y="1280160"/>
            <a:ext cx="3657600" cy="3200400"/>
          </a:xfrm>
          <a:prstGeom prst="rect">
            <a:avLst/>
          </a:prstGeom>
          <a:noFill/>
          <a:ln/>
        </p:spPr>
        <p:txBody>
          <a:bodyPr wrap="square" rtlCol="0" anchor="t"/>
          <a:lstStyle/>
          <a:p>
            <a:pPr marL="0" indent="0">
              <a:buNone/>
            </a:pPr>
            <a:r>
              <a:rPr lang="en-US" sz="24000" b="1" dirty="0">
                <a:solidFill>
                  <a:srgbClr val="F77F00"/>
                </a:solidFill>
                <a:latin typeface="Calibri" pitchFamily="34" charset="0"/>
                <a:ea typeface="Calibri" pitchFamily="34" charset="-122"/>
                <a:cs typeface="Calibri" pitchFamily="34" charset="-120"/>
              </a:rPr>
              <a:t>03</a:t>
            </a:r>
            <a:endParaRPr lang="en-US" sz="24000" dirty="0"/>
          </a:p>
        </p:txBody>
      </p:sp>
      <p:sp>
        <p:nvSpPr>
          <p:cNvPr id="3" name="Shape 1"/>
          <p:cNvSpPr/>
          <p:nvPr/>
        </p:nvSpPr>
        <p:spPr>
          <a:xfrm>
            <a:off x="4754880" y="2377440"/>
            <a:ext cx="54864" cy="1828800"/>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5029200" y="2286000"/>
            <a:ext cx="5486400" cy="365760"/>
          </a:xfrm>
          <a:prstGeom prst="rect">
            <a:avLst/>
          </a:prstGeom>
          <a:noFill/>
          <a:ln/>
        </p:spPr>
        <p:txBody>
          <a:bodyPr wrap="square" rtlCol="0" anchor="ctr"/>
          <a:lstStyle/>
          <a:p>
            <a:pPr marL="0" indent="0">
              <a:buNone/>
            </a:pPr>
            <a:r>
              <a:rPr lang="en-US" sz="1400" b="1" kern="0" spc="600" dirty="0">
                <a:solidFill>
                  <a:srgbClr val="00B4D8"/>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5029200" y="2606040"/>
            <a:ext cx="6858000" cy="11887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Feature Importance</a:t>
            </a:r>
            <a:endParaRPr lang="en-US" sz="3800" dirty="0"/>
          </a:p>
        </p:txBody>
      </p:sp>
      <p:sp>
        <p:nvSpPr>
          <p:cNvPr id="6" name="Text 4"/>
          <p:cNvSpPr/>
          <p:nvPr/>
        </p:nvSpPr>
        <p:spPr>
          <a:xfrm>
            <a:off x="5029200" y="3749040"/>
            <a:ext cx="6675120" cy="822960"/>
          </a:xfrm>
          <a:prstGeom prst="rect">
            <a:avLst/>
          </a:prstGeom>
          <a:noFill/>
          <a:ln/>
        </p:spPr>
        <p:txBody>
          <a:bodyPr wrap="square" lIns="0" tIns="0" rIns="0" bIns="0" rtlCol="0" anchor="ctr"/>
          <a:lstStyle/>
          <a:p>
            <a:pPr marL="0" indent="0">
              <a:buNone/>
            </a:pPr>
            <a:r>
              <a:rPr lang="en-US" sz="1600" dirty="0">
                <a:solidFill>
                  <a:srgbClr val="CFE5F8"/>
                </a:solidFill>
                <a:latin typeface="Calibri" pitchFamily="34" charset="0"/>
                <a:ea typeface="Calibri" pitchFamily="34" charset="-122"/>
                <a:cs typeface="Calibri" pitchFamily="34" charset="-120"/>
              </a:rPr>
              <a:t>Open the box — which Indonesian words drive the prediction?</a:t>
            </a:r>
            <a:endParaRPr lang="en-US" sz="1600" dirty="0"/>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19 / 35</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1E3A5F"/>
          </a:solidFill>
          <a:ln w="12700">
            <a:solidFill>
              <a:srgbClr val="1E3A5F"/>
            </a:solidFill>
            <a:prstDash val="solid"/>
          </a:ln>
        </p:spPr>
        <p:txBody>
          <a:bodyPr/>
          <a:lstStyle/>
          <a:p>
            <a:endParaRPr lang="en-GB"/>
          </a:p>
        </p:txBody>
      </p:sp>
      <p:sp>
        <p:nvSpPr>
          <p:cNvPr id="3" name="Shape 1"/>
          <p:cNvSpPr/>
          <p:nvPr/>
        </p:nvSpPr>
        <p:spPr>
          <a:xfrm>
            <a:off x="0" y="0"/>
            <a:ext cx="2377440" cy="164592"/>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457200" y="292608"/>
            <a:ext cx="10972800" cy="320040"/>
          </a:xfrm>
          <a:prstGeom prst="rect">
            <a:avLst/>
          </a:prstGeom>
          <a:noFill/>
          <a:ln/>
        </p:spPr>
        <p:txBody>
          <a:bodyPr wrap="square" rtlCol="0" anchor="ctr"/>
          <a:lstStyle/>
          <a:p>
            <a:pPr marL="0" indent="0">
              <a:buNone/>
            </a:pPr>
            <a:r>
              <a:rPr lang="en-US" sz="1100" b="1" kern="0" spc="400" dirty="0">
                <a:solidFill>
                  <a:srgbClr val="F77F00"/>
                </a:solidFill>
                <a:latin typeface="Calibri" pitchFamily="34" charset="0"/>
                <a:ea typeface="Calibri" pitchFamily="34" charset="-122"/>
                <a:cs typeface="Calibri" pitchFamily="34" charset="-120"/>
              </a:rPr>
              <a:t>LOGISTIC REGRESSION IS WHITE-BOX</a:t>
            </a:r>
            <a:endParaRPr lang="en-US" sz="1100" dirty="0"/>
          </a:p>
        </p:txBody>
      </p:sp>
      <p:sp>
        <p:nvSpPr>
          <p:cNvPr id="5" name="Text 3"/>
          <p:cNvSpPr/>
          <p:nvPr/>
        </p:nvSpPr>
        <p:spPr>
          <a:xfrm>
            <a:off x="457200" y="594360"/>
            <a:ext cx="11247120" cy="777240"/>
          </a:xfrm>
          <a:prstGeom prst="rect">
            <a:avLst/>
          </a:prstGeom>
          <a:noFill/>
          <a:ln/>
        </p:spPr>
        <p:txBody>
          <a:bodyPr wrap="square" lIns="0" tIns="0" rIns="0" bIns="0" rtlCol="0" anchor="ctr"/>
          <a:lstStyle/>
          <a:p>
            <a:pPr marL="0" indent="0">
              <a:buNone/>
            </a:pPr>
            <a:r>
              <a:rPr lang="en-US" sz="3000" b="1" dirty="0">
                <a:solidFill>
                  <a:srgbClr val="0F2440"/>
                </a:solidFill>
                <a:latin typeface="Calibri" pitchFamily="34" charset="0"/>
                <a:ea typeface="Calibri" pitchFamily="34" charset="-122"/>
                <a:cs typeface="Calibri" pitchFamily="34" charset="-120"/>
              </a:rPr>
              <a:t>Reading the coefficients</a:t>
            </a:r>
            <a:endParaRPr lang="en-US" sz="3000" dirty="0"/>
          </a:p>
        </p:txBody>
      </p:sp>
      <p:sp>
        <p:nvSpPr>
          <p:cNvPr id="6" name="Shape 4"/>
          <p:cNvSpPr/>
          <p:nvPr/>
        </p:nvSpPr>
        <p:spPr>
          <a:xfrm>
            <a:off x="457200" y="137160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20 / 35</a:t>
            </a:r>
            <a:endParaRPr lang="en-US" sz="900" dirty="0"/>
          </a:p>
        </p:txBody>
      </p:sp>
      <p:sp>
        <p:nvSpPr>
          <p:cNvPr id="10" name="Shape 8"/>
          <p:cNvSpPr/>
          <p:nvPr/>
        </p:nvSpPr>
        <p:spPr>
          <a:xfrm>
            <a:off x="548640" y="1691640"/>
            <a:ext cx="5486400" cy="475488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1" name="Text 9"/>
          <p:cNvSpPr/>
          <p:nvPr/>
        </p:nvSpPr>
        <p:spPr>
          <a:xfrm>
            <a:off x="777240" y="1828800"/>
            <a:ext cx="5029200" cy="365760"/>
          </a:xfrm>
          <a:prstGeom prst="rect">
            <a:avLst/>
          </a:prstGeom>
          <a:noFill/>
          <a:ln/>
        </p:spPr>
        <p:txBody>
          <a:bodyPr wrap="square" lIns="0" tIns="0" rIns="0" bIns="0" rtlCol="0" anchor="ctr"/>
          <a:lstStyle/>
          <a:p>
            <a:pPr marL="0" indent="0">
              <a:buNone/>
            </a:pPr>
            <a:r>
              <a:rPr lang="en-US" sz="1400" b="1" kern="0" spc="300" dirty="0">
                <a:solidFill>
                  <a:srgbClr val="F77F00"/>
                </a:solidFill>
                <a:latin typeface="Calibri" pitchFamily="34" charset="0"/>
                <a:ea typeface="Calibri" pitchFamily="34" charset="-122"/>
                <a:cs typeface="Calibri" pitchFamily="34" charset="-120"/>
              </a:rPr>
              <a:t>Each word gets a weight per class</a:t>
            </a:r>
            <a:endParaRPr lang="en-US" sz="1400" dirty="0"/>
          </a:p>
        </p:txBody>
      </p:sp>
      <p:sp>
        <p:nvSpPr>
          <p:cNvPr id="12" name="Text 10"/>
          <p:cNvSpPr/>
          <p:nvPr/>
        </p:nvSpPr>
        <p:spPr>
          <a:xfrm>
            <a:off x="777240" y="2286000"/>
            <a:ext cx="5029200" cy="548640"/>
          </a:xfrm>
          <a:prstGeom prst="rect">
            <a:avLst/>
          </a:prstGeom>
          <a:noFill/>
          <a:ln/>
        </p:spPr>
        <p:txBody>
          <a:bodyPr wrap="square" lIns="0" tIns="0" rIns="0" bIns="0" rtlCol="0" anchor="ctr"/>
          <a:lstStyle/>
          <a:p>
            <a:pPr marL="0" indent="0">
              <a:buNone/>
            </a:pPr>
            <a:r>
              <a:rPr lang="en-US" sz="1300" b="1" dirty="0">
                <a:solidFill>
                  <a:srgbClr val="0F2440"/>
                </a:solidFill>
                <a:latin typeface="Consolas" pitchFamily="34" charset="0"/>
                <a:ea typeface="Consolas" pitchFamily="34" charset="-122"/>
                <a:cs typeface="Consolas" pitchFamily="34" charset="-120"/>
              </a:rPr>
              <a:t>score(class) = Σ TF-IDF(word) × coef(word, class) + bias</a:t>
            </a:r>
            <a:endParaRPr lang="en-US" sz="1300" dirty="0"/>
          </a:p>
        </p:txBody>
      </p:sp>
      <p:sp>
        <p:nvSpPr>
          <p:cNvPr id="13" name="Text 11"/>
          <p:cNvSpPr/>
          <p:nvPr/>
        </p:nvSpPr>
        <p:spPr>
          <a:xfrm>
            <a:off x="777240" y="3017520"/>
            <a:ext cx="5029200" cy="1097280"/>
          </a:xfrm>
          <a:prstGeom prst="rect">
            <a:avLst/>
          </a:prstGeom>
          <a:noFill/>
          <a:ln/>
        </p:spPr>
        <p:txBody>
          <a:bodyPr wrap="square" lIns="0" tIns="0" rIns="0" bIns="0" rtlCol="0" anchor="ctr"/>
          <a:lstStyle/>
          <a:p>
            <a:pPr marL="0" indent="0">
              <a:buNone/>
            </a:pPr>
            <a:r>
              <a:rPr lang="en-US" sz="1200" b="1" dirty="0">
                <a:solidFill>
                  <a:srgbClr val="06A77D"/>
                </a:solidFill>
                <a:latin typeface="Calibri" pitchFamily="34" charset="0"/>
                <a:ea typeface="Calibri" pitchFamily="34" charset="-122"/>
                <a:cs typeface="Calibri" pitchFamily="34" charset="-120"/>
              </a:rPr>
              <a:t>Positive coef </a:t>
            </a:r>
            <a:r>
              <a:rPr lang="en-US" sz="1200" dirty="0">
                <a:solidFill>
                  <a:srgbClr val="212529"/>
                </a:solidFill>
                <a:latin typeface="Calibri" pitchFamily="34" charset="0"/>
                <a:ea typeface="Calibri" pitchFamily="34" charset="-122"/>
                <a:cs typeface="Calibri" pitchFamily="34" charset="-120"/>
              </a:rPr>
              <a:t>= word pushes prediction TOWARD that class.</a:t>
            </a:r>
            <a:endParaRPr lang="en-US" sz="1200" dirty="0"/>
          </a:p>
          <a:p>
            <a:pPr marL="0" indent="0">
              <a:buNone/>
            </a:pPr>
            <a:r>
              <a:rPr lang="en-US" sz="1200" b="1" dirty="0">
                <a:solidFill>
                  <a:srgbClr val="D62828"/>
                </a:solidFill>
                <a:latin typeface="Calibri" pitchFamily="34" charset="0"/>
                <a:ea typeface="Calibri" pitchFamily="34" charset="-122"/>
                <a:cs typeface="Calibri" pitchFamily="34" charset="-120"/>
              </a:rPr>
              <a:t>Negative coef </a:t>
            </a:r>
            <a:r>
              <a:rPr lang="en-US" sz="1200" dirty="0">
                <a:solidFill>
                  <a:srgbClr val="212529"/>
                </a:solidFill>
                <a:latin typeface="Calibri" pitchFamily="34" charset="0"/>
                <a:ea typeface="Calibri" pitchFamily="34" charset="-122"/>
                <a:cs typeface="Calibri" pitchFamily="34" charset="-120"/>
              </a:rPr>
              <a:t>= word pushes prediction AWAY from that class.</a:t>
            </a:r>
            <a:endParaRPr lang="en-US" sz="1200" dirty="0"/>
          </a:p>
        </p:txBody>
      </p:sp>
      <p:sp>
        <p:nvSpPr>
          <p:cNvPr id="14" name="Text 12"/>
          <p:cNvSpPr/>
          <p:nvPr/>
        </p:nvSpPr>
        <p:spPr>
          <a:xfrm>
            <a:off x="777240" y="4206240"/>
            <a:ext cx="5029200" cy="1371600"/>
          </a:xfrm>
          <a:prstGeom prst="rect">
            <a:avLst/>
          </a:prstGeom>
          <a:noFill/>
          <a:ln/>
        </p:spPr>
        <p:txBody>
          <a:bodyPr wrap="square" lIns="0" tIns="0" rIns="0" bIns="0" rtlCol="0" anchor="ctr"/>
          <a:lstStyle/>
          <a:p>
            <a:pPr marL="0" indent="0">
              <a:buNone/>
            </a:pPr>
            <a:r>
              <a:rPr lang="en-US" sz="1200" i="1" dirty="0">
                <a:solidFill>
                  <a:srgbClr val="212529"/>
                </a:solidFill>
                <a:latin typeface="Calibri" pitchFamily="34" charset="0"/>
                <a:ea typeface="Calibri" pitchFamily="34" charset="-122"/>
                <a:cs typeface="Calibri" pitchFamily="34" charset="-120"/>
              </a:rPr>
              <a:t>Inspecting these coefficients gives us a model audit trail — you can show your boss exactly why the model labeled this review.</a:t>
            </a:r>
            <a:endParaRPr lang="en-US" sz="1200" dirty="0"/>
          </a:p>
        </p:txBody>
      </p:sp>
      <p:sp>
        <p:nvSpPr>
          <p:cNvPr id="15" name="Shape 13"/>
          <p:cNvSpPr/>
          <p:nvPr/>
        </p:nvSpPr>
        <p:spPr>
          <a:xfrm>
            <a:off x="6126480" y="1691640"/>
            <a:ext cx="5486400" cy="475488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6" name="Text 14"/>
          <p:cNvSpPr/>
          <p:nvPr/>
        </p:nvSpPr>
        <p:spPr>
          <a:xfrm>
            <a:off x="6355080" y="1828800"/>
            <a:ext cx="5029200" cy="365760"/>
          </a:xfrm>
          <a:prstGeom prst="rect">
            <a:avLst/>
          </a:prstGeom>
          <a:noFill/>
          <a:ln/>
        </p:spPr>
        <p:txBody>
          <a:bodyPr wrap="square" lIns="0" tIns="0" rIns="0" bIns="0" rtlCol="0" anchor="ctr"/>
          <a:lstStyle/>
          <a:p>
            <a:pPr marL="0" indent="0">
              <a:buNone/>
            </a:pPr>
            <a:r>
              <a:rPr lang="en-US" sz="1400" b="1" kern="0" spc="300" dirty="0">
                <a:solidFill>
                  <a:srgbClr val="06A77D"/>
                </a:solidFill>
                <a:latin typeface="Calibri" pitchFamily="34" charset="0"/>
                <a:ea typeface="Calibri" pitchFamily="34" charset="-122"/>
                <a:cs typeface="Calibri" pitchFamily="34" charset="-120"/>
              </a:rPr>
              <a:t>Top words for 'positif' class</a:t>
            </a:r>
            <a:endParaRPr lang="en-US" sz="1400" dirty="0"/>
          </a:p>
        </p:txBody>
      </p:sp>
      <p:sp>
        <p:nvSpPr>
          <p:cNvPr id="17" name="Text 15"/>
          <p:cNvSpPr/>
          <p:nvPr/>
        </p:nvSpPr>
        <p:spPr>
          <a:xfrm>
            <a:off x="6355080" y="2286000"/>
            <a:ext cx="1463040" cy="365760"/>
          </a:xfrm>
          <a:prstGeom prst="rect">
            <a:avLst/>
          </a:prstGeom>
          <a:noFill/>
          <a:ln/>
        </p:spPr>
        <p:txBody>
          <a:bodyPr wrap="square" lIns="0" tIns="0" rIns="0" bIns="0" rtlCol="0" anchor="ctr"/>
          <a:lstStyle/>
          <a:p>
            <a:pPr marL="0" indent="0">
              <a:buNone/>
            </a:pPr>
            <a:r>
              <a:rPr lang="en-US" sz="1200" b="1" dirty="0">
                <a:solidFill>
                  <a:srgbClr val="0F2440"/>
                </a:solidFill>
                <a:latin typeface="Consolas" pitchFamily="34" charset="0"/>
                <a:ea typeface="Consolas" pitchFamily="34" charset="-122"/>
                <a:cs typeface="Consolas" pitchFamily="34" charset="-120"/>
              </a:rPr>
              <a:t>ramah</a:t>
            </a:r>
            <a:endParaRPr lang="en-US" sz="1200" dirty="0"/>
          </a:p>
        </p:txBody>
      </p:sp>
      <p:sp>
        <p:nvSpPr>
          <p:cNvPr id="18" name="Shape 16"/>
          <p:cNvSpPr/>
          <p:nvPr/>
        </p:nvSpPr>
        <p:spPr>
          <a:xfrm>
            <a:off x="7863840" y="2377440"/>
            <a:ext cx="2926080" cy="182880"/>
          </a:xfrm>
          <a:prstGeom prst="rect">
            <a:avLst/>
          </a:prstGeom>
          <a:solidFill>
            <a:srgbClr val="E5E9F0"/>
          </a:solidFill>
          <a:ln w="12700">
            <a:solidFill>
              <a:srgbClr val="E5E9F0"/>
            </a:solidFill>
            <a:prstDash val="solid"/>
          </a:ln>
        </p:spPr>
        <p:txBody>
          <a:bodyPr/>
          <a:lstStyle/>
          <a:p>
            <a:endParaRPr lang="en-GB"/>
          </a:p>
        </p:txBody>
      </p:sp>
      <p:sp>
        <p:nvSpPr>
          <p:cNvPr id="19" name="Shape 17"/>
          <p:cNvSpPr/>
          <p:nvPr/>
        </p:nvSpPr>
        <p:spPr>
          <a:xfrm>
            <a:off x="7863840" y="2377440"/>
            <a:ext cx="2867558" cy="182880"/>
          </a:xfrm>
          <a:prstGeom prst="rect">
            <a:avLst/>
          </a:prstGeom>
          <a:solidFill>
            <a:srgbClr val="06A77D"/>
          </a:solidFill>
          <a:ln w="12700">
            <a:solidFill>
              <a:srgbClr val="06A77D"/>
            </a:solidFill>
            <a:prstDash val="solid"/>
          </a:ln>
        </p:spPr>
        <p:txBody>
          <a:bodyPr/>
          <a:lstStyle/>
          <a:p>
            <a:endParaRPr lang="en-GB"/>
          </a:p>
        </p:txBody>
      </p:sp>
      <p:sp>
        <p:nvSpPr>
          <p:cNvPr id="20" name="Text 18"/>
          <p:cNvSpPr/>
          <p:nvPr/>
        </p:nvSpPr>
        <p:spPr>
          <a:xfrm>
            <a:off x="10835640" y="2286000"/>
            <a:ext cx="731520" cy="365760"/>
          </a:xfrm>
          <a:prstGeom prst="rect">
            <a:avLst/>
          </a:prstGeom>
          <a:noFill/>
          <a:ln/>
        </p:spPr>
        <p:txBody>
          <a:bodyPr wrap="square" lIns="0" tIns="0" rIns="0" bIns="0" rtlCol="0" anchor="ctr"/>
          <a:lstStyle/>
          <a:p>
            <a:pPr marL="0" indent="0">
              <a:buNone/>
            </a:pPr>
            <a:r>
              <a:rPr lang="en-US" sz="1000" b="1" dirty="0">
                <a:solidFill>
                  <a:srgbClr val="06A77D"/>
                </a:solidFill>
                <a:latin typeface="Calibri" pitchFamily="34" charset="0"/>
                <a:ea typeface="Calibri" pitchFamily="34" charset="-122"/>
                <a:cs typeface="Calibri" pitchFamily="34" charset="-120"/>
              </a:rPr>
              <a:t>+2.94</a:t>
            </a:r>
            <a:endParaRPr lang="en-US" sz="1000" dirty="0"/>
          </a:p>
        </p:txBody>
      </p:sp>
      <p:sp>
        <p:nvSpPr>
          <p:cNvPr id="21" name="Text 19"/>
          <p:cNvSpPr/>
          <p:nvPr/>
        </p:nvSpPr>
        <p:spPr>
          <a:xfrm>
            <a:off x="6355080" y="2788920"/>
            <a:ext cx="1463040" cy="365760"/>
          </a:xfrm>
          <a:prstGeom prst="rect">
            <a:avLst/>
          </a:prstGeom>
          <a:noFill/>
          <a:ln/>
        </p:spPr>
        <p:txBody>
          <a:bodyPr wrap="square" lIns="0" tIns="0" rIns="0" bIns="0" rtlCol="0" anchor="ctr"/>
          <a:lstStyle/>
          <a:p>
            <a:pPr marL="0" indent="0">
              <a:buNone/>
            </a:pPr>
            <a:r>
              <a:rPr lang="en-US" sz="1200" b="1" dirty="0">
                <a:solidFill>
                  <a:srgbClr val="0F2440"/>
                </a:solidFill>
                <a:latin typeface="Consolas" pitchFamily="34" charset="0"/>
                <a:ea typeface="Consolas" pitchFamily="34" charset="-122"/>
                <a:cs typeface="Consolas" pitchFamily="34" charset="-120"/>
              </a:rPr>
              <a:t>bagus</a:t>
            </a:r>
            <a:endParaRPr lang="en-US" sz="1200" dirty="0"/>
          </a:p>
        </p:txBody>
      </p:sp>
      <p:sp>
        <p:nvSpPr>
          <p:cNvPr id="22" name="Shape 20"/>
          <p:cNvSpPr/>
          <p:nvPr/>
        </p:nvSpPr>
        <p:spPr>
          <a:xfrm>
            <a:off x="7863840" y="2880360"/>
            <a:ext cx="2926080" cy="182880"/>
          </a:xfrm>
          <a:prstGeom prst="rect">
            <a:avLst/>
          </a:prstGeom>
          <a:solidFill>
            <a:srgbClr val="E5E9F0"/>
          </a:solidFill>
          <a:ln w="12700">
            <a:solidFill>
              <a:srgbClr val="E5E9F0"/>
            </a:solidFill>
            <a:prstDash val="solid"/>
          </a:ln>
        </p:spPr>
        <p:txBody>
          <a:bodyPr/>
          <a:lstStyle/>
          <a:p>
            <a:endParaRPr lang="en-GB"/>
          </a:p>
        </p:txBody>
      </p:sp>
      <p:sp>
        <p:nvSpPr>
          <p:cNvPr id="23" name="Shape 21"/>
          <p:cNvSpPr/>
          <p:nvPr/>
        </p:nvSpPr>
        <p:spPr>
          <a:xfrm>
            <a:off x="7863840" y="2880360"/>
            <a:ext cx="2643226" cy="182880"/>
          </a:xfrm>
          <a:prstGeom prst="rect">
            <a:avLst/>
          </a:prstGeom>
          <a:solidFill>
            <a:srgbClr val="06A77D"/>
          </a:solidFill>
          <a:ln w="12700">
            <a:solidFill>
              <a:srgbClr val="06A77D"/>
            </a:solidFill>
            <a:prstDash val="solid"/>
          </a:ln>
        </p:spPr>
        <p:txBody>
          <a:bodyPr/>
          <a:lstStyle/>
          <a:p>
            <a:endParaRPr lang="en-GB"/>
          </a:p>
        </p:txBody>
      </p:sp>
      <p:sp>
        <p:nvSpPr>
          <p:cNvPr id="24" name="Text 22"/>
          <p:cNvSpPr/>
          <p:nvPr/>
        </p:nvSpPr>
        <p:spPr>
          <a:xfrm>
            <a:off x="10835640" y="2788920"/>
            <a:ext cx="731520" cy="365760"/>
          </a:xfrm>
          <a:prstGeom prst="rect">
            <a:avLst/>
          </a:prstGeom>
          <a:noFill/>
          <a:ln/>
        </p:spPr>
        <p:txBody>
          <a:bodyPr wrap="square" lIns="0" tIns="0" rIns="0" bIns="0" rtlCol="0" anchor="ctr"/>
          <a:lstStyle/>
          <a:p>
            <a:pPr marL="0" indent="0">
              <a:buNone/>
            </a:pPr>
            <a:r>
              <a:rPr lang="en-US" sz="1000" b="1" dirty="0">
                <a:solidFill>
                  <a:srgbClr val="06A77D"/>
                </a:solidFill>
                <a:latin typeface="Calibri" pitchFamily="34" charset="0"/>
                <a:ea typeface="Calibri" pitchFamily="34" charset="-122"/>
                <a:cs typeface="Calibri" pitchFamily="34" charset="-120"/>
              </a:rPr>
              <a:t>+2.71</a:t>
            </a:r>
            <a:endParaRPr lang="en-US" sz="1000" dirty="0"/>
          </a:p>
        </p:txBody>
      </p:sp>
      <p:sp>
        <p:nvSpPr>
          <p:cNvPr id="25" name="Text 23"/>
          <p:cNvSpPr/>
          <p:nvPr/>
        </p:nvSpPr>
        <p:spPr>
          <a:xfrm>
            <a:off x="6355080" y="3291840"/>
            <a:ext cx="1463040" cy="365760"/>
          </a:xfrm>
          <a:prstGeom prst="rect">
            <a:avLst/>
          </a:prstGeom>
          <a:noFill/>
          <a:ln/>
        </p:spPr>
        <p:txBody>
          <a:bodyPr wrap="square" lIns="0" tIns="0" rIns="0" bIns="0" rtlCol="0" anchor="ctr"/>
          <a:lstStyle/>
          <a:p>
            <a:pPr marL="0" indent="0">
              <a:buNone/>
            </a:pPr>
            <a:r>
              <a:rPr lang="en-US" sz="1200" b="1" dirty="0">
                <a:solidFill>
                  <a:srgbClr val="0F2440"/>
                </a:solidFill>
                <a:latin typeface="Consolas" pitchFamily="34" charset="0"/>
                <a:ea typeface="Consolas" pitchFamily="34" charset="-122"/>
                <a:cs typeface="Consolas" pitchFamily="34" charset="-120"/>
              </a:rPr>
              <a:t>rekomendasi</a:t>
            </a:r>
            <a:endParaRPr lang="en-US" sz="1200" dirty="0"/>
          </a:p>
        </p:txBody>
      </p:sp>
      <p:sp>
        <p:nvSpPr>
          <p:cNvPr id="26" name="Shape 24"/>
          <p:cNvSpPr/>
          <p:nvPr/>
        </p:nvSpPr>
        <p:spPr>
          <a:xfrm>
            <a:off x="7863840" y="3383280"/>
            <a:ext cx="2926080" cy="182880"/>
          </a:xfrm>
          <a:prstGeom prst="rect">
            <a:avLst/>
          </a:prstGeom>
          <a:solidFill>
            <a:srgbClr val="E5E9F0"/>
          </a:solidFill>
          <a:ln w="12700">
            <a:solidFill>
              <a:srgbClr val="E5E9F0"/>
            </a:solidFill>
            <a:prstDash val="solid"/>
          </a:ln>
        </p:spPr>
        <p:txBody>
          <a:bodyPr/>
          <a:lstStyle/>
          <a:p>
            <a:endParaRPr lang="en-GB"/>
          </a:p>
        </p:txBody>
      </p:sp>
      <p:sp>
        <p:nvSpPr>
          <p:cNvPr id="27" name="Shape 25"/>
          <p:cNvSpPr/>
          <p:nvPr/>
        </p:nvSpPr>
        <p:spPr>
          <a:xfrm>
            <a:off x="7863840" y="3383280"/>
            <a:ext cx="2487168" cy="182880"/>
          </a:xfrm>
          <a:prstGeom prst="rect">
            <a:avLst/>
          </a:prstGeom>
          <a:solidFill>
            <a:srgbClr val="06A77D"/>
          </a:solidFill>
          <a:ln w="12700">
            <a:solidFill>
              <a:srgbClr val="06A77D"/>
            </a:solidFill>
            <a:prstDash val="solid"/>
          </a:ln>
        </p:spPr>
        <p:txBody>
          <a:bodyPr/>
          <a:lstStyle/>
          <a:p>
            <a:endParaRPr lang="en-GB"/>
          </a:p>
        </p:txBody>
      </p:sp>
      <p:sp>
        <p:nvSpPr>
          <p:cNvPr id="28" name="Text 26"/>
          <p:cNvSpPr/>
          <p:nvPr/>
        </p:nvSpPr>
        <p:spPr>
          <a:xfrm>
            <a:off x="10835640" y="3291840"/>
            <a:ext cx="731520" cy="365760"/>
          </a:xfrm>
          <a:prstGeom prst="rect">
            <a:avLst/>
          </a:prstGeom>
          <a:noFill/>
          <a:ln/>
        </p:spPr>
        <p:txBody>
          <a:bodyPr wrap="square" lIns="0" tIns="0" rIns="0" bIns="0" rtlCol="0" anchor="ctr"/>
          <a:lstStyle/>
          <a:p>
            <a:pPr marL="0" indent="0">
              <a:buNone/>
            </a:pPr>
            <a:r>
              <a:rPr lang="en-US" sz="1000" b="1" dirty="0">
                <a:solidFill>
                  <a:srgbClr val="06A77D"/>
                </a:solidFill>
                <a:latin typeface="Calibri" pitchFamily="34" charset="0"/>
                <a:ea typeface="Calibri" pitchFamily="34" charset="-122"/>
                <a:cs typeface="Calibri" pitchFamily="34" charset="-120"/>
              </a:rPr>
              <a:t>+2.55</a:t>
            </a:r>
            <a:endParaRPr lang="en-US" sz="1000" dirty="0"/>
          </a:p>
        </p:txBody>
      </p:sp>
      <p:sp>
        <p:nvSpPr>
          <p:cNvPr id="29" name="Text 27"/>
          <p:cNvSpPr/>
          <p:nvPr/>
        </p:nvSpPr>
        <p:spPr>
          <a:xfrm>
            <a:off x="6355080" y="3794760"/>
            <a:ext cx="1463040" cy="365760"/>
          </a:xfrm>
          <a:prstGeom prst="rect">
            <a:avLst/>
          </a:prstGeom>
          <a:noFill/>
          <a:ln/>
        </p:spPr>
        <p:txBody>
          <a:bodyPr wrap="square" lIns="0" tIns="0" rIns="0" bIns="0" rtlCol="0" anchor="ctr"/>
          <a:lstStyle/>
          <a:p>
            <a:pPr marL="0" indent="0">
              <a:buNone/>
            </a:pPr>
            <a:r>
              <a:rPr lang="en-US" sz="1200" b="1" dirty="0">
                <a:solidFill>
                  <a:srgbClr val="0F2440"/>
                </a:solidFill>
                <a:latin typeface="Consolas" pitchFamily="34" charset="0"/>
                <a:ea typeface="Consolas" pitchFamily="34" charset="-122"/>
                <a:cs typeface="Consolas" pitchFamily="34" charset="-120"/>
              </a:rPr>
              <a:t>puas</a:t>
            </a:r>
            <a:endParaRPr lang="en-US" sz="1200" dirty="0"/>
          </a:p>
        </p:txBody>
      </p:sp>
      <p:sp>
        <p:nvSpPr>
          <p:cNvPr id="30" name="Shape 28"/>
          <p:cNvSpPr/>
          <p:nvPr/>
        </p:nvSpPr>
        <p:spPr>
          <a:xfrm>
            <a:off x="7863840" y="3886200"/>
            <a:ext cx="2926080" cy="182880"/>
          </a:xfrm>
          <a:prstGeom prst="rect">
            <a:avLst/>
          </a:prstGeom>
          <a:solidFill>
            <a:srgbClr val="E5E9F0"/>
          </a:solidFill>
          <a:ln w="12700">
            <a:solidFill>
              <a:srgbClr val="E5E9F0"/>
            </a:solidFill>
            <a:prstDash val="solid"/>
          </a:ln>
        </p:spPr>
        <p:txBody>
          <a:bodyPr/>
          <a:lstStyle/>
          <a:p>
            <a:endParaRPr lang="en-GB"/>
          </a:p>
        </p:txBody>
      </p:sp>
      <p:sp>
        <p:nvSpPr>
          <p:cNvPr id="31" name="Shape 29"/>
          <p:cNvSpPr/>
          <p:nvPr/>
        </p:nvSpPr>
        <p:spPr>
          <a:xfrm>
            <a:off x="7863840" y="3886200"/>
            <a:ext cx="2360371" cy="182880"/>
          </a:xfrm>
          <a:prstGeom prst="rect">
            <a:avLst/>
          </a:prstGeom>
          <a:solidFill>
            <a:srgbClr val="06A77D"/>
          </a:solidFill>
          <a:ln w="12700">
            <a:solidFill>
              <a:srgbClr val="06A77D"/>
            </a:solidFill>
            <a:prstDash val="solid"/>
          </a:ln>
        </p:spPr>
        <p:txBody>
          <a:bodyPr/>
          <a:lstStyle/>
          <a:p>
            <a:endParaRPr lang="en-GB"/>
          </a:p>
        </p:txBody>
      </p:sp>
      <p:sp>
        <p:nvSpPr>
          <p:cNvPr id="32" name="Text 30"/>
          <p:cNvSpPr/>
          <p:nvPr/>
        </p:nvSpPr>
        <p:spPr>
          <a:xfrm>
            <a:off x="10835640" y="3794760"/>
            <a:ext cx="731520" cy="365760"/>
          </a:xfrm>
          <a:prstGeom prst="rect">
            <a:avLst/>
          </a:prstGeom>
          <a:noFill/>
          <a:ln/>
        </p:spPr>
        <p:txBody>
          <a:bodyPr wrap="square" lIns="0" tIns="0" rIns="0" bIns="0" rtlCol="0" anchor="ctr"/>
          <a:lstStyle/>
          <a:p>
            <a:pPr marL="0" indent="0">
              <a:buNone/>
            </a:pPr>
            <a:r>
              <a:rPr lang="en-US" sz="1000" b="1" dirty="0">
                <a:solidFill>
                  <a:srgbClr val="06A77D"/>
                </a:solidFill>
                <a:latin typeface="Calibri" pitchFamily="34" charset="0"/>
                <a:ea typeface="Calibri" pitchFamily="34" charset="-122"/>
                <a:cs typeface="Calibri" pitchFamily="34" charset="-120"/>
              </a:rPr>
              <a:t>+2.42</a:t>
            </a:r>
            <a:endParaRPr lang="en-US" sz="1000" dirty="0"/>
          </a:p>
        </p:txBody>
      </p:sp>
      <p:sp>
        <p:nvSpPr>
          <p:cNvPr id="33" name="Text 31"/>
          <p:cNvSpPr/>
          <p:nvPr/>
        </p:nvSpPr>
        <p:spPr>
          <a:xfrm>
            <a:off x="6355080" y="4297680"/>
            <a:ext cx="1463040" cy="365760"/>
          </a:xfrm>
          <a:prstGeom prst="rect">
            <a:avLst/>
          </a:prstGeom>
          <a:noFill/>
          <a:ln/>
        </p:spPr>
        <p:txBody>
          <a:bodyPr wrap="square" lIns="0" tIns="0" rIns="0" bIns="0" rtlCol="0" anchor="ctr"/>
          <a:lstStyle/>
          <a:p>
            <a:pPr marL="0" indent="0">
              <a:buNone/>
            </a:pPr>
            <a:r>
              <a:rPr lang="en-US" sz="1200" b="1" dirty="0">
                <a:solidFill>
                  <a:srgbClr val="0F2440"/>
                </a:solidFill>
                <a:latin typeface="Consolas" pitchFamily="34" charset="0"/>
                <a:ea typeface="Consolas" pitchFamily="34" charset="-122"/>
                <a:cs typeface="Consolas" pitchFamily="34" charset="-120"/>
              </a:rPr>
              <a:t>cepat</a:t>
            </a:r>
            <a:endParaRPr lang="en-US" sz="1200" dirty="0"/>
          </a:p>
        </p:txBody>
      </p:sp>
      <p:sp>
        <p:nvSpPr>
          <p:cNvPr id="34" name="Shape 32"/>
          <p:cNvSpPr/>
          <p:nvPr/>
        </p:nvSpPr>
        <p:spPr>
          <a:xfrm>
            <a:off x="7863840" y="4389120"/>
            <a:ext cx="2926080" cy="182880"/>
          </a:xfrm>
          <a:prstGeom prst="rect">
            <a:avLst/>
          </a:prstGeom>
          <a:solidFill>
            <a:srgbClr val="E5E9F0"/>
          </a:solidFill>
          <a:ln w="12700">
            <a:solidFill>
              <a:srgbClr val="E5E9F0"/>
            </a:solidFill>
            <a:prstDash val="solid"/>
          </a:ln>
        </p:spPr>
        <p:txBody>
          <a:bodyPr/>
          <a:lstStyle/>
          <a:p>
            <a:endParaRPr lang="en-GB"/>
          </a:p>
        </p:txBody>
      </p:sp>
      <p:sp>
        <p:nvSpPr>
          <p:cNvPr id="35" name="Shape 33"/>
          <p:cNvSpPr/>
          <p:nvPr/>
        </p:nvSpPr>
        <p:spPr>
          <a:xfrm>
            <a:off x="7863840" y="4389120"/>
            <a:ext cx="2126285" cy="182880"/>
          </a:xfrm>
          <a:prstGeom prst="rect">
            <a:avLst/>
          </a:prstGeom>
          <a:solidFill>
            <a:srgbClr val="06A77D"/>
          </a:solidFill>
          <a:ln w="12700">
            <a:solidFill>
              <a:srgbClr val="06A77D"/>
            </a:solidFill>
            <a:prstDash val="solid"/>
          </a:ln>
        </p:spPr>
        <p:txBody>
          <a:bodyPr/>
          <a:lstStyle/>
          <a:p>
            <a:endParaRPr lang="en-GB"/>
          </a:p>
        </p:txBody>
      </p:sp>
      <p:sp>
        <p:nvSpPr>
          <p:cNvPr id="36" name="Text 34"/>
          <p:cNvSpPr/>
          <p:nvPr/>
        </p:nvSpPr>
        <p:spPr>
          <a:xfrm>
            <a:off x="10835640" y="4297680"/>
            <a:ext cx="731520" cy="365760"/>
          </a:xfrm>
          <a:prstGeom prst="rect">
            <a:avLst/>
          </a:prstGeom>
          <a:noFill/>
          <a:ln/>
        </p:spPr>
        <p:txBody>
          <a:bodyPr wrap="square" lIns="0" tIns="0" rIns="0" bIns="0" rtlCol="0" anchor="ctr"/>
          <a:lstStyle/>
          <a:p>
            <a:pPr marL="0" indent="0">
              <a:buNone/>
            </a:pPr>
            <a:r>
              <a:rPr lang="en-US" sz="1000" b="1" dirty="0">
                <a:solidFill>
                  <a:srgbClr val="06A77D"/>
                </a:solidFill>
                <a:latin typeface="Calibri" pitchFamily="34" charset="0"/>
                <a:ea typeface="Calibri" pitchFamily="34" charset="-122"/>
                <a:cs typeface="Calibri" pitchFamily="34" charset="-120"/>
              </a:rPr>
              <a:t>+2.18</a:t>
            </a:r>
            <a:endParaRPr lang="en-US" sz="1000" dirty="0"/>
          </a:p>
        </p:txBody>
      </p:sp>
      <p:sp>
        <p:nvSpPr>
          <p:cNvPr id="37" name="Text 35"/>
          <p:cNvSpPr/>
          <p:nvPr/>
        </p:nvSpPr>
        <p:spPr>
          <a:xfrm>
            <a:off x="6355080" y="4800600"/>
            <a:ext cx="1463040" cy="365760"/>
          </a:xfrm>
          <a:prstGeom prst="rect">
            <a:avLst/>
          </a:prstGeom>
          <a:noFill/>
          <a:ln/>
        </p:spPr>
        <p:txBody>
          <a:bodyPr wrap="square" lIns="0" tIns="0" rIns="0" bIns="0" rtlCol="0" anchor="ctr"/>
          <a:lstStyle/>
          <a:p>
            <a:pPr marL="0" indent="0">
              <a:buNone/>
            </a:pPr>
            <a:r>
              <a:rPr lang="en-US" sz="1200" b="1" dirty="0">
                <a:solidFill>
                  <a:srgbClr val="0F2440"/>
                </a:solidFill>
                <a:latin typeface="Consolas" pitchFamily="34" charset="0"/>
                <a:ea typeface="Consolas" pitchFamily="34" charset="-122"/>
                <a:cs typeface="Consolas" pitchFamily="34" charset="-120"/>
              </a:rPr>
              <a:t>mantap</a:t>
            </a:r>
            <a:endParaRPr lang="en-US" sz="1200" dirty="0"/>
          </a:p>
        </p:txBody>
      </p:sp>
      <p:sp>
        <p:nvSpPr>
          <p:cNvPr id="38" name="Shape 36"/>
          <p:cNvSpPr/>
          <p:nvPr/>
        </p:nvSpPr>
        <p:spPr>
          <a:xfrm>
            <a:off x="7863840" y="4892040"/>
            <a:ext cx="2926080" cy="182880"/>
          </a:xfrm>
          <a:prstGeom prst="rect">
            <a:avLst/>
          </a:prstGeom>
          <a:solidFill>
            <a:srgbClr val="E5E9F0"/>
          </a:solidFill>
          <a:ln w="12700">
            <a:solidFill>
              <a:srgbClr val="E5E9F0"/>
            </a:solidFill>
            <a:prstDash val="solid"/>
          </a:ln>
        </p:spPr>
        <p:txBody>
          <a:bodyPr/>
          <a:lstStyle/>
          <a:p>
            <a:endParaRPr lang="en-GB"/>
          </a:p>
        </p:txBody>
      </p:sp>
      <p:sp>
        <p:nvSpPr>
          <p:cNvPr id="39" name="Shape 37"/>
          <p:cNvSpPr/>
          <p:nvPr/>
        </p:nvSpPr>
        <p:spPr>
          <a:xfrm>
            <a:off x="7863840" y="4892040"/>
            <a:ext cx="1940966" cy="182880"/>
          </a:xfrm>
          <a:prstGeom prst="rect">
            <a:avLst/>
          </a:prstGeom>
          <a:solidFill>
            <a:srgbClr val="06A77D"/>
          </a:solidFill>
          <a:ln w="12700">
            <a:solidFill>
              <a:srgbClr val="06A77D"/>
            </a:solidFill>
            <a:prstDash val="solid"/>
          </a:ln>
        </p:spPr>
        <p:txBody>
          <a:bodyPr/>
          <a:lstStyle/>
          <a:p>
            <a:endParaRPr lang="en-GB"/>
          </a:p>
        </p:txBody>
      </p:sp>
      <p:sp>
        <p:nvSpPr>
          <p:cNvPr id="40" name="Text 38"/>
          <p:cNvSpPr/>
          <p:nvPr/>
        </p:nvSpPr>
        <p:spPr>
          <a:xfrm>
            <a:off x="10835640" y="4800600"/>
            <a:ext cx="731520" cy="365760"/>
          </a:xfrm>
          <a:prstGeom prst="rect">
            <a:avLst/>
          </a:prstGeom>
          <a:noFill/>
          <a:ln/>
        </p:spPr>
        <p:txBody>
          <a:bodyPr wrap="square" lIns="0" tIns="0" rIns="0" bIns="0" rtlCol="0" anchor="ctr"/>
          <a:lstStyle/>
          <a:p>
            <a:pPr marL="0" indent="0">
              <a:buNone/>
            </a:pPr>
            <a:r>
              <a:rPr lang="en-US" sz="1000" b="1" dirty="0">
                <a:solidFill>
                  <a:srgbClr val="06A77D"/>
                </a:solidFill>
                <a:latin typeface="Calibri" pitchFamily="34" charset="0"/>
                <a:ea typeface="Calibri" pitchFamily="34" charset="-122"/>
                <a:cs typeface="Calibri" pitchFamily="34" charset="-120"/>
              </a:rPr>
              <a:t>+1.99</a:t>
            </a:r>
            <a:endParaRPr lang="en-US" sz="1000" dirty="0"/>
          </a:p>
        </p:txBody>
      </p:sp>
      <p:sp>
        <p:nvSpPr>
          <p:cNvPr id="41" name="Text 39"/>
          <p:cNvSpPr/>
          <p:nvPr/>
        </p:nvSpPr>
        <p:spPr>
          <a:xfrm>
            <a:off x="6355080" y="5303520"/>
            <a:ext cx="1463040" cy="365760"/>
          </a:xfrm>
          <a:prstGeom prst="rect">
            <a:avLst/>
          </a:prstGeom>
          <a:noFill/>
          <a:ln/>
        </p:spPr>
        <p:txBody>
          <a:bodyPr wrap="square" lIns="0" tIns="0" rIns="0" bIns="0" rtlCol="0" anchor="ctr"/>
          <a:lstStyle/>
          <a:p>
            <a:pPr marL="0" indent="0">
              <a:buNone/>
            </a:pPr>
            <a:r>
              <a:rPr lang="en-US" sz="1200" b="1" dirty="0">
                <a:solidFill>
                  <a:srgbClr val="0F2440"/>
                </a:solidFill>
                <a:latin typeface="Consolas" pitchFamily="34" charset="0"/>
                <a:ea typeface="Consolas" pitchFamily="34" charset="-122"/>
                <a:cs typeface="Consolas" pitchFamily="34" charset="-120"/>
              </a:rPr>
              <a:t>amanah</a:t>
            </a:r>
            <a:endParaRPr lang="en-US" sz="1200" dirty="0"/>
          </a:p>
        </p:txBody>
      </p:sp>
      <p:sp>
        <p:nvSpPr>
          <p:cNvPr id="42" name="Shape 40"/>
          <p:cNvSpPr/>
          <p:nvPr/>
        </p:nvSpPr>
        <p:spPr>
          <a:xfrm>
            <a:off x="7863840" y="5394960"/>
            <a:ext cx="2926080" cy="182880"/>
          </a:xfrm>
          <a:prstGeom prst="rect">
            <a:avLst/>
          </a:prstGeom>
          <a:solidFill>
            <a:srgbClr val="E5E9F0"/>
          </a:solidFill>
          <a:ln w="12700">
            <a:solidFill>
              <a:srgbClr val="E5E9F0"/>
            </a:solidFill>
            <a:prstDash val="solid"/>
          </a:ln>
        </p:spPr>
        <p:txBody>
          <a:bodyPr/>
          <a:lstStyle/>
          <a:p>
            <a:endParaRPr lang="en-GB"/>
          </a:p>
        </p:txBody>
      </p:sp>
      <p:sp>
        <p:nvSpPr>
          <p:cNvPr id="43" name="Shape 41"/>
          <p:cNvSpPr/>
          <p:nvPr/>
        </p:nvSpPr>
        <p:spPr>
          <a:xfrm>
            <a:off x="7863840" y="5394960"/>
            <a:ext cx="1814170" cy="182880"/>
          </a:xfrm>
          <a:prstGeom prst="rect">
            <a:avLst/>
          </a:prstGeom>
          <a:solidFill>
            <a:srgbClr val="06A77D"/>
          </a:solidFill>
          <a:ln w="12700">
            <a:solidFill>
              <a:srgbClr val="06A77D"/>
            </a:solidFill>
            <a:prstDash val="solid"/>
          </a:ln>
        </p:spPr>
        <p:txBody>
          <a:bodyPr/>
          <a:lstStyle/>
          <a:p>
            <a:endParaRPr lang="en-GB"/>
          </a:p>
        </p:txBody>
      </p:sp>
      <p:sp>
        <p:nvSpPr>
          <p:cNvPr id="44" name="Text 42"/>
          <p:cNvSpPr/>
          <p:nvPr/>
        </p:nvSpPr>
        <p:spPr>
          <a:xfrm>
            <a:off x="10835640" y="5303520"/>
            <a:ext cx="731520" cy="365760"/>
          </a:xfrm>
          <a:prstGeom prst="rect">
            <a:avLst/>
          </a:prstGeom>
          <a:noFill/>
          <a:ln/>
        </p:spPr>
        <p:txBody>
          <a:bodyPr wrap="square" lIns="0" tIns="0" rIns="0" bIns="0" rtlCol="0" anchor="ctr"/>
          <a:lstStyle/>
          <a:p>
            <a:pPr marL="0" indent="0">
              <a:buNone/>
            </a:pPr>
            <a:r>
              <a:rPr lang="en-US" sz="1000" b="1" dirty="0">
                <a:solidFill>
                  <a:srgbClr val="06A77D"/>
                </a:solidFill>
                <a:latin typeface="Calibri" pitchFamily="34" charset="0"/>
                <a:ea typeface="Calibri" pitchFamily="34" charset="-122"/>
                <a:cs typeface="Calibri" pitchFamily="34" charset="-120"/>
              </a:rPr>
              <a:t>+1.86</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1E3A5F"/>
          </a:solidFill>
          <a:ln w="12700">
            <a:solidFill>
              <a:srgbClr val="1E3A5F"/>
            </a:solidFill>
            <a:prstDash val="solid"/>
          </a:ln>
        </p:spPr>
        <p:txBody>
          <a:bodyPr/>
          <a:lstStyle/>
          <a:p>
            <a:endParaRPr lang="en-GB"/>
          </a:p>
        </p:txBody>
      </p:sp>
      <p:sp>
        <p:nvSpPr>
          <p:cNvPr id="3" name="Shape 1"/>
          <p:cNvSpPr/>
          <p:nvPr/>
        </p:nvSpPr>
        <p:spPr>
          <a:xfrm>
            <a:off x="0" y="0"/>
            <a:ext cx="2377440" cy="164592"/>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457200" y="292608"/>
            <a:ext cx="10972800" cy="320040"/>
          </a:xfrm>
          <a:prstGeom prst="rect">
            <a:avLst/>
          </a:prstGeom>
          <a:noFill/>
          <a:ln/>
        </p:spPr>
        <p:txBody>
          <a:bodyPr wrap="square" rtlCol="0" anchor="ctr"/>
          <a:lstStyle/>
          <a:p>
            <a:pPr marL="0" indent="0">
              <a:buNone/>
            </a:pPr>
            <a:r>
              <a:rPr lang="en-US" sz="1100" b="1" kern="0" spc="400" dirty="0">
                <a:solidFill>
                  <a:srgbClr val="F77F00"/>
                </a:solidFill>
                <a:latin typeface="Calibri" pitchFamily="34" charset="0"/>
                <a:ea typeface="Calibri" pitchFamily="34" charset="-122"/>
                <a:cs typeface="Calibri" pitchFamily="34" charset="-120"/>
              </a:rPr>
              <a:t>SAME IDEA, OPPOSITE SIGN</a:t>
            </a:r>
            <a:endParaRPr lang="en-US" sz="1100" dirty="0"/>
          </a:p>
        </p:txBody>
      </p:sp>
      <p:sp>
        <p:nvSpPr>
          <p:cNvPr id="5" name="Text 3"/>
          <p:cNvSpPr/>
          <p:nvPr/>
        </p:nvSpPr>
        <p:spPr>
          <a:xfrm>
            <a:off x="457200" y="594360"/>
            <a:ext cx="11247120" cy="777240"/>
          </a:xfrm>
          <a:prstGeom prst="rect">
            <a:avLst/>
          </a:prstGeom>
          <a:noFill/>
          <a:ln/>
        </p:spPr>
        <p:txBody>
          <a:bodyPr wrap="square" lIns="0" tIns="0" rIns="0" bIns="0" rtlCol="0" anchor="ctr"/>
          <a:lstStyle/>
          <a:p>
            <a:pPr marL="0" indent="0">
              <a:buNone/>
            </a:pPr>
            <a:r>
              <a:rPr lang="en-US" sz="3000" b="1" dirty="0">
                <a:solidFill>
                  <a:srgbClr val="0F2440"/>
                </a:solidFill>
                <a:latin typeface="Calibri" pitchFamily="34" charset="0"/>
                <a:ea typeface="Calibri" pitchFamily="34" charset="-122"/>
                <a:cs typeface="Calibri" pitchFamily="34" charset="-120"/>
              </a:rPr>
              <a:t>Top words for 'negatif' class</a:t>
            </a:r>
            <a:endParaRPr lang="en-US" sz="3000" dirty="0"/>
          </a:p>
        </p:txBody>
      </p:sp>
      <p:sp>
        <p:nvSpPr>
          <p:cNvPr id="6" name="Shape 4"/>
          <p:cNvSpPr/>
          <p:nvPr/>
        </p:nvSpPr>
        <p:spPr>
          <a:xfrm>
            <a:off x="457200" y="137160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21 / 35</a:t>
            </a:r>
            <a:endParaRPr lang="en-US" sz="900" dirty="0"/>
          </a:p>
        </p:txBody>
      </p:sp>
      <p:grpSp>
        <p:nvGrpSpPr>
          <p:cNvPr id="53" name="Group 52">
            <a:extLst>
              <a:ext uri="{FF2B5EF4-FFF2-40B4-BE49-F238E27FC236}">
                <a16:creationId xmlns:a16="http://schemas.microsoft.com/office/drawing/2014/main" id="{72389A6C-8D28-A91B-53F0-D7F8F2645CEF}"/>
              </a:ext>
            </a:extLst>
          </p:cNvPr>
          <p:cNvGrpSpPr/>
          <p:nvPr/>
        </p:nvGrpSpPr>
        <p:grpSpPr>
          <a:xfrm>
            <a:off x="548640" y="1472184"/>
            <a:ext cx="11064240" cy="4572000"/>
            <a:chOff x="548640" y="1691640"/>
            <a:chExt cx="11064240" cy="4572000"/>
          </a:xfrm>
        </p:grpSpPr>
        <p:sp>
          <p:nvSpPr>
            <p:cNvPr id="10" name="Shape 8"/>
            <p:cNvSpPr/>
            <p:nvPr/>
          </p:nvSpPr>
          <p:spPr>
            <a:xfrm>
              <a:off x="548640" y="1691640"/>
              <a:ext cx="11064240" cy="457200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1" name="Text 9"/>
            <p:cNvSpPr/>
            <p:nvPr/>
          </p:nvSpPr>
          <p:spPr>
            <a:xfrm>
              <a:off x="868680" y="1874520"/>
              <a:ext cx="2286000" cy="365760"/>
            </a:xfrm>
            <a:prstGeom prst="rect">
              <a:avLst/>
            </a:prstGeom>
            <a:noFill/>
            <a:ln/>
          </p:spPr>
          <p:txBody>
            <a:bodyPr wrap="square" lIns="0" tIns="0" rIns="0" bIns="0" rtlCol="0" anchor="ctr"/>
            <a:lstStyle/>
            <a:p>
              <a:pPr marL="0" indent="0">
                <a:buNone/>
              </a:pPr>
              <a:r>
                <a:rPr lang="en-US" sz="1400" b="1" dirty="0">
                  <a:solidFill>
                    <a:srgbClr val="0F2440"/>
                  </a:solidFill>
                  <a:latin typeface="Consolas" pitchFamily="34" charset="0"/>
                  <a:ea typeface="Consolas" pitchFamily="34" charset="-122"/>
                  <a:cs typeface="Consolas" pitchFamily="34" charset="-120"/>
                </a:rPr>
                <a:t>jelek</a:t>
              </a:r>
              <a:endParaRPr lang="en-US" sz="1400" dirty="0"/>
            </a:p>
          </p:txBody>
        </p:sp>
        <p:sp>
          <p:nvSpPr>
            <p:cNvPr id="12" name="Text 10"/>
            <p:cNvSpPr/>
            <p:nvPr/>
          </p:nvSpPr>
          <p:spPr>
            <a:xfrm>
              <a:off x="3200400" y="1920240"/>
              <a:ext cx="2286000" cy="320040"/>
            </a:xfrm>
            <a:prstGeom prst="rect">
              <a:avLst/>
            </a:prstGeom>
            <a:noFill/>
            <a:ln/>
          </p:spPr>
          <p:txBody>
            <a:bodyPr wrap="square" lIns="0" tIns="0" rIns="0" bIns="0" rtlCol="0" anchor="ctr"/>
            <a:lstStyle/>
            <a:p>
              <a:pPr marL="0" indent="0">
                <a:buNone/>
              </a:pPr>
              <a:r>
                <a:rPr lang="en-US" sz="1100" i="1" dirty="0">
                  <a:solidFill>
                    <a:srgbClr val="6C757D"/>
                  </a:solidFill>
                  <a:latin typeface="Calibri" pitchFamily="34" charset="0"/>
                  <a:ea typeface="Calibri" pitchFamily="34" charset="-122"/>
                  <a:cs typeface="Calibri" pitchFamily="34" charset="-120"/>
                </a:rPr>
                <a:t>ugly / bad</a:t>
              </a:r>
              <a:endParaRPr lang="en-US" sz="1100" dirty="0"/>
            </a:p>
          </p:txBody>
        </p:sp>
        <p:sp>
          <p:nvSpPr>
            <p:cNvPr id="13" name="Shape 11"/>
            <p:cNvSpPr/>
            <p:nvPr/>
          </p:nvSpPr>
          <p:spPr>
            <a:xfrm>
              <a:off x="5486400" y="1965960"/>
              <a:ext cx="5029200" cy="228600"/>
            </a:xfrm>
            <a:prstGeom prst="rect">
              <a:avLst/>
            </a:prstGeom>
            <a:solidFill>
              <a:srgbClr val="E5E9F0"/>
            </a:solidFill>
            <a:ln w="12700">
              <a:solidFill>
                <a:srgbClr val="E5E9F0"/>
              </a:solidFill>
              <a:prstDash val="solid"/>
            </a:ln>
          </p:spPr>
          <p:txBody>
            <a:bodyPr/>
            <a:lstStyle/>
            <a:p>
              <a:endParaRPr lang="en-GB"/>
            </a:p>
          </p:txBody>
        </p:sp>
        <p:sp>
          <p:nvSpPr>
            <p:cNvPr id="14" name="Shape 12"/>
            <p:cNvSpPr/>
            <p:nvPr/>
          </p:nvSpPr>
          <p:spPr>
            <a:xfrm>
              <a:off x="5486400" y="1965960"/>
              <a:ext cx="4483173" cy="228600"/>
            </a:xfrm>
            <a:prstGeom prst="rect">
              <a:avLst/>
            </a:prstGeom>
            <a:solidFill>
              <a:srgbClr val="D62828"/>
            </a:solidFill>
            <a:ln w="12700">
              <a:solidFill>
                <a:srgbClr val="D62828"/>
              </a:solidFill>
              <a:prstDash val="solid"/>
            </a:ln>
          </p:spPr>
          <p:txBody>
            <a:bodyPr/>
            <a:lstStyle/>
            <a:p>
              <a:endParaRPr lang="en-GB"/>
            </a:p>
          </p:txBody>
        </p:sp>
        <p:sp>
          <p:nvSpPr>
            <p:cNvPr id="15" name="Text 13"/>
            <p:cNvSpPr/>
            <p:nvPr/>
          </p:nvSpPr>
          <p:spPr>
            <a:xfrm>
              <a:off x="10607040" y="1874520"/>
              <a:ext cx="822960" cy="365760"/>
            </a:xfrm>
            <a:prstGeom prst="rect">
              <a:avLst/>
            </a:prstGeom>
            <a:noFill/>
            <a:ln/>
          </p:spPr>
          <p:txBody>
            <a:bodyPr wrap="square" lIns="0" tIns="0" rIns="0" bIns="0" rtlCol="0" anchor="ctr"/>
            <a:lstStyle/>
            <a:p>
              <a:pPr marL="0" indent="0">
                <a:buNone/>
              </a:pPr>
              <a:r>
                <a:rPr lang="en-US" sz="1100" b="1" dirty="0">
                  <a:solidFill>
                    <a:srgbClr val="D62828"/>
                  </a:solidFill>
                  <a:latin typeface="Calibri" pitchFamily="34" charset="0"/>
                  <a:ea typeface="Calibri" pitchFamily="34" charset="-122"/>
                  <a:cs typeface="Calibri" pitchFamily="34" charset="-120"/>
                </a:rPr>
                <a:t>+3.12</a:t>
              </a:r>
              <a:endParaRPr lang="en-US" sz="1100" dirty="0"/>
            </a:p>
          </p:txBody>
        </p:sp>
        <p:sp>
          <p:nvSpPr>
            <p:cNvPr id="16" name="Text 14"/>
            <p:cNvSpPr/>
            <p:nvPr/>
          </p:nvSpPr>
          <p:spPr>
            <a:xfrm>
              <a:off x="868680" y="2423160"/>
              <a:ext cx="2286000" cy="365760"/>
            </a:xfrm>
            <a:prstGeom prst="rect">
              <a:avLst/>
            </a:prstGeom>
            <a:noFill/>
            <a:ln/>
          </p:spPr>
          <p:txBody>
            <a:bodyPr wrap="square" lIns="0" tIns="0" rIns="0" bIns="0" rtlCol="0" anchor="ctr"/>
            <a:lstStyle/>
            <a:p>
              <a:pPr marL="0" indent="0">
                <a:buNone/>
              </a:pPr>
              <a:r>
                <a:rPr lang="en-US" sz="1400" b="1" dirty="0">
                  <a:solidFill>
                    <a:srgbClr val="0F2440"/>
                  </a:solidFill>
                  <a:latin typeface="Consolas" pitchFamily="34" charset="0"/>
                  <a:ea typeface="Consolas" pitchFamily="34" charset="-122"/>
                  <a:cs typeface="Consolas" pitchFamily="34" charset="-120"/>
                </a:rPr>
                <a:t>rusak</a:t>
              </a:r>
              <a:endParaRPr lang="en-US" sz="1400" dirty="0"/>
            </a:p>
          </p:txBody>
        </p:sp>
        <p:sp>
          <p:nvSpPr>
            <p:cNvPr id="17" name="Text 15"/>
            <p:cNvSpPr/>
            <p:nvPr/>
          </p:nvSpPr>
          <p:spPr>
            <a:xfrm>
              <a:off x="3200400" y="2468880"/>
              <a:ext cx="2286000" cy="320040"/>
            </a:xfrm>
            <a:prstGeom prst="rect">
              <a:avLst/>
            </a:prstGeom>
            <a:noFill/>
            <a:ln/>
          </p:spPr>
          <p:txBody>
            <a:bodyPr wrap="square" lIns="0" tIns="0" rIns="0" bIns="0" rtlCol="0" anchor="ctr"/>
            <a:lstStyle/>
            <a:p>
              <a:pPr marL="0" indent="0">
                <a:buNone/>
              </a:pPr>
              <a:r>
                <a:rPr lang="en-US" sz="1100" i="1" dirty="0">
                  <a:solidFill>
                    <a:srgbClr val="6C757D"/>
                  </a:solidFill>
                  <a:latin typeface="Calibri" pitchFamily="34" charset="0"/>
                  <a:ea typeface="Calibri" pitchFamily="34" charset="-122"/>
                  <a:cs typeface="Calibri" pitchFamily="34" charset="-120"/>
                </a:rPr>
                <a:t>broken</a:t>
              </a:r>
              <a:endParaRPr lang="en-US" sz="1100" dirty="0"/>
            </a:p>
          </p:txBody>
        </p:sp>
        <p:sp>
          <p:nvSpPr>
            <p:cNvPr id="18" name="Shape 16"/>
            <p:cNvSpPr/>
            <p:nvPr/>
          </p:nvSpPr>
          <p:spPr>
            <a:xfrm>
              <a:off x="5486400" y="2514600"/>
              <a:ext cx="5029200" cy="228600"/>
            </a:xfrm>
            <a:prstGeom prst="rect">
              <a:avLst/>
            </a:prstGeom>
            <a:solidFill>
              <a:srgbClr val="E5E9F0"/>
            </a:solidFill>
            <a:ln w="12700">
              <a:solidFill>
                <a:srgbClr val="E5E9F0"/>
              </a:solidFill>
              <a:prstDash val="solid"/>
            </a:ln>
          </p:spPr>
          <p:txBody>
            <a:bodyPr/>
            <a:lstStyle/>
            <a:p>
              <a:endParaRPr lang="en-GB"/>
            </a:p>
          </p:txBody>
        </p:sp>
        <p:sp>
          <p:nvSpPr>
            <p:cNvPr id="19" name="Shape 17"/>
            <p:cNvSpPr/>
            <p:nvPr/>
          </p:nvSpPr>
          <p:spPr>
            <a:xfrm>
              <a:off x="5486400" y="2514600"/>
              <a:ext cx="3994622" cy="228600"/>
            </a:xfrm>
            <a:prstGeom prst="rect">
              <a:avLst/>
            </a:prstGeom>
            <a:solidFill>
              <a:srgbClr val="D62828"/>
            </a:solidFill>
            <a:ln w="12700">
              <a:solidFill>
                <a:srgbClr val="D62828"/>
              </a:solidFill>
              <a:prstDash val="solid"/>
            </a:ln>
          </p:spPr>
          <p:txBody>
            <a:bodyPr/>
            <a:lstStyle/>
            <a:p>
              <a:endParaRPr lang="en-GB"/>
            </a:p>
          </p:txBody>
        </p:sp>
        <p:sp>
          <p:nvSpPr>
            <p:cNvPr id="20" name="Text 18"/>
            <p:cNvSpPr/>
            <p:nvPr/>
          </p:nvSpPr>
          <p:spPr>
            <a:xfrm>
              <a:off x="10607040" y="2423160"/>
              <a:ext cx="822960" cy="365760"/>
            </a:xfrm>
            <a:prstGeom prst="rect">
              <a:avLst/>
            </a:prstGeom>
            <a:noFill/>
            <a:ln/>
          </p:spPr>
          <p:txBody>
            <a:bodyPr wrap="square" lIns="0" tIns="0" rIns="0" bIns="0" rtlCol="0" anchor="ctr"/>
            <a:lstStyle/>
            <a:p>
              <a:pPr marL="0" indent="0">
                <a:buNone/>
              </a:pPr>
              <a:r>
                <a:rPr lang="en-US" sz="1100" b="1" dirty="0">
                  <a:solidFill>
                    <a:srgbClr val="D62828"/>
                  </a:solidFill>
                  <a:latin typeface="Calibri" pitchFamily="34" charset="0"/>
                  <a:ea typeface="Calibri" pitchFamily="34" charset="-122"/>
                  <a:cs typeface="Calibri" pitchFamily="34" charset="-120"/>
                </a:rPr>
                <a:t>+2.78</a:t>
              </a:r>
              <a:endParaRPr lang="en-US" sz="1100" dirty="0"/>
            </a:p>
          </p:txBody>
        </p:sp>
        <p:sp>
          <p:nvSpPr>
            <p:cNvPr id="21" name="Text 19"/>
            <p:cNvSpPr/>
            <p:nvPr/>
          </p:nvSpPr>
          <p:spPr>
            <a:xfrm>
              <a:off x="868680" y="2971800"/>
              <a:ext cx="2286000" cy="365760"/>
            </a:xfrm>
            <a:prstGeom prst="rect">
              <a:avLst/>
            </a:prstGeom>
            <a:noFill/>
            <a:ln/>
          </p:spPr>
          <p:txBody>
            <a:bodyPr wrap="square" lIns="0" tIns="0" rIns="0" bIns="0" rtlCol="0" anchor="ctr"/>
            <a:lstStyle/>
            <a:p>
              <a:pPr marL="0" indent="0">
                <a:buNone/>
              </a:pPr>
              <a:r>
                <a:rPr lang="en-US" sz="1400" b="1" dirty="0">
                  <a:solidFill>
                    <a:srgbClr val="0F2440"/>
                  </a:solidFill>
                  <a:latin typeface="Consolas" pitchFamily="34" charset="0"/>
                  <a:ea typeface="Consolas" pitchFamily="34" charset="-122"/>
                  <a:cs typeface="Consolas" pitchFamily="34" charset="-120"/>
                </a:rPr>
                <a:t>kecewa</a:t>
              </a:r>
              <a:endParaRPr lang="en-US" sz="1400" dirty="0"/>
            </a:p>
          </p:txBody>
        </p:sp>
        <p:sp>
          <p:nvSpPr>
            <p:cNvPr id="22" name="Text 20"/>
            <p:cNvSpPr/>
            <p:nvPr/>
          </p:nvSpPr>
          <p:spPr>
            <a:xfrm>
              <a:off x="3200400" y="3017520"/>
              <a:ext cx="2286000" cy="320040"/>
            </a:xfrm>
            <a:prstGeom prst="rect">
              <a:avLst/>
            </a:prstGeom>
            <a:noFill/>
            <a:ln/>
          </p:spPr>
          <p:txBody>
            <a:bodyPr wrap="square" lIns="0" tIns="0" rIns="0" bIns="0" rtlCol="0" anchor="ctr"/>
            <a:lstStyle/>
            <a:p>
              <a:pPr marL="0" indent="0">
                <a:buNone/>
              </a:pPr>
              <a:r>
                <a:rPr lang="en-US" sz="1100" i="1" dirty="0">
                  <a:solidFill>
                    <a:srgbClr val="6C757D"/>
                  </a:solidFill>
                  <a:latin typeface="Calibri" pitchFamily="34" charset="0"/>
                  <a:ea typeface="Calibri" pitchFamily="34" charset="-122"/>
                  <a:cs typeface="Calibri" pitchFamily="34" charset="-120"/>
                </a:rPr>
                <a:t>disappointed</a:t>
              </a:r>
              <a:endParaRPr lang="en-US" sz="1100" dirty="0"/>
            </a:p>
          </p:txBody>
        </p:sp>
        <p:sp>
          <p:nvSpPr>
            <p:cNvPr id="23" name="Shape 21"/>
            <p:cNvSpPr/>
            <p:nvPr/>
          </p:nvSpPr>
          <p:spPr>
            <a:xfrm>
              <a:off x="5486400" y="3063240"/>
              <a:ext cx="5029200" cy="228600"/>
            </a:xfrm>
            <a:prstGeom prst="rect">
              <a:avLst/>
            </a:prstGeom>
            <a:solidFill>
              <a:srgbClr val="E5E9F0"/>
            </a:solidFill>
            <a:ln w="12700">
              <a:solidFill>
                <a:srgbClr val="E5E9F0"/>
              </a:solidFill>
              <a:prstDash val="solid"/>
            </a:ln>
          </p:spPr>
          <p:txBody>
            <a:bodyPr/>
            <a:lstStyle/>
            <a:p>
              <a:endParaRPr lang="en-GB"/>
            </a:p>
          </p:txBody>
        </p:sp>
        <p:sp>
          <p:nvSpPr>
            <p:cNvPr id="24" name="Shape 22"/>
            <p:cNvSpPr/>
            <p:nvPr/>
          </p:nvSpPr>
          <p:spPr>
            <a:xfrm>
              <a:off x="5486400" y="3063240"/>
              <a:ext cx="3764715" cy="228600"/>
            </a:xfrm>
            <a:prstGeom prst="rect">
              <a:avLst/>
            </a:prstGeom>
            <a:solidFill>
              <a:srgbClr val="D62828"/>
            </a:solidFill>
            <a:ln w="12700">
              <a:solidFill>
                <a:srgbClr val="D62828"/>
              </a:solidFill>
              <a:prstDash val="solid"/>
            </a:ln>
          </p:spPr>
          <p:txBody>
            <a:bodyPr/>
            <a:lstStyle/>
            <a:p>
              <a:endParaRPr lang="en-GB"/>
            </a:p>
          </p:txBody>
        </p:sp>
        <p:sp>
          <p:nvSpPr>
            <p:cNvPr id="25" name="Text 23"/>
            <p:cNvSpPr/>
            <p:nvPr/>
          </p:nvSpPr>
          <p:spPr>
            <a:xfrm>
              <a:off x="10607040" y="2971800"/>
              <a:ext cx="822960" cy="365760"/>
            </a:xfrm>
            <a:prstGeom prst="rect">
              <a:avLst/>
            </a:prstGeom>
            <a:noFill/>
            <a:ln/>
          </p:spPr>
          <p:txBody>
            <a:bodyPr wrap="square" lIns="0" tIns="0" rIns="0" bIns="0" rtlCol="0" anchor="ctr"/>
            <a:lstStyle/>
            <a:p>
              <a:pPr marL="0" indent="0">
                <a:buNone/>
              </a:pPr>
              <a:r>
                <a:rPr lang="en-US" sz="1100" b="1" dirty="0">
                  <a:solidFill>
                    <a:srgbClr val="D62828"/>
                  </a:solidFill>
                  <a:latin typeface="Calibri" pitchFamily="34" charset="0"/>
                  <a:ea typeface="Calibri" pitchFamily="34" charset="-122"/>
                  <a:cs typeface="Calibri" pitchFamily="34" charset="-120"/>
                </a:rPr>
                <a:t>+2.62</a:t>
              </a:r>
              <a:endParaRPr lang="en-US" sz="1100" dirty="0"/>
            </a:p>
          </p:txBody>
        </p:sp>
        <p:sp>
          <p:nvSpPr>
            <p:cNvPr id="26" name="Text 24"/>
            <p:cNvSpPr/>
            <p:nvPr/>
          </p:nvSpPr>
          <p:spPr>
            <a:xfrm>
              <a:off x="868680" y="3520440"/>
              <a:ext cx="2286000" cy="365760"/>
            </a:xfrm>
            <a:prstGeom prst="rect">
              <a:avLst/>
            </a:prstGeom>
            <a:noFill/>
            <a:ln/>
          </p:spPr>
          <p:txBody>
            <a:bodyPr wrap="square" lIns="0" tIns="0" rIns="0" bIns="0" rtlCol="0" anchor="ctr"/>
            <a:lstStyle/>
            <a:p>
              <a:pPr marL="0" indent="0">
                <a:buNone/>
              </a:pPr>
              <a:r>
                <a:rPr lang="en-US" sz="1400" b="1" dirty="0">
                  <a:solidFill>
                    <a:srgbClr val="0F2440"/>
                  </a:solidFill>
                  <a:latin typeface="Consolas" pitchFamily="34" charset="0"/>
                  <a:ea typeface="Consolas" pitchFamily="34" charset="-122"/>
                  <a:cs typeface="Consolas" pitchFamily="34" charset="-120"/>
                </a:rPr>
                <a:t>lambat</a:t>
              </a:r>
              <a:endParaRPr lang="en-US" sz="1400" dirty="0"/>
            </a:p>
          </p:txBody>
        </p:sp>
        <p:sp>
          <p:nvSpPr>
            <p:cNvPr id="27" name="Text 25"/>
            <p:cNvSpPr/>
            <p:nvPr/>
          </p:nvSpPr>
          <p:spPr>
            <a:xfrm>
              <a:off x="3200400" y="3566160"/>
              <a:ext cx="2286000" cy="320040"/>
            </a:xfrm>
            <a:prstGeom prst="rect">
              <a:avLst/>
            </a:prstGeom>
            <a:noFill/>
            <a:ln/>
          </p:spPr>
          <p:txBody>
            <a:bodyPr wrap="square" lIns="0" tIns="0" rIns="0" bIns="0" rtlCol="0" anchor="ctr"/>
            <a:lstStyle/>
            <a:p>
              <a:pPr marL="0" indent="0">
                <a:buNone/>
              </a:pPr>
              <a:r>
                <a:rPr lang="en-US" sz="1100" i="1" dirty="0">
                  <a:solidFill>
                    <a:srgbClr val="6C757D"/>
                  </a:solidFill>
                  <a:latin typeface="Calibri" pitchFamily="34" charset="0"/>
                  <a:ea typeface="Calibri" pitchFamily="34" charset="-122"/>
                  <a:cs typeface="Calibri" pitchFamily="34" charset="-120"/>
                </a:rPr>
                <a:t>slow</a:t>
              </a:r>
              <a:endParaRPr lang="en-US" sz="1100" dirty="0"/>
            </a:p>
          </p:txBody>
        </p:sp>
        <p:sp>
          <p:nvSpPr>
            <p:cNvPr id="28" name="Shape 26"/>
            <p:cNvSpPr/>
            <p:nvPr/>
          </p:nvSpPr>
          <p:spPr>
            <a:xfrm>
              <a:off x="5486400" y="3611880"/>
              <a:ext cx="5029200" cy="228600"/>
            </a:xfrm>
            <a:prstGeom prst="rect">
              <a:avLst/>
            </a:prstGeom>
            <a:solidFill>
              <a:srgbClr val="E5E9F0"/>
            </a:solidFill>
            <a:ln w="12700">
              <a:solidFill>
                <a:srgbClr val="E5E9F0"/>
              </a:solidFill>
              <a:prstDash val="solid"/>
            </a:ln>
          </p:spPr>
          <p:txBody>
            <a:bodyPr/>
            <a:lstStyle/>
            <a:p>
              <a:endParaRPr lang="en-GB"/>
            </a:p>
          </p:txBody>
        </p:sp>
        <p:sp>
          <p:nvSpPr>
            <p:cNvPr id="29" name="Shape 27"/>
            <p:cNvSpPr/>
            <p:nvPr/>
          </p:nvSpPr>
          <p:spPr>
            <a:xfrm>
              <a:off x="5486400" y="3611880"/>
              <a:ext cx="3462963" cy="228600"/>
            </a:xfrm>
            <a:prstGeom prst="rect">
              <a:avLst/>
            </a:prstGeom>
            <a:solidFill>
              <a:srgbClr val="D62828"/>
            </a:solidFill>
            <a:ln w="12700">
              <a:solidFill>
                <a:srgbClr val="D62828"/>
              </a:solidFill>
              <a:prstDash val="solid"/>
            </a:ln>
          </p:spPr>
          <p:txBody>
            <a:bodyPr/>
            <a:lstStyle/>
            <a:p>
              <a:endParaRPr lang="en-GB"/>
            </a:p>
          </p:txBody>
        </p:sp>
        <p:sp>
          <p:nvSpPr>
            <p:cNvPr id="30" name="Text 28"/>
            <p:cNvSpPr/>
            <p:nvPr/>
          </p:nvSpPr>
          <p:spPr>
            <a:xfrm>
              <a:off x="10607040" y="3520440"/>
              <a:ext cx="822960" cy="365760"/>
            </a:xfrm>
            <a:prstGeom prst="rect">
              <a:avLst/>
            </a:prstGeom>
            <a:noFill/>
            <a:ln/>
          </p:spPr>
          <p:txBody>
            <a:bodyPr wrap="square" lIns="0" tIns="0" rIns="0" bIns="0" rtlCol="0" anchor="ctr"/>
            <a:lstStyle/>
            <a:p>
              <a:pPr marL="0" indent="0">
                <a:buNone/>
              </a:pPr>
              <a:r>
                <a:rPr lang="en-US" sz="1100" b="1" dirty="0">
                  <a:solidFill>
                    <a:srgbClr val="D62828"/>
                  </a:solidFill>
                  <a:latin typeface="Calibri" pitchFamily="34" charset="0"/>
                  <a:ea typeface="Calibri" pitchFamily="34" charset="-122"/>
                  <a:cs typeface="Calibri" pitchFamily="34" charset="-120"/>
                </a:rPr>
                <a:t>+2.41</a:t>
              </a:r>
              <a:endParaRPr lang="en-US" sz="1100" dirty="0"/>
            </a:p>
          </p:txBody>
        </p:sp>
        <p:sp>
          <p:nvSpPr>
            <p:cNvPr id="31" name="Text 29"/>
            <p:cNvSpPr/>
            <p:nvPr/>
          </p:nvSpPr>
          <p:spPr>
            <a:xfrm>
              <a:off x="868680" y="4069080"/>
              <a:ext cx="2286000" cy="365760"/>
            </a:xfrm>
            <a:prstGeom prst="rect">
              <a:avLst/>
            </a:prstGeom>
            <a:noFill/>
            <a:ln/>
          </p:spPr>
          <p:txBody>
            <a:bodyPr wrap="square" lIns="0" tIns="0" rIns="0" bIns="0" rtlCol="0" anchor="ctr"/>
            <a:lstStyle/>
            <a:p>
              <a:pPr marL="0" indent="0">
                <a:buNone/>
              </a:pPr>
              <a:r>
                <a:rPr lang="en-US" sz="1400" b="1" dirty="0">
                  <a:solidFill>
                    <a:srgbClr val="0F2440"/>
                  </a:solidFill>
                  <a:latin typeface="Consolas" pitchFamily="34" charset="0"/>
                  <a:ea typeface="Consolas" pitchFamily="34" charset="-122"/>
                  <a:cs typeface="Consolas" pitchFamily="34" charset="-120"/>
                </a:rPr>
                <a:t>palsu</a:t>
              </a:r>
              <a:endParaRPr lang="en-US" sz="1400" dirty="0"/>
            </a:p>
          </p:txBody>
        </p:sp>
        <p:sp>
          <p:nvSpPr>
            <p:cNvPr id="32" name="Text 30"/>
            <p:cNvSpPr/>
            <p:nvPr/>
          </p:nvSpPr>
          <p:spPr>
            <a:xfrm>
              <a:off x="3200400" y="4114800"/>
              <a:ext cx="2286000" cy="320040"/>
            </a:xfrm>
            <a:prstGeom prst="rect">
              <a:avLst/>
            </a:prstGeom>
            <a:noFill/>
            <a:ln/>
          </p:spPr>
          <p:txBody>
            <a:bodyPr wrap="square" lIns="0" tIns="0" rIns="0" bIns="0" rtlCol="0" anchor="ctr"/>
            <a:lstStyle/>
            <a:p>
              <a:pPr marL="0" indent="0">
                <a:buNone/>
              </a:pPr>
              <a:r>
                <a:rPr lang="en-US" sz="1100" i="1" dirty="0">
                  <a:solidFill>
                    <a:srgbClr val="6C757D"/>
                  </a:solidFill>
                  <a:latin typeface="Calibri" pitchFamily="34" charset="0"/>
                  <a:ea typeface="Calibri" pitchFamily="34" charset="-122"/>
                  <a:cs typeface="Calibri" pitchFamily="34" charset="-120"/>
                </a:rPr>
                <a:t>fake</a:t>
              </a:r>
              <a:endParaRPr lang="en-US" sz="1100" dirty="0"/>
            </a:p>
          </p:txBody>
        </p:sp>
        <p:sp>
          <p:nvSpPr>
            <p:cNvPr id="33" name="Shape 31"/>
            <p:cNvSpPr/>
            <p:nvPr/>
          </p:nvSpPr>
          <p:spPr>
            <a:xfrm>
              <a:off x="5486400" y="4160520"/>
              <a:ext cx="5029200" cy="228600"/>
            </a:xfrm>
            <a:prstGeom prst="rect">
              <a:avLst/>
            </a:prstGeom>
            <a:solidFill>
              <a:srgbClr val="E5E9F0"/>
            </a:solidFill>
            <a:ln w="12700">
              <a:solidFill>
                <a:srgbClr val="E5E9F0"/>
              </a:solidFill>
              <a:prstDash val="solid"/>
            </a:ln>
          </p:spPr>
          <p:txBody>
            <a:bodyPr/>
            <a:lstStyle/>
            <a:p>
              <a:endParaRPr lang="en-GB"/>
            </a:p>
          </p:txBody>
        </p:sp>
        <p:sp>
          <p:nvSpPr>
            <p:cNvPr id="34" name="Shape 32"/>
            <p:cNvSpPr/>
            <p:nvPr/>
          </p:nvSpPr>
          <p:spPr>
            <a:xfrm>
              <a:off x="5486400" y="4160520"/>
              <a:ext cx="3333641" cy="228600"/>
            </a:xfrm>
            <a:prstGeom prst="rect">
              <a:avLst/>
            </a:prstGeom>
            <a:solidFill>
              <a:srgbClr val="D62828"/>
            </a:solidFill>
            <a:ln w="12700">
              <a:solidFill>
                <a:srgbClr val="D62828"/>
              </a:solidFill>
              <a:prstDash val="solid"/>
            </a:ln>
          </p:spPr>
          <p:txBody>
            <a:bodyPr/>
            <a:lstStyle/>
            <a:p>
              <a:endParaRPr lang="en-GB"/>
            </a:p>
          </p:txBody>
        </p:sp>
        <p:sp>
          <p:nvSpPr>
            <p:cNvPr id="35" name="Text 33"/>
            <p:cNvSpPr/>
            <p:nvPr/>
          </p:nvSpPr>
          <p:spPr>
            <a:xfrm>
              <a:off x="10607040" y="4069080"/>
              <a:ext cx="822960" cy="365760"/>
            </a:xfrm>
            <a:prstGeom prst="rect">
              <a:avLst/>
            </a:prstGeom>
            <a:noFill/>
            <a:ln/>
          </p:spPr>
          <p:txBody>
            <a:bodyPr wrap="square" lIns="0" tIns="0" rIns="0" bIns="0" rtlCol="0" anchor="ctr"/>
            <a:lstStyle/>
            <a:p>
              <a:pPr marL="0" indent="0">
                <a:buNone/>
              </a:pPr>
              <a:r>
                <a:rPr lang="en-US" sz="1100" b="1" dirty="0">
                  <a:solidFill>
                    <a:srgbClr val="D62828"/>
                  </a:solidFill>
                  <a:latin typeface="Calibri" pitchFamily="34" charset="0"/>
                  <a:ea typeface="Calibri" pitchFamily="34" charset="-122"/>
                  <a:cs typeface="Calibri" pitchFamily="34" charset="-120"/>
                </a:rPr>
                <a:t>+2.32</a:t>
              </a:r>
              <a:endParaRPr lang="en-US" sz="1100" dirty="0"/>
            </a:p>
          </p:txBody>
        </p:sp>
        <p:sp>
          <p:nvSpPr>
            <p:cNvPr id="36" name="Text 34"/>
            <p:cNvSpPr/>
            <p:nvPr/>
          </p:nvSpPr>
          <p:spPr>
            <a:xfrm>
              <a:off x="868680" y="4617720"/>
              <a:ext cx="2286000" cy="365760"/>
            </a:xfrm>
            <a:prstGeom prst="rect">
              <a:avLst/>
            </a:prstGeom>
            <a:noFill/>
            <a:ln/>
          </p:spPr>
          <p:txBody>
            <a:bodyPr wrap="square" lIns="0" tIns="0" rIns="0" bIns="0" rtlCol="0" anchor="ctr"/>
            <a:lstStyle/>
            <a:p>
              <a:pPr marL="0" indent="0">
                <a:buNone/>
              </a:pPr>
              <a:r>
                <a:rPr lang="en-US" sz="1400" b="1" dirty="0">
                  <a:solidFill>
                    <a:srgbClr val="0F2440"/>
                  </a:solidFill>
                  <a:latin typeface="Consolas" pitchFamily="34" charset="0"/>
                  <a:ea typeface="Consolas" pitchFamily="34" charset="-122"/>
                  <a:cs typeface="Consolas" pitchFamily="34" charset="-120"/>
                </a:rPr>
                <a:t>robek</a:t>
              </a:r>
              <a:endParaRPr lang="en-US" sz="1400" dirty="0"/>
            </a:p>
          </p:txBody>
        </p:sp>
        <p:sp>
          <p:nvSpPr>
            <p:cNvPr id="37" name="Text 35"/>
            <p:cNvSpPr/>
            <p:nvPr/>
          </p:nvSpPr>
          <p:spPr>
            <a:xfrm>
              <a:off x="3200400" y="4663440"/>
              <a:ext cx="2286000" cy="320040"/>
            </a:xfrm>
            <a:prstGeom prst="rect">
              <a:avLst/>
            </a:prstGeom>
            <a:noFill/>
            <a:ln/>
          </p:spPr>
          <p:txBody>
            <a:bodyPr wrap="square" lIns="0" tIns="0" rIns="0" bIns="0" rtlCol="0" anchor="ctr"/>
            <a:lstStyle/>
            <a:p>
              <a:pPr marL="0" indent="0">
                <a:buNone/>
              </a:pPr>
              <a:r>
                <a:rPr lang="en-US" sz="1100" i="1" dirty="0">
                  <a:solidFill>
                    <a:srgbClr val="6C757D"/>
                  </a:solidFill>
                  <a:latin typeface="Calibri" pitchFamily="34" charset="0"/>
                  <a:ea typeface="Calibri" pitchFamily="34" charset="-122"/>
                  <a:cs typeface="Calibri" pitchFamily="34" charset="-120"/>
                </a:rPr>
                <a:t>torn</a:t>
              </a:r>
              <a:endParaRPr lang="en-US" sz="1100" dirty="0"/>
            </a:p>
          </p:txBody>
        </p:sp>
        <p:sp>
          <p:nvSpPr>
            <p:cNvPr id="38" name="Shape 36"/>
            <p:cNvSpPr/>
            <p:nvPr/>
          </p:nvSpPr>
          <p:spPr>
            <a:xfrm>
              <a:off x="5486400" y="4709160"/>
              <a:ext cx="5029200" cy="228600"/>
            </a:xfrm>
            <a:prstGeom prst="rect">
              <a:avLst/>
            </a:prstGeom>
            <a:solidFill>
              <a:srgbClr val="E5E9F0"/>
            </a:solidFill>
            <a:ln w="12700">
              <a:solidFill>
                <a:srgbClr val="E5E9F0"/>
              </a:solidFill>
              <a:prstDash val="solid"/>
            </a:ln>
          </p:spPr>
          <p:txBody>
            <a:bodyPr/>
            <a:lstStyle/>
            <a:p>
              <a:endParaRPr lang="en-GB"/>
            </a:p>
          </p:txBody>
        </p:sp>
        <p:sp>
          <p:nvSpPr>
            <p:cNvPr id="39" name="Shape 37"/>
            <p:cNvSpPr/>
            <p:nvPr/>
          </p:nvSpPr>
          <p:spPr>
            <a:xfrm>
              <a:off x="5486400" y="4709160"/>
              <a:ext cx="2845090" cy="228600"/>
            </a:xfrm>
            <a:prstGeom prst="rect">
              <a:avLst/>
            </a:prstGeom>
            <a:solidFill>
              <a:srgbClr val="D62828"/>
            </a:solidFill>
            <a:ln w="12700">
              <a:solidFill>
                <a:srgbClr val="D62828"/>
              </a:solidFill>
              <a:prstDash val="solid"/>
            </a:ln>
          </p:spPr>
          <p:txBody>
            <a:bodyPr/>
            <a:lstStyle/>
            <a:p>
              <a:endParaRPr lang="en-GB"/>
            </a:p>
          </p:txBody>
        </p:sp>
        <p:sp>
          <p:nvSpPr>
            <p:cNvPr id="40" name="Text 38"/>
            <p:cNvSpPr/>
            <p:nvPr/>
          </p:nvSpPr>
          <p:spPr>
            <a:xfrm>
              <a:off x="10607040" y="4617720"/>
              <a:ext cx="822960" cy="365760"/>
            </a:xfrm>
            <a:prstGeom prst="rect">
              <a:avLst/>
            </a:prstGeom>
            <a:noFill/>
            <a:ln/>
          </p:spPr>
          <p:txBody>
            <a:bodyPr wrap="square" lIns="0" tIns="0" rIns="0" bIns="0" rtlCol="0" anchor="ctr"/>
            <a:lstStyle/>
            <a:p>
              <a:pPr marL="0" indent="0">
                <a:buNone/>
              </a:pPr>
              <a:r>
                <a:rPr lang="en-US" sz="1100" b="1" dirty="0">
                  <a:solidFill>
                    <a:srgbClr val="D62828"/>
                  </a:solidFill>
                  <a:latin typeface="Calibri" pitchFamily="34" charset="0"/>
                  <a:ea typeface="Calibri" pitchFamily="34" charset="-122"/>
                  <a:cs typeface="Calibri" pitchFamily="34" charset="-120"/>
                </a:rPr>
                <a:t>+1.98</a:t>
              </a:r>
              <a:endParaRPr lang="en-US" sz="1100" dirty="0"/>
            </a:p>
          </p:txBody>
        </p:sp>
        <p:sp>
          <p:nvSpPr>
            <p:cNvPr id="41" name="Text 39"/>
            <p:cNvSpPr/>
            <p:nvPr/>
          </p:nvSpPr>
          <p:spPr>
            <a:xfrm>
              <a:off x="868680" y="5166360"/>
              <a:ext cx="2286000" cy="365760"/>
            </a:xfrm>
            <a:prstGeom prst="rect">
              <a:avLst/>
            </a:prstGeom>
            <a:noFill/>
            <a:ln/>
          </p:spPr>
          <p:txBody>
            <a:bodyPr wrap="square" lIns="0" tIns="0" rIns="0" bIns="0" rtlCol="0" anchor="ctr"/>
            <a:lstStyle/>
            <a:p>
              <a:pPr marL="0" indent="0">
                <a:buNone/>
              </a:pPr>
              <a:r>
                <a:rPr lang="en-US" sz="1400" b="1" dirty="0">
                  <a:solidFill>
                    <a:srgbClr val="0F2440"/>
                  </a:solidFill>
                  <a:latin typeface="Consolas" pitchFamily="34" charset="0"/>
                  <a:ea typeface="Consolas" pitchFamily="34" charset="-122"/>
                  <a:cs typeface="Consolas" pitchFamily="34" charset="-120"/>
                </a:rPr>
                <a:t>menipu</a:t>
              </a:r>
              <a:endParaRPr lang="en-US" sz="1400" dirty="0"/>
            </a:p>
          </p:txBody>
        </p:sp>
        <p:sp>
          <p:nvSpPr>
            <p:cNvPr id="42" name="Text 40"/>
            <p:cNvSpPr/>
            <p:nvPr/>
          </p:nvSpPr>
          <p:spPr>
            <a:xfrm>
              <a:off x="3200400" y="5212080"/>
              <a:ext cx="2286000" cy="320040"/>
            </a:xfrm>
            <a:prstGeom prst="rect">
              <a:avLst/>
            </a:prstGeom>
            <a:noFill/>
            <a:ln/>
          </p:spPr>
          <p:txBody>
            <a:bodyPr wrap="square" lIns="0" tIns="0" rIns="0" bIns="0" rtlCol="0" anchor="ctr"/>
            <a:lstStyle/>
            <a:p>
              <a:pPr marL="0" indent="0">
                <a:buNone/>
              </a:pPr>
              <a:r>
                <a:rPr lang="en-US" sz="1100" i="1" dirty="0">
                  <a:solidFill>
                    <a:srgbClr val="6C757D"/>
                  </a:solidFill>
                  <a:latin typeface="Calibri" pitchFamily="34" charset="0"/>
                  <a:ea typeface="Calibri" pitchFamily="34" charset="-122"/>
                  <a:cs typeface="Calibri" pitchFamily="34" charset="-120"/>
                </a:rPr>
                <a:t>deceiving</a:t>
              </a:r>
              <a:endParaRPr lang="en-US" sz="1100" dirty="0"/>
            </a:p>
          </p:txBody>
        </p:sp>
        <p:sp>
          <p:nvSpPr>
            <p:cNvPr id="43" name="Shape 41"/>
            <p:cNvSpPr/>
            <p:nvPr/>
          </p:nvSpPr>
          <p:spPr>
            <a:xfrm>
              <a:off x="5486400" y="5257800"/>
              <a:ext cx="5029200" cy="228600"/>
            </a:xfrm>
            <a:prstGeom prst="rect">
              <a:avLst/>
            </a:prstGeom>
            <a:solidFill>
              <a:srgbClr val="E5E9F0"/>
            </a:solidFill>
            <a:ln w="12700">
              <a:solidFill>
                <a:srgbClr val="E5E9F0"/>
              </a:solidFill>
              <a:prstDash val="solid"/>
            </a:ln>
          </p:spPr>
          <p:txBody>
            <a:bodyPr/>
            <a:lstStyle/>
            <a:p>
              <a:endParaRPr lang="en-GB"/>
            </a:p>
          </p:txBody>
        </p:sp>
        <p:sp>
          <p:nvSpPr>
            <p:cNvPr id="44" name="Shape 42"/>
            <p:cNvSpPr/>
            <p:nvPr/>
          </p:nvSpPr>
          <p:spPr>
            <a:xfrm>
              <a:off x="5486400" y="5257800"/>
              <a:ext cx="2658291" cy="228600"/>
            </a:xfrm>
            <a:prstGeom prst="rect">
              <a:avLst/>
            </a:prstGeom>
            <a:solidFill>
              <a:srgbClr val="D62828"/>
            </a:solidFill>
            <a:ln w="12700">
              <a:solidFill>
                <a:srgbClr val="D62828"/>
              </a:solidFill>
              <a:prstDash val="solid"/>
            </a:ln>
          </p:spPr>
          <p:txBody>
            <a:bodyPr/>
            <a:lstStyle/>
            <a:p>
              <a:endParaRPr lang="en-GB"/>
            </a:p>
          </p:txBody>
        </p:sp>
        <p:sp>
          <p:nvSpPr>
            <p:cNvPr id="45" name="Text 43"/>
            <p:cNvSpPr/>
            <p:nvPr/>
          </p:nvSpPr>
          <p:spPr>
            <a:xfrm>
              <a:off x="10607040" y="5166360"/>
              <a:ext cx="822960" cy="365760"/>
            </a:xfrm>
            <a:prstGeom prst="rect">
              <a:avLst/>
            </a:prstGeom>
            <a:noFill/>
            <a:ln/>
          </p:spPr>
          <p:txBody>
            <a:bodyPr wrap="square" lIns="0" tIns="0" rIns="0" bIns="0" rtlCol="0" anchor="ctr"/>
            <a:lstStyle/>
            <a:p>
              <a:pPr marL="0" indent="0">
                <a:buNone/>
              </a:pPr>
              <a:r>
                <a:rPr lang="en-US" sz="1100" b="1" dirty="0">
                  <a:solidFill>
                    <a:srgbClr val="D62828"/>
                  </a:solidFill>
                  <a:latin typeface="Calibri" pitchFamily="34" charset="0"/>
                  <a:ea typeface="Calibri" pitchFamily="34" charset="-122"/>
                  <a:cs typeface="Calibri" pitchFamily="34" charset="-120"/>
                </a:rPr>
                <a:t>+1.85</a:t>
              </a:r>
              <a:endParaRPr lang="en-US" sz="1100" dirty="0"/>
            </a:p>
          </p:txBody>
        </p:sp>
        <p:sp>
          <p:nvSpPr>
            <p:cNvPr id="46" name="Text 44"/>
            <p:cNvSpPr/>
            <p:nvPr/>
          </p:nvSpPr>
          <p:spPr>
            <a:xfrm>
              <a:off x="868680" y="5715000"/>
              <a:ext cx="2286000" cy="365760"/>
            </a:xfrm>
            <a:prstGeom prst="rect">
              <a:avLst/>
            </a:prstGeom>
            <a:noFill/>
            <a:ln/>
          </p:spPr>
          <p:txBody>
            <a:bodyPr wrap="square" lIns="0" tIns="0" rIns="0" bIns="0" rtlCol="0" anchor="ctr"/>
            <a:lstStyle/>
            <a:p>
              <a:pPr marL="0" indent="0">
                <a:buNone/>
              </a:pPr>
              <a:r>
                <a:rPr lang="en-US" sz="1400" b="1" dirty="0">
                  <a:solidFill>
                    <a:srgbClr val="0F2440"/>
                  </a:solidFill>
                  <a:latin typeface="Consolas" pitchFamily="34" charset="0"/>
                  <a:ea typeface="Consolas" pitchFamily="34" charset="-122"/>
                  <a:cs typeface="Consolas" pitchFamily="34" charset="-120"/>
                </a:rPr>
                <a:t>tidak sesuai</a:t>
              </a:r>
              <a:endParaRPr lang="en-US" sz="1400" dirty="0"/>
            </a:p>
          </p:txBody>
        </p:sp>
        <p:sp>
          <p:nvSpPr>
            <p:cNvPr id="47" name="Text 45"/>
            <p:cNvSpPr/>
            <p:nvPr/>
          </p:nvSpPr>
          <p:spPr>
            <a:xfrm>
              <a:off x="3200400" y="5760720"/>
              <a:ext cx="2286000" cy="320040"/>
            </a:xfrm>
            <a:prstGeom prst="rect">
              <a:avLst/>
            </a:prstGeom>
            <a:noFill/>
            <a:ln/>
          </p:spPr>
          <p:txBody>
            <a:bodyPr wrap="square" lIns="0" tIns="0" rIns="0" bIns="0" rtlCol="0" anchor="ctr"/>
            <a:lstStyle/>
            <a:p>
              <a:pPr marL="0" indent="0">
                <a:buNone/>
              </a:pPr>
              <a:r>
                <a:rPr lang="en-US" sz="1100" i="1" dirty="0">
                  <a:solidFill>
                    <a:srgbClr val="6C757D"/>
                  </a:solidFill>
                  <a:latin typeface="Calibri" pitchFamily="34" charset="0"/>
                  <a:ea typeface="Calibri" pitchFamily="34" charset="-122"/>
                  <a:cs typeface="Calibri" pitchFamily="34" charset="-120"/>
                </a:rPr>
                <a:t>doesn't match (bigram)</a:t>
              </a:r>
              <a:endParaRPr lang="en-US" sz="1100" dirty="0"/>
            </a:p>
          </p:txBody>
        </p:sp>
        <p:sp>
          <p:nvSpPr>
            <p:cNvPr id="48" name="Shape 46"/>
            <p:cNvSpPr/>
            <p:nvPr/>
          </p:nvSpPr>
          <p:spPr>
            <a:xfrm>
              <a:off x="5486400" y="5806440"/>
              <a:ext cx="5029200" cy="228600"/>
            </a:xfrm>
            <a:prstGeom prst="rect">
              <a:avLst/>
            </a:prstGeom>
            <a:solidFill>
              <a:srgbClr val="E5E9F0"/>
            </a:solidFill>
            <a:ln w="12700">
              <a:solidFill>
                <a:srgbClr val="E5E9F0"/>
              </a:solidFill>
              <a:prstDash val="solid"/>
            </a:ln>
          </p:spPr>
          <p:txBody>
            <a:bodyPr/>
            <a:lstStyle/>
            <a:p>
              <a:endParaRPr lang="en-GB"/>
            </a:p>
          </p:txBody>
        </p:sp>
        <p:sp>
          <p:nvSpPr>
            <p:cNvPr id="49" name="Shape 47"/>
            <p:cNvSpPr/>
            <p:nvPr/>
          </p:nvSpPr>
          <p:spPr>
            <a:xfrm>
              <a:off x="5486400" y="5806440"/>
              <a:ext cx="2500231" cy="228600"/>
            </a:xfrm>
            <a:prstGeom prst="rect">
              <a:avLst/>
            </a:prstGeom>
            <a:solidFill>
              <a:srgbClr val="D62828"/>
            </a:solidFill>
            <a:ln w="12700">
              <a:solidFill>
                <a:srgbClr val="D62828"/>
              </a:solidFill>
              <a:prstDash val="solid"/>
            </a:ln>
          </p:spPr>
          <p:txBody>
            <a:bodyPr/>
            <a:lstStyle/>
            <a:p>
              <a:endParaRPr lang="en-GB"/>
            </a:p>
          </p:txBody>
        </p:sp>
        <p:sp>
          <p:nvSpPr>
            <p:cNvPr id="50" name="Text 48"/>
            <p:cNvSpPr/>
            <p:nvPr/>
          </p:nvSpPr>
          <p:spPr>
            <a:xfrm>
              <a:off x="10607040" y="5715000"/>
              <a:ext cx="822960" cy="365760"/>
            </a:xfrm>
            <a:prstGeom prst="rect">
              <a:avLst/>
            </a:prstGeom>
            <a:noFill/>
            <a:ln/>
          </p:spPr>
          <p:txBody>
            <a:bodyPr wrap="square" lIns="0" tIns="0" rIns="0" bIns="0" rtlCol="0" anchor="ctr"/>
            <a:lstStyle/>
            <a:p>
              <a:pPr marL="0" indent="0">
                <a:buNone/>
              </a:pPr>
              <a:r>
                <a:rPr lang="en-US" sz="1100" b="1" dirty="0">
                  <a:solidFill>
                    <a:srgbClr val="D62828"/>
                  </a:solidFill>
                  <a:latin typeface="Calibri" pitchFamily="34" charset="0"/>
                  <a:ea typeface="Calibri" pitchFamily="34" charset="-122"/>
                  <a:cs typeface="Calibri" pitchFamily="34" charset="-120"/>
                </a:rPr>
                <a:t>+1.74</a:t>
              </a:r>
              <a:endParaRPr lang="en-US" sz="1100" dirty="0"/>
            </a:p>
          </p:txBody>
        </p:sp>
      </p:grpSp>
      <p:grpSp>
        <p:nvGrpSpPr>
          <p:cNvPr id="54" name="Group 53">
            <a:extLst>
              <a:ext uri="{FF2B5EF4-FFF2-40B4-BE49-F238E27FC236}">
                <a16:creationId xmlns:a16="http://schemas.microsoft.com/office/drawing/2014/main" id="{56C03C72-0812-1DC2-8700-4CD9E4165515}"/>
              </a:ext>
            </a:extLst>
          </p:cNvPr>
          <p:cNvGrpSpPr/>
          <p:nvPr/>
        </p:nvGrpSpPr>
        <p:grpSpPr>
          <a:xfrm>
            <a:off x="548640" y="6085332"/>
            <a:ext cx="11064240" cy="411480"/>
            <a:chOff x="548640" y="6400800"/>
            <a:chExt cx="11064240" cy="411480"/>
          </a:xfrm>
        </p:grpSpPr>
        <p:sp>
          <p:nvSpPr>
            <p:cNvPr id="51" name="Shape 49"/>
            <p:cNvSpPr/>
            <p:nvPr/>
          </p:nvSpPr>
          <p:spPr>
            <a:xfrm>
              <a:off x="548640" y="6400800"/>
              <a:ext cx="11064240" cy="411480"/>
            </a:xfrm>
            <a:prstGeom prst="rect">
              <a:avLst/>
            </a:prstGeom>
            <a:solidFill>
              <a:srgbClr val="FFE9D6"/>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52" name="Text 50"/>
            <p:cNvSpPr/>
            <p:nvPr/>
          </p:nvSpPr>
          <p:spPr>
            <a:xfrm>
              <a:off x="777240" y="6446520"/>
              <a:ext cx="10607040" cy="365760"/>
            </a:xfrm>
            <a:prstGeom prst="rect">
              <a:avLst/>
            </a:prstGeom>
            <a:noFill/>
            <a:ln/>
          </p:spPr>
          <p:txBody>
            <a:bodyPr wrap="square" lIns="0" tIns="0" rIns="0" bIns="0" rtlCol="0" anchor="ctr"/>
            <a:lstStyle/>
            <a:p>
              <a:pPr marL="0" indent="0">
                <a:buNone/>
              </a:pPr>
              <a:r>
                <a:rPr lang="en-US" sz="1200" b="1" i="1" dirty="0">
                  <a:solidFill>
                    <a:srgbClr val="0F2440"/>
                  </a:solidFill>
                  <a:latin typeface="Calibri" pitchFamily="34" charset="0"/>
                  <a:ea typeface="Calibri" pitchFamily="34" charset="-122"/>
                  <a:cs typeface="Calibri" pitchFamily="34" charset="-120"/>
                </a:rPr>
                <a:t>Notice: 'tidak sesuai' is a bigram. Without ngram_range=(1,2), 'tidak' alone is ambiguous. Bigrams capture negation.</a:t>
              </a:r>
              <a:endParaRPr lang="en-US" sz="1200" dirty="0"/>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1E3A5F"/>
          </a:solidFill>
          <a:ln w="12700">
            <a:solidFill>
              <a:srgbClr val="1E3A5F"/>
            </a:solidFill>
            <a:prstDash val="solid"/>
          </a:ln>
        </p:spPr>
        <p:txBody>
          <a:bodyPr/>
          <a:lstStyle/>
          <a:p>
            <a:endParaRPr lang="en-GB"/>
          </a:p>
        </p:txBody>
      </p:sp>
      <p:sp>
        <p:nvSpPr>
          <p:cNvPr id="3" name="Shape 1"/>
          <p:cNvSpPr/>
          <p:nvPr/>
        </p:nvSpPr>
        <p:spPr>
          <a:xfrm>
            <a:off x="0" y="0"/>
            <a:ext cx="2377440" cy="164592"/>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457200" y="292608"/>
            <a:ext cx="10972800" cy="320040"/>
          </a:xfrm>
          <a:prstGeom prst="rect">
            <a:avLst/>
          </a:prstGeom>
          <a:noFill/>
          <a:ln/>
        </p:spPr>
        <p:txBody>
          <a:bodyPr wrap="square" rtlCol="0" anchor="ctr"/>
          <a:lstStyle/>
          <a:p>
            <a:pPr marL="0" indent="0">
              <a:buNone/>
            </a:pPr>
            <a:r>
              <a:rPr lang="en-US" sz="1100" b="1" kern="0" spc="400" dirty="0">
                <a:solidFill>
                  <a:srgbClr val="F77F00"/>
                </a:solidFill>
                <a:latin typeface="Calibri" pitchFamily="34" charset="0"/>
                <a:ea typeface="Calibri" pitchFamily="34" charset="-122"/>
                <a:cs typeface="Calibri" pitchFamily="34" charset="-120"/>
              </a:rPr>
              <a:t>AFTER FITTING THE PIPELINE</a:t>
            </a:r>
            <a:endParaRPr lang="en-US" sz="1100" dirty="0"/>
          </a:p>
        </p:txBody>
      </p:sp>
      <p:sp>
        <p:nvSpPr>
          <p:cNvPr id="5" name="Text 3"/>
          <p:cNvSpPr/>
          <p:nvPr/>
        </p:nvSpPr>
        <p:spPr>
          <a:xfrm>
            <a:off x="457200" y="594360"/>
            <a:ext cx="11247120" cy="777240"/>
          </a:xfrm>
          <a:prstGeom prst="rect">
            <a:avLst/>
          </a:prstGeom>
          <a:noFill/>
          <a:ln/>
        </p:spPr>
        <p:txBody>
          <a:bodyPr wrap="square" lIns="0" tIns="0" rIns="0" bIns="0" rtlCol="0" anchor="ctr"/>
          <a:lstStyle/>
          <a:p>
            <a:pPr marL="0" indent="0">
              <a:buNone/>
            </a:pPr>
            <a:r>
              <a:rPr lang="en-US" sz="3000" b="1" dirty="0">
                <a:solidFill>
                  <a:srgbClr val="0F2440"/>
                </a:solidFill>
                <a:latin typeface="Calibri" pitchFamily="34" charset="0"/>
                <a:ea typeface="Calibri" pitchFamily="34" charset="-122"/>
                <a:cs typeface="Calibri" pitchFamily="34" charset="-120"/>
              </a:rPr>
              <a:t>Code · Extract &amp; visualize feature importance</a:t>
            </a:r>
            <a:endParaRPr lang="en-US" sz="3000" dirty="0"/>
          </a:p>
        </p:txBody>
      </p:sp>
      <p:sp>
        <p:nvSpPr>
          <p:cNvPr id="6" name="Shape 4"/>
          <p:cNvSpPr/>
          <p:nvPr/>
        </p:nvSpPr>
        <p:spPr>
          <a:xfrm>
            <a:off x="457200" y="137160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22 / 35</a:t>
            </a:r>
            <a:endParaRPr lang="en-US" sz="900" dirty="0"/>
          </a:p>
        </p:txBody>
      </p:sp>
      <p:sp>
        <p:nvSpPr>
          <p:cNvPr id="10" name="Shape 8"/>
          <p:cNvSpPr/>
          <p:nvPr/>
        </p:nvSpPr>
        <p:spPr>
          <a:xfrm>
            <a:off x="548640" y="1691640"/>
            <a:ext cx="11064240" cy="4114800"/>
          </a:xfrm>
          <a:prstGeom prst="rect">
            <a:avLst/>
          </a:prstGeom>
          <a:solidFill>
            <a:srgbClr val="1B2330"/>
          </a:solidFill>
          <a:ln w="12700">
            <a:solidFill>
              <a:srgbClr val="1B2330"/>
            </a:solidFill>
            <a:prstDash val="solid"/>
          </a:ln>
        </p:spPr>
        <p:txBody>
          <a:bodyPr/>
          <a:lstStyle/>
          <a:p>
            <a:endParaRPr lang="en-GB"/>
          </a:p>
        </p:txBody>
      </p:sp>
      <p:sp>
        <p:nvSpPr>
          <p:cNvPr id="11" name="Text 9"/>
          <p:cNvSpPr/>
          <p:nvPr/>
        </p:nvSpPr>
        <p:spPr>
          <a:xfrm>
            <a:off x="685800" y="1783080"/>
            <a:ext cx="10789920" cy="3931920"/>
          </a:xfrm>
          <a:prstGeom prst="rect">
            <a:avLst/>
          </a:prstGeom>
          <a:noFill/>
          <a:ln/>
        </p:spPr>
        <p:txBody>
          <a:bodyPr wrap="square" lIns="0" tIns="0" rIns="0" bIns="0" rtlCol="0" anchor="t"/>
          <a:lstStyle/>
          <a:p>
            <a:pPr marL="0" indent="0">
              <a:buNone/>
            </a:pPr>
            <a:r>
              <a:rPr lang="en-US" sz="1200" dirty="0">
                <a:solidFill>
                  <a:srgbClr val="E8F0F8"/>
                </a:solidFill>
                <a:latin typeface="Consolas" pitchFamily="34" charset="0"/>
                <a:ea typeface="Consolas" pitchFamily="34" charset="-122"/>
                <a:cs typeface="Consolas" pitchFamily="34" charset="-120"/>
              </a:rPr>
              <a:t>import numpy as np, pandas as pd</a:t>
            </a:r>
            <a:endParaRPr lang="en-US" sz="1200" dirty="0"/>
          </a:p>
          <a:p>
            <a:pPr marL="0" indent="0">
              <a:buNone/>
            </a:pPr>
            <a:r>
              <a:rPr lang="en-US" sz="1200" dirty="0">
                <a:solidFill>
                  <a:srgbClr val="E8F0F8"/>
                </a:solidFill>
                <a:latin typeface="Consolas" pitchFamily="34" charset="0"/>
                <a:ea typeface="Consolas" pitchFamily="34" charset="-122"/>
                <a:cs typeface="Consolas" pitchFamily="34" charset="-120"/>
              </a:rPr>
              <a:t>import matplotlib.pyplot as plt</a:t>
            </a:r>
            <a:endParaRPr lang="en-US" sz="1200" dirty="0"/>
          </a:p>
          <a:p>
            <a:pPr marL="0" indent="0">
              <a:buNone/>
            </a:pPr>
            <a:endParaRPr lang="en-US" sz="1200" dirty="0"/>
          </a:p>
          <a:p>
            <a:pPr marL="0" indent="0">
              <a:buNone/>
            </a:pPr>
            <a:r>
              <a:rPr lang="en-US" sz="1200" dirty="0">
                <a:solidFill>
                  <a:srgbClr val="E8F0F8"/>
                </a:solidFill>
                <a:latin typeface="Consolas" pitchFamily="34" charset="0"/>
                <a:ea typeface="Consolas" pitchFamily="34" charset="-122"/>
                <a:cs typeface="Consolas" pitchFamily="34" charset="-120"/>
              </a:rPr>
              <a:t># 1. Pull vocabulary + coefficients out of the pipeline</a:t>
            </a:r>
            <a:endParaRPr lang="en-US" sz="1200" dirty="0"/>
          </a:p>
          <a:p>
            <a:pPr marL="0" indent="0">
              <a:buNone/>
            </a:pPr>
            <a:r>
              <a:rPr lang="en-US" sz="1200" dirty="0">
                <a:solidFill>
                  <a:srgbClr val="E8F0F8"/>
                </a:solidFill>
                <a:latin typeface="Consolas" pitchFamily="34" charset="0"/>
                <a:ea typeface="Consolas" pitchFamily="34" charset="-122"/>
                <a:cs typeface="Consolas" pitchFamily="34" charset="-120"/>
              </a:rPr>
              <a:t>vec  = pipe.named_steps["tfidf"]</a:t>
            </a:r>
            <a:endParaRPr lang="en-US" sz="1200" dirty="0"/>
          </a:p>
          <a:p>
            <a:pPr marL="0" indent="0">
              <a:buNone/>
            </a:pPr>
            <a:r>
              <a:rPr lang="en-US" sz="1200" dirty="0">
                <a:solidFill>
                  <a:srgbClr val="E8F0F8"/>
                </a:solidFill>
                <a:latin typeface="Consolas" pitchFamily="34" charset="0"/>
                <a:ea typeface="Consolas" pitchFamily="34" charset="-122"/>
                <a:cs typeface="Consolas" pitchFamily="34" charset="-120"/>
              </a:rPr>
              <a:t>clf  = pipe.named_steps["clf"]</a:t>
            </a:r>
            <a:endParaRPr lang="en-US" sz="1200" dirty="0"/>
          </a:p>
          <a:p>
            <a:pPr marL="0" indent="0">
              <a:buNone/>
            </a:pPr>
            <a:r>
              <a:rPr lang="en-US" sz="1200" dirty="0">
                <a:solidFill>
                  <a:srgbClr val="E8F0F8"/>
                </a:solidFill>
                <a:latin typeface="Consolas" pitchFamily="34" charset="0"/>
                <a:ea typeface="Consolas" pitchFamily="34" charset="-122"/>
                <a:cs typeface="Consolas" pitchFamily="34" charset="-120"/>
              </a:rPr>
              <a:t>vocab = np.array(vec.get_feature_names_out())</a:t>
            </a:r>
            <a:endParaRPr lang="en-US" sz="1200" dirty="0"/>
          </a:p>
          <a:p>
            <a:pPr marL="0" indent="0">
              <a:buNone/>
            </a:pPr>
            <a:endParaRPr lang="en-US" sz="1200" dirty="0"/>
          </a:p>
          <a:p>
            <a:pPr marL="0" indent="0">
              <a:buNone/>
            </a:pPr>
            <a:r>
              <a:rPr lang="en-US" sz="1200" dirty="0">
                <a:solidFill>
                  <a:srgbClr val="E8F0F8"/>
                </a:solidFill>
                <a:latin typeface="Consolas" pitchFamily="34" charset="0"/>
                <a:ea typeface="Consolas" pitchFamily="34" charset="-122"/>
                <a:cs typeface="Consolas" pitchFamily="34" charset="-120"/>
              </a:rPr>
              <a:t># 2. Pick the 'negatif' class column of the coef matrix</a:t>
            </a:r>
            <a:endParaRPr lang="en-US" sz="1200" dirty="0"/>
          </a:p>
          <a:p>
            <a:pPr marL="0" indent="0">
              <a:buNone/>
            </a:pPr>
            <a:r>
              <a:rPr lang="en-US" sz="1200" dirty="0">
                <a:solidFill>
                  <a:srgbClr val="E8F0F8"/>
                </a:solidFill>
                <a:latin typeface="Consolas" pitchFamily="34" charset="0"/>
                <a:ea typeface="Consolas" pitchFamily="34" charset="-122"/>
                <a:cs typeface="Consolas" pitchFamily="34" charset="-120"/>
              </a:rPr>
              <a:t>class_idx = list(clf.classes_).index("negatif")</a:t>
            </a:r>
            <a:endParaRPr lang="en-US" sz="1200" dirty="0"/>
          </a:p>
          <a:p>
            <a:pPr marL="0" indent="0">
              <a:buNone/>
            </a:pPr>
            <a:r>
              <a:rPr lang="en-US" sz="1200" dirty="0">
                <a:solidFill>
                  <a:srgbClr val="E8F0F8"/>
                </a:solidFill>
                <a:latin typeface="Consolas" pitchFamily="34" charset="0"/>
                <a:ea typeface="Consolas" pitchFamily="34" charset="-122"/>
                <a:cs typeface="Consolas" pitchFamily="34" charset="-120"/>
              </a:rPr>
              <a:t>coefs = clf.coef_[class_idx]</a:t>
            </a:r>
            <a:endParaRPr lang="en-US" sz="1200" dirty="0"/>
          </a:p>
          <a:p>
            <a:pPr marL="0" indent="0">
              <a:buNone/>
            </a:pPr>
            <a:endParaRPr lang="en-US" sz="1200" dirty="0"/>
          </a:p>
          <a:p>
            <a:pPr marL="0" indent="0">
              <a:buNone/>
            </a:pPr>
            <a:r>
              <a:rPr lang="en-US" sz="1200" dirty="0">
                <a:solidFill>
                  <a:srgbClr val="E8F0F8"/>
                </a:solidFill>
                <a:latin typeface="Consolas" pitchFamily="34" charset="0"/>
                <a:ea typeface="Consolas" pitchFamily="34" charset="-122"/>
                <a:cs typeface="Consolas" pitchFamily="34" charset="-120"/>
              </a:rPr>
              <a:t># 3. Sort and grab top 15</a:t>
            </a:r>
            <a:endParaRPr lang="en-US" sz="1200" dirty="0"/>
          </a:p>
          <a:p>
            <a:pPr marL="0" indent="0">
              <a:buNone/>
            </a:pPr>
            <a:r>
              <a:rPr lang="en-US" sz="1200" dirty="0">
                <a:solidFill>
                  <a:srgbClr val="E8F0F8"/>
                </a:solidFill>
                <a:latin typeface="Consolas" pitchFamily="34" charset="0"/>
                <a:ea typeface="Consolas" pitchFamily="34" charset="-122"/>
                <a:cs typeface="Consolas" pitchFamily="34" charset="-120"/>
              </a:rPr>
              <a:t>top_idx = np.argsort(coefs)[-15:][::-1]</a:t>
            </a:r>
            <a:endParaRPr lang="en-US" sz="1200" dirty="0"/>
          </a:p>
          <a:p>
            <a:pPr marL="0" indent="0">
              <a:buNone/>
            </a:pPr>
            <a:r>
              <a:rPr lang="en-US" sz="1200" dirty="0">
                <a:solidFill>
                  <a:srgbClr val="E8F0F8"/>
                </a:solidFill>
                <a:latin typeface="Consolas" pitchFamily="34" charset="0"/>
                <a:ea typeface="Consolas" pitchFamily="34" charset="-122"/>
                <a:cs typeface="Consolas" pitchFamily="34" charset="-120"/>
              </a:rPr>
              <a:t>top_df  = pd.DataFrame({"word": vocab[top_idx],</a:t>
            </a:r>
            <a:endParaRPr lang="en-US" sz="1200" dirty="0"/>
          </a:p>
          <a:p>
            <a:pPr marL="0" indent="0">
              <a:buNone/>
            </a:pPr>
            <a:r>
              <a:rPr lang="en-US" sz="1200" dirty="0">
                <a:solidFill>
                  <a:srgbClr val="E8F0F8"/>
                </a:solidFill>
                <a:latin typeface="Consolas" pitchFamily="34" charset="0"/>
                <a:ea typeface="Consolas" pitchFamily="34" charset="-122"/>
                <a:cs typeface="Consolas" pitchFamily="34" charset="-120"/>
              </a:rPr>
              <a:t>                        "coef": coefs[top_idx]})</a:t>
            </a:r>
            <a:endParaRPr lang="en-US" sz="1200" dirty="0"/>
          </a:p>
          <a:p>
            <a:pPr marL="0" indent="0">
              <a:buNone/>
            </a:pPr>
            <a:endParaRPr lang="en-US" sz="1200" dirty="0"/>
          </a:p>
          <a:p>
            <a:pPr marL="0" indent="0">
              <a:buNone/>
            </a:pPr>
            <a:r>
              <a:rPr lang="en-US" sz="1200" dirty="0">
                <a:solidFill>
                  <a:srgbClr val="E8F0F8"/>
                </a:solidFill>
                <a:latin typeface="Consolas" pitchFamily="34" charset="0"/>
                <a:ea typeface="Consolas" pitchFamily="34" charset="-122"/>
                <a:cs typeface="Consolas" pitchFamily="34" charset="-120"/>
              </a:rPr>
              <a:t># 4. Plot</a:t>
            </a:r>
            <a:endParaRPr lang="en-US" sz="1200" dirty="0"/>
          </a:p>
          <a:p>
            <a:pPr marL="0" indent="0">
              <a:buNone/>
            </a:pPr>
            <a:r>
              <a:rPr lang="en-US" sz="1200" dirty="0">
                <a:solidFill>
                  <a:srgbClr val="E8F0F8"/>
                </a:solidFill>
                <a:latin typeface="Consolas" pitchFamily="34" charset="0"/>
                <a:ea typeface="Consolas" pitchFamily="34" charset="-122"/>
                <a:cs typeface="Consolas" pitchFamily="34" charset="-120"/>
              </a:rPr>
              <a:t>top_df.set_index("word")["coef"].plot.barh(color="#D62828")</a:t>
            </a:r>
            <a:endParaRPr lang="en-US" sz="1200" dirty="0"/>
          </a:p>
          <a:p>
            <a:pPr marL="0" indent="0">
              <a:buNone/>
            </a:pPr>
            <a:r>
              <a:rPr lang="en-US" sz="1200" dirty="0">
                <a:solidFill>
                  <a:srgbClr val="E8F0F8"/>
                </a:solidFill>
                <a:latin typeface="Consolas" pitchFamily="34" charset="0"/>
                <a:ea typeface="Consolas" pitchFamily="34" charset="-122"/>
                <a:cs typeface="Consolas" pitchFamily="34" charset="-120"/>
              </a:rPr>
              <a:t>plt.title("Top 15 words pushing prediction toward 'negatif'")</a:t>
            </a:r>
            <a:endParaRPr lang="en-US" sz="1200" dirty="0"/>
          </a:p>
          <a:p>
            <a:pPr marL="0" indent="0">
              <a:buNone/>
            </a:pPr>
            <a:r>
              <a:rPr lang="en-US" sz="1200" dirty="0">
                <a:solidFill>
                  <a:srgbClr val="E8F0F8"/>
                </a:solidFill>
                <a:latin typeface="Consolas" pitchFamily="34" charset="0"/>
                <a:ea typeface="Consolas" pitchFamily="34" charset="-122"/>
                <a:cs typeface="Consolas" pitchFamily="34" charset="-120"/>
              </a:rPr>
              <a:t>plt.tight_layout(); plt.show()</a:t>
            </a:r>
            <a:endParaRPr lang="en-US" sz="1200" dirty="0"/>
          </a:p>
        </p:txBody>
      </p:sp>
      <p:sp>
        <p:nvSpPr>
          <p:cNvPr id="12" name="Shape 10"/>
          <p:cNvSpPr/>
          <p:nvPr/>
        </p:nvSpPr>
        <p:spPr>
          <a:xfrm>
            <a:off x="548640" y="5943600"/>
            <a:ext cx="11064240" cy="548640"/>
          </a:xfrm>
          <a:prstGeom prst="rect">
            <a:avLst/>
          </a:prstGeom>
          <a:solidFill>
            <a:srgbClr val="E7F1FB"/>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3" name="Text 11"/>
          <p:cNvSpPr/>
          <p:nvPr/>
        </p:nvSpPr>
        <p:spPr>
          <a:xfrm>
            <a:off x="777240" y="6035040"/>
            <a:ext cx="10607040" cy="365760"/>
          </a:xfrm>
          <a:prstGeom prst="rect">
            <a:avLst/>
          </a:prstGeom>
          <a:noFill/>
          <a:ln/>
        </p:spPr>
        <p:txBody>
          <a:bodyPr wrap="square" lIns="0" tIns="0" rIns="0" bIns="0" rtlCol="0" anchor="ctr"/>
          <a:lstStyle/>
          <a:p>
            <a:pPr marL="0" indent="0">
              <a:buNone/>
            </a:pPr>
            <a:r>
              <a:rPr lang="en-US" sz="1200" i="1" dirty="0">
                <a:solidFill>
                  <a:srgbClr val="0F2440"/>
                </a:solidFill>
                <a:latin typeface="Calibri" pitchFamily="34" charset="0"/>
                <a:ea typeface="Calibri" pitchFamily="34" charset="-122"/>
                <a:cs typeface="Calibri" pitchFamily="34" charset="-120"/>
              </a:rPr>
              <a:t>Pattern works for any linear model.   For tree-based models use feature_importances_  ·  for transformers use SHAP / LIME.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548640" y="1280160"/>
            <a:ext cx="3657600" cy="3200400"/>
          </a:xfrm>
          <a:prstGeom prst="rect">
            <a:avLst/>
          </a:prstGeom>
          <a:noFill/>
          <a:ln/>
        </p:spPr>
        <p:txBody>
          <a:bodyPr wrap="square" rtlCol="0" anchor="t"/>
          <a:lstStyle/>
          <a:p>
            <a:pPr marL="0" indent="0">
              <a:buNone/>
            </a:pPr>
            <a:r>
              <a:rPr lang="en-US" sz="24000" b="1" dirty="0">
                <a:solidFill>
                  <a:srgbClr val="F77F00"/>
                </a:solidFill>
                <a:latin typeface="Calibri" pitchFamily="34" charset="0"/>
                <a:ea typeface="Calibri" pitchFamily="34" charset="-122"/>
                <a:cs typeface="Calibri" pitchFamily="34" charset="-120"/>
              </a:rPr>
              <a:t>04</a:t>
            </a:r>
            <a:endParaRPr lang="en-US" sz="24000" dirty="0"/>
          </a:p>
        </p:txBody>
      </p:sp>
      <p:sp>
        <p:nvSpPr>
          <p:cNvPr id="3" name="Shape 1"/>
          <p:cNvSpPr/>
          <p:nvPr/>
        </p:nvSpPr>
        <p:spPr>
          <a:xfrm>
            <a:off x="4754880" y="2377440"/>
            <a:ext cx="54864" cy="1828800"/>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5029200" y="2286000"/>
            <a:ext cx="5486400" cy="365760"/>
          </a:xfrm>
          <a:prstGeom prst="rect">
            <a:avLst/>
          </a:prstGeom>
          <a:noFill/>
          <a:ln/>
        </p:spPr>
        <p:txBody>
          <a:bodyPr wrap="square" rtlCol="0" anchor="ctr"/>
          <a:lstStyle/>
          <a:p>
            <a:pPr marL="0" indent="0">
              <a:buNone/>
            </a:pPr>
            <a:r>
              <a:rPr lang="en-US" sz="1400" b="1" kern="0" spc="600" dirty="0">
                <a:solidFill>
                  <a:srgbClr val="00B4D8"/>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5029200" y="2606040"/>
            <a:ext cx="6858000" cy="11887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Hyperparameter Tuning with Grid Search</a:t>
            </a:r>
            <a:endParaRPr lang="en-US" sz="3800" dirty="0"/>
          </a:p>
        </p:txBody>
      </p:sp>
      <p:sp>
        <p:nvSpPr>
          <p:cNvPr id="6" name="Text 4"/>
          <p:cNvSpPr/>
          <p:nvPr/>
        </p:nvSpPr>
        <p:spPr>
          <a:xfrm>
            <a:off x="5029200" y="3749040"/>
            <a:ext cx="6675120" cy="822960"/>
          </a:xfrm>
          <a:prstGeom prst="rect">
            <a:avLst/>
          </a:prstGeom>
          <a:noFill/>
          <a:ln/>
        </p:spPr>
        <p:txBody>
          <a:bodyPr wrap="square" lIns="0" tIns="0" rIns="0" bIns="0" rtlCol="0" anchor="ctr"/>
          <a:lstStyle/>
          <a:p>
            <a:pPr marL="0" indent="0">
              <a:buNone/>
            </a:pPr>
            <a:r>
              <a:rPr lang="en-US" sz="1600" dirty="0">
                <a:solidFill>
                  <a:srgbClr val="CFE5F8"/>
                </a:solidFill>
                <a:latin typeface="Calibri" pitchFamily="34" charset="0"/>
                <a:ea typeface="Calibri" pitchFamily="34" charset="-122"/>
                <a:cs typeface="Calibri" pitchFamily="34" charset="-120"/>
              </a:rPr>
              <a:t>Find the best model — without peeking at the test set</a:t>
            </a:r>
            <a:endParaRPr lang="en-US" sz="1600" dirty="0"/>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23 / 35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1E3A5F"/>
          </a:solidFill>
          <a:ln w="12700">
            <a:solidFill>
              <a:srgbClr val="1E3A5F"/>
            </a:solidFill>
            <a:prstDash val="solid"/>
          </a:ln>
        </p:spPr>
        <p:txBody>
          <a:bodyPr/>
          <a:lstStyle/>
          <a:p>
            <a:endParaRPr lang="en-GB"/>
          </a:p>
        </p:txBody>
      </p:sp>
      <p:sp>
        <p:nvSpPr>
          <p:cNvPr id="3" name="Shape 1"/>
          <p:cNvSpPr/>
          <p:nvPr/>
        </p:nvSpPr>
        <p:spPr>
          <a:xfrm>
            <a:off x="0" y="0"/>
            <a:ext cx="2377440" cy="164592"/>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457200" y="292608"/>
            <a:ext cx="10972800" cy="320040"/>
          </a:xfrm>
          <a:prstGeom prst="rect">
            <a:avLst/>
          </a:prstGeom>
          <a:noFill/>
          <a:ln/>
        </p:spPr>
        <p:txBody>
          <a:bodyPr wrap="square" rtlCol="0" anchor="ctr"/>
          <a:lstStyle/>
          <a:p>
            <a:pPr marL="0" indent="0">
              <a:buNone/>
            </a:pPr>
            <a:r>
              <a:rPr lang="en-US" sz="1100" b="1" kern="0" spc="400" dirty="0">
                <a:solidFill>
                  <a:srgbClr val="F77F00"/>
                </a:solidFill>
                <a:latin typeface="Calibri" pitchFamily="34" charset="0"/>
                <a:ea typeface="Calibri" pitchFamily="34" charset="-122"/>
                <a:cs typeface="Calibri" pitchFamily="34" charset="-120"/>
              </a:rPr>
              <a:t>TOO MANY KNOBS, NOT ENOUGH TIME</a:t>
            </a:r>
            <a:endParaRPr lang="en-US" sz="1100" dirty="0"/>
          </a:p>
        </p:txBody>
      </p:sp>
      <p:sp>
        <p:nvSpPr>
          <p:cNvPr id="5" name="Text 3"/>
          <p:cNvSpPr/>
          <p:nvPr/>
        </p:nvSpPr>
        <p:spPr>
          <a:xfrm>
            <a:off x="457200" y="594360"/>
            <a:ext cx="11247120" cy="777240"/>
          </a:xfrm>
          <a:prstGeom prst="rect">
            <a:avLst/>
          </a:prstGeom>
          <a:noFill/>
          <a:ln/>
        </p:spPr>
        <p:txBody>
          <a:bodyPr wrap="square" lIns="0" tIns="0" rIns="0" bIns="0" rtlCol="0" anchor="ctr"/>
          <a:lstStyle/>
          <a:p>
            <a:pPr marL="0" indent="0">
              <a:buNone/>
            </a:pPr>
            <a:r>
              <a:rPr lang="en-US" sz="3000" b="1" dirty="0">
                <a:solidFill>
                  <a:srgbClr val="0F2440"/>
                </a:solidFill>
                <a:latin typeface="Calibri" pitchFamily="34" charset="0"/>
                <a:ea typeface="Calibri" pitchFamily="34" charset="-122"/>
                <a:cs typeface="Calibri" pitchFamily="34" charset="-120"/>
              </a:rPr>
              <a:t>The hyperparameter problem</a:t>
            </a:r>
            <a:endParaRPr lang="en-US" sz="3000" dirty="0"/>
          </a:p>
        </p:txBody>
      </p:sp>
      <p:sp>
        <p:nvSpPr>
          <p:cNvPr id="6" name="Shape 4"/>
          <p:cNvSpPr/>
          <p:nvPr/>
        </p:nvSpPr>
        <p:spPr>
          <a:xfrm>
            <a:off x="457200" y="137160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24 / 35</a:t>
            </a:r>
            <a:endParaRPr lang="en-US" sz="900" dirty="0"/>
          </a:p>
        </p:txBody>
      </p:sp>
      <p:sp>
        <p:nvSpPr>
          <p:cNvPr id="10" name="Shape 8"/>
          <p:cNvSpPr/>
          <p:nvPr/>
        </p:nvSpPr>
        <p:spPr>
          <a:xfrm>
            <a:off x="548640" y="1691640"/>
            <a:ext cx="11064240" cy="1554480"/>
          </a:xfrm>
          <a:prstGeom prst="rect">
            <a:avLst/>
          </a:prstGeom>
          <a:solidFill>
            <a:srgbClr val="FFE9D6"/>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1" name="Text 9"/>
          <p:cNvSpPr/>
          <p:nvPr/>
        </p:nvSpPr>
        <p:spPr>
          <a:xfrm>
            <a:off x="777240" y="1783080"/>
            <a:ext cx="10607040" cy="365760"/>
          </a:xfrm>
          <a:prstGeom prst="rect">
            <a:avLst/>
          </a:prstGeom>
          <a:noFill/>
          <a:ln/>
        </p:spPr>
        <p:txBody>
          <a:bodyPr wrap="square" lIns="0" tIns="0" rIns="0" bIns="0" rtlCol="0" anchor="ctr"/>
          <a:lstStyle/>
          <a:p>
            <a:pPr marL="0" indent="0">
              <a:buNone/>
            </a:pPr>
            <a:r>
              <a:rPr lang="en-US" sz="1400" b="1" dirty="0">
                <a:solidFill>
                  <a:srgbClr val="0F2440"/>
                </a:solidFill>
                <a:latin typeface="Calibri" pitchFamily="34" charset="0"/>
                <a:ea typeface="Calibri" pitchFamily="34" charset="-122"/>
                <a:cs typeface="Calibri" pitchFamily="34" charset="-120"/>
              </a:rPr>
              <a:t>Our pipeline has at least 6 important knobs:</a:t>
            </a:r>
            <a:endParaRPr lang="en-US" sz="1400" dirty="0"/>
          </a:p>
        </p:txBody>
      </p:sp>
      <p:sp>
        <p:nvSpPr>
          <p:cNvPr id="12" name="Text 10"/>
          <p:cNvSpPr/>
          <p:nvPr/>
        </p:nvSpPr>
        <p:spPr>
          <a:xfrm>
            <a:off x="914400" y="2286000"/>
            <a:ext cx="3383280" cy="365760"/>
          </a:xfrm>
          <a:prstGeom prst="rect">
            <a:avLst/>
          </a:prstGeom>
          <a:noFill/>
          <a:ln/>
        </p:spPr>
        <p:txBody>
          <a:bodyPr wrap="square" lIns="0" tIns="0" rIns="0" bIns="0" rtlCol="0" anchor="ctr"/>
          <a:lstStyle/>
          <a:p>
            <a:pPr marL="0" indent="0">
              <a:buNone/>
            </a:pPr>
            <a:r>
              <a:rPr lang="en-US" sz="1300" b="1" dirty="0">
                <a:solidFill>
                  <a:srgbClr val="F77F00"/>
                </a:solidFill>
                <a:latin typeface="Consolas" pitchFamily="34" charset="0"/>
                <a:ea typeface="Consolas" pitchFamily="34" charset="-122"/>
                <a:cs typeface="Consolas" pitchFamily="34" charset="-120"/>
              </a:rPr>
              <a:t>tfidf__min_df</a:t>
            </a:r>
            <a:endParaRPr lang="en-US" sz="1300" dirty="0"/>
          </a:p>
        </p:txBody>
      </p:sp>
      <p:sp>
        <p:nvSpPr>
          <p:cNvPr id="13" name="Text 11"/>
          <p:cNvSpPr/>
          <p:nvPr/>
        </p:nvSpPr>
        <p:spPr>
          <a:xfrm>
            <a:off x="4572000" y="2286000"/>
            <a:ext cx="3383280" cy="365760"/>
          </a:xfrm>
          <a:prstGeom prst="rect">
            <a:avLst/>
          </a:prstGeom>
          <a:noFill/>
          <a:ln/>
        </p:spPr>
        <p:txBody>
          <a:bodyPr wrap="square" lIns="0" tIns="0" rIns="0" bIns="0" rtlCol="0" anchor="ctr"/>
          <a:lstStyle/>
          <a:p>
            <a:pPr marL="0" indent="0">
              <a:buNone/>
            </a:pPr>
            <a:r>
              <a:rPr lang="en-US" sz="1300" b="1" dirty="0">
                <a:solidFill>
                  <a:srgbClr val="F77F00"/>
                </a:solidFill>
                <a:latin typeface="Consolas" pitchFamily="34" charset="0"/>
                <a:ea typeface="Consolas" pitchFamily="34" charset="-122"/>
                <a:cs typeface="Consolas" pitchFamily="34" charset="-120"/>
              </a:rPr>
              <a:t>tfidf__max_df</a:t>
            </a:r>
            <a:endParaRPr lang="en-US" sz="1300" dirty="0"/>
          </a:p>
        </p:txBody>
      </p:sp>
      <p:sp>
        <p:nvSpPr>
          <p:cNvPr id="14" name="Text 12"/>
          <p:cNvSpPr/>
          <p:nvPr/>
        </p:nvSpPr>
        <p:spPr>
          <a:xfrm>
            <a:off x="8229600" y="2286000"/>
            <a:ext cx="3383280" cy="365760"/>
          </a:xfrm>
          <a:prstGeom prst="rect">
            <a:avLst/>
          </a:prstGeom>
          <a:noFill/>
          <a:ln/>
        </p:spPr>
        <p:txBody>
          <a:bodyPr wrap="square" lIns="0" tIns="0" rIns="0" bIns="0" rtlCol="0" anchor="ctr"/>
          <a:lstStyle/>
          <a:p>
            <a:pPr marL="0" indent="0">
              <a:buNone/>
            </a:pPr>
            <a:r>
              <a:rPr lang="en-US" sz="1300" b="1" dirty="0">
                <a:solidFill>
                  <a:srgbClr val="F77F00"/>
                </a:solidFill>
                <a:latin typeface="Consolas" pitchFamily="34" charset="0"/>
                <a:ea typeface="Consolas" pitchFamily="34" charset="-122"/>
                <a:cs typeface="Consolas" pitchFamily="34" charset="-120"/>
              </a:rPr>
              <a:t>tfidf__ngram_range</a:t>
            </a:r>
            <a:endParaRPr lang="en-US" sz="1300" dirty="0"/>
          </a:p>
        </p:txBody>
      </p:sp>
      <p:sp>
        <p:nvSpPr>
          <p:cNvPr id="15" name="Text 13"/>
          <p:cNvSpPr/>
          <p:nvPr/>
        </p:nvSpPr>
        <p:spPr>
          <a:xfrm>
            <a:off x="914400" y="2743200"/>
            <a:ext cx="3383280" cy="365760"/>
          </a:xfrm>
          <a:prstGeom prst="rect">
            <a:avLst/>
          </a:prstGeom>
          <a:noFill/>
          <a:ln/>
        </p:spPr>
        <p:txBody>
          <a:bodyPr wrap="square" lIns="0" tIns="0" rIns="0" bIns="0" rtlCol="0" anchor="ctr"/>
          <a:lstStyle/>
          <a:p>
            <a:pPr marL="0" indent="0">
              <a:buNone/>
            </a:pPr>
            <a:r>
              <a:rPr lang="en-US" sz="1300" b="1" dirty="0">
                <a:solidFill>
                  <a:srgbClr val="F77F00"/>
                </a:solidFill>
                <a:latin typeface="Consolas" pitchFamily="34" charset="0"/>
                <a:ea typeface="Consolas" pitchFamily="34" charset="-122"/>
                <a:cs typeface="Consolas" pitchFamily="34" charset="-120"/>
              </a:rPr>
              <a:t>clf__C</a:t>
            </a:r>
            <a:endParaRPr lang="en-US" sz="1300" dirty="0"/>
          </a:p>
        </p:txBody>
      </p:sp>
      <p:sp>
        <p:nvSpPr>
          <p:cNvPr id="16" name="Text 14"/>
          <p:cNvSpPr/>
          <p:nvPr/>
        </p:nvSpPr>
        <p:spPr>
          <a:xfrm>
            <a:off x="4572000" y="2743200"/>
            <a:ext cx="3383280" cy="365760"/>
          </a:xfrm>
          <a:prstGeom prst="rect">
            <a:avLst/>
          </a:prstGeom>
          <a:noFill/>
          <a:ln/>
        </p:spPr>
        <p:txBody>
          <a:bodyPr wrap="square" lIns="0" tIns="0" rIns="0" bIns="0" rtlCol="0" anchor="ctr"/>
          <a:lstStyle/>
          <a:p>
            <a:pPr marL="0" indent="0">
              <a:buNone/>
            </a:pPr>
            <a:r>
              <a:rPr lang="en-US" sz="1300" b="1" dirty="0">
                <a:solidFill>
                  <a:srgbClr val="F77F00"/>
                </a:solidFill>
                <a:latin typeface="Consolas" pitchFamily="34" charset="0"/>
                <a:ea typeface="Consolas" pitchFamily="34" charset="-122"/>
                <a:cs typeface="Consolas" pitchFamily="34" charset="-120"/>
              </a:rPr>
              <a:t>clf__class_weight</a:t>
            </a:r>
            <a:endParaRPr lang="en-US" sz="1300" dirty="0"/>
          </a:p>
        </p:txBody>
      </p:sp>
      <p:sp>
        <p:nvSpPr>
          <p:cNvPr id="17" name="Text 15"/>
          <p:cNvSpPr/>
          <p:nvPr/>
        </p:nvSpPr>
        <p:spPr>
          <a:xfrm>
            <a:off x="8229600" y="2743200"/>
            <a:ext cx="3383280" cy="365760"/>
          </a:xfrm>
          <a:prstGeom prst="rect">
            <a:avLst/>
          </a:prstGeom>
          <a:noFill/>
          <a:ln/>
        </p:spPr>
        <p:txBody>
          <a:bodyPr wrap="square" lIns="0" tIns="0" rIns="0" bIns="0" rtlCol="0" anchor="ctr"/>
          <a:lstStyle/>
          <a:p>
            <a:pPr marL="0" indent="0">
              <a:buNone/>
            </a:pPr>
            <a:r>
              <a:rPr lang="en-US" sz="1300" b="1" dirty="0">
                <a:solidFill>
                  <a:srgbClr val="F77F00"/>
                </a:solidFill>
                <a:latin typeface="Consolas" pitchFamily="34" charset="0"/>
                <a:ea typeface="Consolas" pitchFamily="34" charset="-122"/>
                <a:cs typeface="Consolas" pitchFamily="34" charset="-120"/>
              </a:rPr>
              <a:t>clf__solver</a:t>
            </a:r>
            <a:endParaRPr lang="en-US" sz="1300" dirty="0"/>
          </a:p>
        </p:txBody>
      </p:sp>
      <p:sp>
        <p:nvSpPr>
          <p:cNvPr id="18" name="Shape 16"/>
          <p:cNvSpPr/>
          <p:nvPr/>
        </p:nvSpPr>
        <p:spPr>
          <a:xfrm>
            <a:off x="548640" y="3383280"/>
            <a:ext cx="11064240" cy="1371600"/>
          </a:xfrm>
          <a:prstGeom prst="rect">
            <a:avLst/>
          </a:prstGeom>
          <a:solidFill>
            <a:srgbClr val="E7F1FB"/>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9" name="Text 17"/>
          <p:cNvSpPr/>
          <p:nvPr/>
        </p:nvSpPr>
        <p:spPr>
          <a:xfrm>
            <a:off x="777240" y="3520440"/>
            <a:ext cx="10607040" cy="457200"/>
          </a:xfrm>
          <a:prstGeom prst="rect">
            <a:avLst/>
          </a:prstGeom>
          <a:noFill/>
          <a:ln/>
        </p:spPr>
        <p:txBody>
          <a:bodyPr wrap="square" lIns="0" tIns="0" rIns="0" bIns="0" rtlCol="0" anchor="ctr"/>
          <a:lstStyle/>
          <a:p>
            <a:pPr marL="0" indent="0">
              <a:buNone/>
            </a:pPr>
            <a:r>
              <a:rPr lang="en-US" sz="1400" b="1" dirty="0">
                <a:solidFill>
                  <a:srgbClr val="0F2440"/>
                </a:solidFill>
                <a:latin typeface="Calibri" pitchFamily="34" charset="0"/>
                <a:ea typeface="Calibri" pitchFamily="34" charset="-122"/>
                <a:cs typeface="Calibri" pitchFamily="34" charset="-120"/>
              </a:rPr>
              <a:t>Trying just 3 values for each → 3⁶ = 729 combinations.   At 5-fold CV that's 3,645 model fits.</a:t>
            </a:r>
            <a:endParaRPr lang="en-US" sz="1400" dirty="0"/>
          </a:p>
        </p:txBody>
      </p:sp>
      <p:sp>
        <p:nvSpPr>
          <p:cNvPr id="20" name="Text 18"/>
          <p:cNvSpPr/>
          <p:nvPr/>
        </p:nvSpPr>
        <p:spPr>
          <a:xfrm>
            <a:off x="777240" y="4023360"/>
            <a:ext cx="10607040" cy="457200"/>
          </a:xfrm>
          <a:prstGeom prst="rect">
            <a:avLst/>
          </a:prstGeom>
          <a:noFill/>
          <a:ln/>
        </p:spPr>
        <p:txBody>
          <a:bodyPr wrap="square" lIns="0" tIns="0" rIns="0" bIns="0" rtlCol="0" anchor="ctr"/>
          <a:lstStyle/>
          <a:p>
            <a:pPr marL="0" indent="0">
              <a:buNone/>
            </a:pPr>
            <a:r>
              <a:rPr lang="en-US" sz="1300" i="1" dirty="0">
                <a:solidFill>
                  <a:srgbClr val="212529"/>
                </a:solidFill>
                <a:latin typeface="Calibri" pitchFamily="34" charset="0"/>
                <a:ea typeface="Calibri" pitchFamily="34" charset="-122"/>
                <a:cs typeface="Calibri" pitchFamily="34" charset="-120"/>
              </a:rPr>
              <a:t>Don't tune by guessing. Don't tune by checking the test set repeatedly (= silent overfitting).</a:t>
            </a:r>
            <a:endParaRPr lang="en-US" sz="1300" dirty="0"/>
          </a:p>
        </p:txBody>
      </p:sp>
      <p:sp>
        <p:nvSpPr>
          <p:cNvPr id="21" name="Text 19"/>
          <p:cNvSpPr/>
          <p:nvPr/>
        </p:nvSpPr>
        <p:spPr>
          <a:xfrm>
            <a:off x="777240" y="4434840"/>
            <a:ext cx="10607040" cy="365760"/>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Use GridSearchCV — it tries combinations under cross-validation.</a:t>
            </a:r>
            <a:endParaRPr lang="en-US" sz="1300" dirty="0"/>
          </a:p>
        </p:txBody>
      </p:sp>
      <p:sp>
        <p:nvSpPr>
          <p:cNvPr id="22" name="Shape 20"/>
          <p:cNvSpPr/>
          <p:nvPr/>
        </p:nvSpPr>
        <p:spPr>
          <a:xfrm>
            <a:off x="548640" y="4983480"/>
            <a:ext cx="5349240" cy="146304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23" name="Text 21"/>
          <p:cNvSpPr/>
          <p:nvPr/>
        </p:nvSpPr>
        <p:spPr>
          <a:xfrm>
            <a:off x="777240" y="5074920"/>
            <a:ext cx="4572000" cy="320040"/>
          </a:xfrm>
          <a:prstGeom prst="rect">
            <a:avLst/>
          </a:prstGeom>
          <a:noFill/>
          <a:ln/>
        </p:spPr>
        <p:txBody>
          <a:bodyPr wrap="square" lIns="0" tIns="0" rIns="0" bIns="0" rtlCol="0" anchor="ctr"/>
          <a:lstStyle/>
          <a:p>
            <a:pPr marL="0" indent="0">
              <a:buNone/>
            </a:pPr>
            <a:r>
              <a:rPr lang="en-US" sz="1200" b="1" kern="0" spc="300" dirty="0">
                <a:solidFill>
                  <a:srgbClr val="06A77D"/>
                </a:solidFill>
                <a:latin typeface="Calibri" pitchFamily="34" charset="0"/>
                <a:ea typeface="Calibri" pitchFamily="34" charset="-122"/>
                <a:cs typeface="Calibri" pitchFamily="34" charset="-120"/>
              </a:rPr>
              <a:t>Pros</a:t>
            </a:r>
            <a:endParaRPr lang="en-US" sz="1200" dirty="0"/>
          </a:p>
        </p:txBody>
      </p:sp>
      <p:sp>
        <p:nvSpPr>
          <p:cNvPr id="24" name="Text 22"/>
          <p:cNvSpPr/>
          <p:nvPr/>
        </p:nvSpPr>
        <p:spPr>
          <a:xfrm>
            <a:off x="777240" y="5440680"/>
            <a:ext cx="4937760" cy="100584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 Exhaustive search — finds the best in your grid</a:t>
            </a:r>
            <a:endParaRPr lang="en-US" sz="1200" dirty="0"/>
          </a:p>
          <a:p>
            <a:pPr marL="0" indent="0">
              <a:buNone/>
            </a:pPr>
            <a:r>
              <a:rPr lang="en-US" sz="1200" dirty="0">
                <a:solidFill>
                  <a:srgbClr val="212529"/>
                </a:solidFill>
                <a:latin typeface="Calibri" pitchFamily="34" charset="0"/>
                <a:ea typeface="Calibri" pitchFamily="34" charset="-122"/>
                <a:cs typeface="Calibri" pitchFamily="34" charset="-120"/>
              </a:rPr>
              <a:t>• Reproducible &amp; well-documented</a:t>
            </a:r>
            <a:endParaRPr lang="en-US" sz="1200" dirty="0"/>
          </a:p>
          <a:p>
            <a:pPr marL="0" indent="0">
              <a:buNone/>
            </a:pPr>
            <a:r>
              <a:rPr lang="en-US" sz="1200" dirty="0">
                <a:solidFill>
                  <a:srgbClr val="212529"/>
                </a:solidFill>
                <a:latin typeface="Calibri" pitchFamily="34" charset="0"/>
                <a:ea typeface="Calibri" pitchFamily="34" charset="-122"/>
                <a:cs typeface="Calibri" pitchFamily="34" charset="-120"/>
              </a:rPr>
              <a:t>• Built-in scoring + CV</a:t>
            </a:r>
            <a:endParaRPr lang="en-US" sz="1200" dirty="0"/>
          </a:p>
        </p:txBody>
      </p:sp>
      <p:sp>
        <p:nvSpPr>
          <p:cNvPr id="25" name="Shape 23"/>
          <p:cNvSpPr/>
          <p:nvPr/>
        </p:nvSpPr>
        <p:spPr>
          <a:xfrm>
            <a:off x="6263640" y="4983480"/>
            <a:ext cx="5349240" cy="146304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26" name="Text 24"/>
          <p:cNvSpPr/>
          <p:nvPr/>
        </p:nvSpPr>
        <p:spPr>
          <a:xfrm>
            <a:off x="6492240" y="5074920"/>
            <a:ext cx="4572000" cy="320040"/>
          </a:xfrm>
          <a:prstGeom prst="rect">
            <a:avLst/>
          </a:prstGeom>
          <a:noFill/>
          <a:ln/>
        </p:spPr>
        <p:txBody>
          <a:bodyPr wrap="square" lIns="0" tIns="0" rIns="0" bIns="0" rtlCol="0" anchor="ctr"/>
          <a:lstStyle/>
          <a:p>
            <a:pPr marL="0" indent="0">
              <a:buNone/>
            </a:pPr>
            <a:r>
              <a:rPr lang="en-US" sz="1200" b="1" kern="0" spc="300" dirty="0">
                <a:solidFill>
                  <a:srgbClr val="D62828"/>
                </a:solidFill>
                <a:latin typeface="Calibri" pitchFamily="34" charset="0"/>
                <a:ea typeface="Calibri" pitchFamily="34" charset="-122"/>
                <a:cs typeface="Calibri" pitchFamily="34" charset="-120"/>
              </a:rPr>
              <a:t>Cons</a:t>
            </a:r>
            <a:endParaRPr lang="en-US" sz="1200" dirty="0"/>
          </a:p>
        </p:txBody>
      </p:sp>
      <p:sp>
        <p:nvSpPr>
          <p:cNvPr id="27" name="Text 25"/>
          <p:cNvSpPr/>
          <p:nvPr/>
        </p:nvSpPr>
        <p:spPr>
          <a:xfrm>
            <a:off x="6492240" y="5440680"/>
            <a:ext cx="4937760" cy="100584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 Time-intensive — exponential in #knobs</a:t>
            </a:r>
            <a:endParaRPr lang="en-US" sz="1200" dirty="0"/>
          </a:p>
          <a:p>
            <a:pPr marL="0" indent="0">
              <a:buNone/>
            </a:pPr>
            <a:r>
              <a:rPr lang="en-US" sz="1200" dirty="0">
                <a:solidFill>
                  <a:srgbClr val="212529"/>
                </a:solidFill>
                <a:latin typeface="Calibri" pitchFamily="34" charset="0"/>
                <a:ea typeface="Calibri" pitchFamily="34" charset="-122"/>
                <a:cs typeface="Calibri" pitchFamily="34" charset="-120"/>
              </a:rPr>
              <a:t>• You have to know the search ranges</a:t>
            </a:r>
            <a:endParaRPr lang="en-US" sz="1200" dirty="0"/>
          </a:p>
          <a:p>
            <a:pPr marL="0" indent="0">
              <a:buNone/>
            </a:pPr>
            <a:r>
              <a:rPr lang="en-US" sz="1200" dirty="0">
                <a:solidFill>
                  <a:srgbClr val="212529"/>
                </a:solidFill>
                <a:latin typeface="Calibri" pitchFamily="34" charset="0"/>
                <a:ea typeface="Calibri" pitchFamily="34" charset="-122"/>
                <a:cs typeface="Calibri" pitchFamily="34" charset="-120"/>
              </a:rPr>
              <a:t>• Try RandomizedSearchCV / Bayesian for big grids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1E3A5F"/>
          </a:solidFill>
          <a:ln w="12700">
            <a:solidFill>
              <a:srgbClr val="1E3A5F"/>
            </a:solidFill>
            <a:prstDash val="solid"/>
          </a:ln>
        </p:spPr>
        <p:txBody>
          <a:bodyPr/>
          <a:lstStyle/>
          <a:p>
            <a:endParaRPr lang="en-GB"/>
          </a:p>
        </p:txBody>
      </p:sp>
      <p:sp>
        <p:nvSpPr>
          <p:cNvPr id="3" name="Shape 1"/>
          <p:cNvSpPr/>
          <p:nvPr/>
        </p:nvSpPr>
        <p:spPr>
          <a:xfrm>
            <a:off x="0" y="0"/>
            <a:ext cx="2377440" cy="164592"/>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457200" y="292608"/>
            <a:ext cx="10972800" cy="320040"/>
          </a:xfrm>
          <a:prstGeom prst="rect">
            <a:avLst/>
          </a:prstGeom>
          <a:noFill/>
          <a:ln/>
        </p:spPr>
        <p:txBody>
          <a:bodyPr wrap="square" rtlCol="0" anchor="ctr"/>
          <a:lstStyle/>
          <a:p>
            <a:pPr marL="0" indent="0">
              <a:buNone/>
            </a:pPr>
            <a:r>
              <a:rPr lang="en-US" sz="1100" b="1" kern="0" spc="400" dirty="0">
                <a:solidFill>
                  <a:srgbClr val="F77F00"/>
                </a:solidFill>
                <a:latin typeface="Calibri" pitchFamily="34" charset="0"/>
                <a:ea typeface="Calibri" pitchFamily="34" charset="-122"/>
                <a:cs typeface="Calibri" pitchFamily="34" charset="-120"/>
              </a:rPr>
              <a:t>TUNE THE ENTIRE PIPELINE AT ONCE</a:t>
            </a:r>
            <a:endParaRPr lang="en-US" sz="1100" dirty="0"/>
          </a:p>
        </p:txBody>
      </p:sp>
      <p:sp>
        <p:nvSpPr>
          <p:cNvPr id="5" name="Text 3"/>
          <p:cNvSpPr/>
          <p:nvPr/>
        </p:nvSpPr>
        <p:spPr>
          <a:xfrm>
            <a:off x="457200" y="594360"/>
            <a:ext cx="11247120" cy="777240"/>
          </a:xfrm>
          <a:prstGeom prst="rect">
            <a:avLst/>
          </a:prstGeom>
          <a:noFill/>
          <a:ln/>
        </p:spPr>
        <p:txBody>
          <a:bodyPr wrap="square" lIns="0" tIns="0" rIns="0" bIns="0" rtlCol="0" anchor="ctr"/>
          <a:lstStyle/>
          <a:p>
            <a:pPr marL="0" indent="0">
              <a:buNone/>
            </a:pPr>
            <a:r>
              <a:rPr lang="en-US" sz="3000" b="1" dirty="0">
                <a:solidFill>
                  <a:srgbClr val="0F2440"/>
                </a:solidFill>
                <a:latin typeface="Calibri" pitchFamily="34" charset="0"/>
                <a:ea typeface="Calibri" pitchFamily="34" charset="-122"/>
                <a:cs typeface="Calibri" pitchFamily="34" charset="-120"/>
              </a:rPr>
              <a:t>Code · GridSearchCV</a:t>
            </a:r>
            <a:endParaRPr lang="en-US" sz="3000" dirty="0"/>
          </a:p>
        </p:txBody>
      </p:sp>
      <p:sp>
        <p:nvSpPr>
          <p:cNvPr id="6" name="Shape 4"/>
          <p:cNvSpPr/>
          <p:nvPr/>
        </p:nvSpPr>
        <p:spPr>
          <a:xfrm>
            <a:off x="457200" y="137160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25 / 35</a:t>
            </a:r>
            <a:endParaRPr lang="en-US" sz="900" dirty="0"/>
          </a:p>
        </p:txBody>
      </p:sp>
      <p:sp>
        <p:nvSpPr>
          <p:cNvPr id="10" name="Shape 8"/>
          <p:cNvSpPr/>
          <p:nvPr/>
        </p:nvSpPr>
        <p:spPr>
          <a:xfrm>
            <a:off x="548640" y="1691640"/>
            <a:ext cx="11064240" cy="4663440"/>
          </a:xfrm>
          <a:prstGeom prst="rect">
            <a:avLst/>
          </a:prstGeom>
          <a:solidFill>
            <a:srgbClr val="1B2330"/>
          </a:solidFill>
          <a:ln w="12700">
            <a:solidFill>
              <a:srgbClr val="1B2330"/>
            </a:solidFill>
            <a:prstDash val="solid"/>
          </a:ln>
        </p:spPr>
        <p:txBody>
          <a:bodyPr/>
          <a:lstStyle/>
          <a:p>
            <a:endParaRPr lang="en-GB"/>
          </a:p>
        </p:txBody>
      </p:sp>
      <p:sp>
        <p:nvSpPr>
          <p:cNvPr id="11" name="Text 9"/>
          <p:cNvSpPr/>
          <p:nvPr/>
        </p:nvSpPr>
        <p:spPr>
          <a:xfrm>
            <a:off x="685800" y="1783080"/>
            <a:ext cx="10789920" cy="4480560"/>
          </a:xfrm>
          <a:prstGeom prst="rect">
            <a:avLst/>
          </a:prstGeom>
          <a:noFill/>
          <a:ln/>
        </p:spPr>
        <p:txBody>
          <a:bodyPr wrap="square" lIns="0" tIns="0" rIns="0" bIns="0" rtlCol="0" anchor="t"/>
          <a:lstStyle/>
          <a:p>
            <a:pPr marL="0" indent="0">
              <a:buNone/>
            </a:pPr>
            <a:r>
              <a:rPr lang="en-US" sz="1300" dirty="0">
                <a:solidFill>
                  <a:srgbClr val="E8F0F8"/>
                </a:solidFill>
                <a:latin typeface="Consolas" pitchFamily="34" charset="0"/>
                <a:ea typeface="Consolas" pitchFamily="34" charset="-122"/>
                <a:cs typeface="Consolas" pitchFamily="34" charset="-120"/>
              </a:rPr>
              <a:t>from sklearn.model_selection import GridSearchCV</a:t>
            </a:r>
            <a:endParaRPr lang="en-US" sz="1300" dirty="0"/>
          </a:p>
          <a:p>
            <a:pPr marL="0" indent="0">
              <a:buNone/>
            </a:pP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param_grid = {</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    "tfidf__min_df":      [1, 3, 5],</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    "tfidf__ngram_range": [(1,1), (1,2)],</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    "clf__C":             [0.1, 1.0, 10.0],</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a:t>
            </a:r>
            <a:endParaRPr lang="en-US" sz="1300" dirty="0"/>
          </a:p>
          <a:p>
            <a:pPr marL="0" indent="0">
              <a:buNone/>
            </a:pP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gs = GridSearchCV(</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    pipe, param_grid,</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    cv=5, scoring="f1_macro",</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    n_jobs=-1, verbose=1, return_train_score=True</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gs.fit(X_train, y_train)</a:t>
            </a:r>
            <a:endParaRPr lang="en-US" sz="1300" dirty="0"/>
          </a:p>
          <a:p>
            <a:pPr marL="0" indent="0">
              <a:buNone/>
            </a:pP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print("Best params :", gs.best_params_)</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print("Best CV F1  :", round(gs.best_score_, 3))</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print("Test F1     :", round(f1_score(y_test, gs.predict(X_test), average="macro"), 3))</a:t>
            </a:r>
            <a:endParaRPr lang="en-US" sz="1300" dirty="0"/>
          </a:p>
          <a:p>
            <a:pPr marL="0" indent="0">
              <a:buNone/>
            </a:pP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 Output:</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 Best params : {'clf__C': 10.0, 'tfidf__min_df': 3, 'tfidf__ngram_range': (1, 2)}</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 Best CV F1  : 0.793</a:t>
            </a:r>
            <a:endParaRPr lang="en-US" sz="1300" dirty="0"/>
          </a:p>
          <a:p>
            <a:pPr marL="0" indent="0">
              <a:buNone/>
            </a:pPr>
            <a:r>
              <a:rPr lang="en-US" sz="1300" dirty="0">
                <a:solidFill>
                  <a:srgbClr val="E8F0F8"/>
                </a:solidFill>
                <a:latin typeface="Consolas" pitchFamily="34" charset="0"/>
                <a:ea typeface="Consolas" pitchFamily="34" charset="-122"/>
                <a:cs typeface="Consolas" pitchFamily="34" charset="-120"/>
              </a:rPr>
              <a:t># Test F1     : 0.804</a:t>
            </a:r>
            <a:endParaRPr lang="en-US" sz="1300" dirty="0"/>
          </a:p>
        </p:txBody>
      </p:sp>
      <p:sp>
        <p:nvSpPr>
          <p:cNvPr id="12" name="Shape 10"/>
          <p:cNvSpPr/>
          <p:nvPr/>
        </p:nvSpPr>
        <p:spPr>
          <a:xfrm>
            <a:off x="548640" y="6446520"/>
            <a:ext cx="11064240" cy="365760"/>
          </a:xfrm>
          <a:prstGeom prst="rect">
            <a:avLst/>
          </a:prstGeom>
          <a:solidFill>
            <a:srgbClr val="FFE9D6"/>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3" name="Text 11"/>
          <p:cNvSpPr/>
          <p:nvPr/>
        </p:nvSpPr>
        <p:spPr>
          <a:xfrm>
            <a:off x="777240" y="6464808"/>
            <a:ext cx="10607040" cy="320040"/>
          </a:xfrm>
          <a:prstGeom prst="rect">
            <a:avLst/>
          </a:prstGeom>
          <a:noFill/>
          <a:ln/>
        </p:spPr>
        <p:txBody>
          <a:bodyPr wrap="square" lIns="0" tIns="0" rIns="0" bIns="0" rtlCol="0" anchor="ctr"/>
          <a:lstStyle/>
          <a:p>
            <a:pPr marL="0" indent="0">
              <a:buNone/>
            </a:pPr>
            <a:r>
              <a:rPr lang="en-US" sz="1100" i="1" dirty="0">
                <a:solidFill>
                  <a:srgbClr val="0F2440"/>
                </a:solidFill>
                <a:latin typeface="Calibri" pitchFamily="34" charset="0"/>
                <a:ea typeface="Calibri" pitchFamily="34" charset="-122"/>
                <a:cs typeface="Calibri" pitchFamily="34" charset="-120"/>
              </a:rPr>
              <a:t>3 × 2 × 3 = 18 combinations × 5 folds = 90 fits.   Runs in ~2 minutes on a laptop.</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1E3A5F"/>
          </a:solidFill>
          <a:ln w="12700">
            <a:solidFill>
              <a:srgbClr val="1E3A5F"/>
            </a:solidFill>
            <a:prstDash val="solid"/>
          </a:ln>
        </p:spPr>
        <p:txBody>
          <a:bodyPr/>
          <a:lstStyle/>
          <a:p>
            <a:endParaRPr lang="en-GB"/>
          </a:p>
        </p:txBody>
      </p:sp>
      <p:sp>
        <p:nvSpPr>
          <p:cNvPr id="3" name="Shape 1"/>
          <p:cNvSpPr/>
          <p:nvPr/>
        </p:nvSpPr>
        <p:spPr>
          <a:xfrm>
            <a:off x="0" y="0"/>
            <a:ext cx="2377440" cy="164592"/>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457200" y="292608"/>
            <a:ext cx="10972800" cy="320040"/>
          </a:xfrm>
          <a:prstGeom prst="rect">
            <a:avLst/>
          </a:prstGeom>
          <a:noFill/>
          <a:ln/>
        </p:spPr>
        <p:txBody>
          <a:bodyPr wrap="square" rtlCol="0" anchor="ctr"/>
          <a:lstStyle/>
          <a:p>
            <a:pPr marL="0" indent="0">
              <a:buNone/>
            </a:pPr>
            <a:r>
              <a:rPr lang="en-US" sz="1100" b="1" kern="0" spc="400" dirty="0">
                <a:solidFill>
                  <a:srgbClr val="F77F00"/>
                </a:solidFill>
                <a:latin typeface="Calibri" pitchFamily="34" charset="0"/>
                <a:ea typeface="Calibri" pitchFamily="34" charset="-122"/>
                <a:cs typeface="Calibri" pitchFamily="34" charset="-120"/>
              </a:rPr>
              <a:t>WAS IT WORTH THE WAIT?</a:t>
            </a:r>
            <a:endParaRPr lang="en-US" sz="1100" dirty="0"/>
          </a:p>
        </p:txBody>
      </p:sp>
      <p:sp>
        <p:nvSpPr>
          <p:cNvPr id="5" name="Text 3"/>
          <p:cNvSpPr/>
          <p:nvPr/>
        </p:nvSpPr>
        <p:spPr>
          <a:xfrm>
            <a:off x="457200" y="594360"/>
            <a:ext cx="11247120" cy="777240"/>
          </a:xfrm>
          <a:prstGeom prst="rect">
            <a:avLst/>
          </a:prstGeom>
          <a:noFill/>
          <a:ln/>
        </p:spPr>
        <p:txBody>
          <a:bodyPr wrap="square" lIns="0" tIns="0" rIns="0" bIns="0" rtlCol="0" anchor="ctr"/>
          <a:lstStyle/>
          <a:p>
            <a:pPr marL="0" indent="0">
              <a:buNone/>
            </a:pPr>
            <a:r>
              <a:rPr lang="en-US" sz="3000" b="1" dirty="0">
                <a:solidFill>
                  <a:srgbClr val="0F2440"/>
                </a:solidFill>
                <a:latin typeface="Calibri" pitchFamily="34" charset="0"/>
                <a:ea typeface="Calibri" pitchFamily="34" charset="-122"/>
                <a:cs typeface="Calibri" pitchFamily="34" charset="-120"/>
              </a:rPr>
              <a:t>Before vs. after tuning</a:t>
            </a:r>
            <a:endParaRPr lang="en-US" sz="3000" dirty="0"/>
          </a:p>
        </p:txBody>
      </p:sp>
      <p:sp>
        <p:nvSpPr>
          <p:cNvPr id="6" name="Shape 4"/>
          <p:cNvSpPr/>
          <p:nvPr/>
        </p:nvSpPr>
        <p:spPr>
          <a:xfrm>
            <a:off x="457200" y="137160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26 / 35</a:t>
            </a:r>
            <a:endParaRPr lang="en-US" sz="900" dirty="0"/>
          </a:p>
        </p:txBody>
      </p:sp>
      <p:sp>
        <p:nvSpPr>
          <p:cNvPr id="10" name="Shape 8"/>
          <p:cNvSpPr/>
          <p:nvPr/>
        </p:nvSpPr>
        <p:spPr>
          <a:xfrm>
            <a:off x="548640" y="1691640"/>
            <a:ext cx="5349240" cy="365760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1" name="Shape 9"/>
          <p:cNvSpPr/>
          <p:nvPr/>
        </p:nvSpPr>
        <p:spPr>
          <a:xfrm>
            <a:off x="548640" y="1691640"/>
            <a:ext cx="5349240" cy="502920"/>
          </a:xfrm>
          <a:prstGeom prst="rect">
            <a:avLst/>
          </a:prstGeom>
          <a:solidFill>
            <a:srgbClr val="1E3A5F"/>
          </a:solidFill>
          <a:ln w="12700">
            <a:solidFill>
              <a:srgbClr val="1E3A5F"/>
            </a:solidFill>
            <a:prstDash val="solid"/>
          </a:ln>
        </p:spPr>
        <p:txBody>
          <a:bodyPr/>
          <a:lstStyle/>
          <a:p>
            <a:endParaRPr lang="en-GB"/>
          </a:p>
        </p:txBody>
      </p:sp>
      <p:sp>
        <p:nvSpPr>
          <p:cNvPr id="12" name="Text 10"/>
          <p:cNvSpPr/>
          <p:nvPr/>
        </p:nvSpPr>
        <p:spPr>
          <a:xfrm>
            <a:off x="777240" y="1755648"/>
            <a:ext cx="4937760" cy="365760"/>
          </a:xfrm>
          <a:prstGeom prst="rect">
            <a:avLst/>
          </a:prstGeom>
          <a:noFill/>
          <a:ln/>
        </p:spPr>
        <p:txBody>
          <a:bodyPr wrap="square" lIns="0" tIns="0" rIns="0" bIns="0" rtlCol="0" anchor="ctr"/>
          <a:lstStyle/>
          <a:p>
            <a:pPr marL="0" indent="0">
              <a:buNone/>
            </a:pPr>
            <a:r>
              <a:rPr lang="en-US" sz="1300" b="1" kern="0" spc="300" dirty="0">
                <a:solidFill>
                  <a:srgbClr val="FFFFFF"/>
                </a:solidFill>
                <a:latin typeface="Calibri" pitchFamily="34" charset="0"/>
                <a:ea typeface="Calibri" pitchFamily="34" charset="-122"/>
                <a:cs typeface="Calibri" pitchFamily="34" charset="-120"/>
              </a:rPr>
              <a:t>BEFORE — default settings</a:t>
            </a:r>
            <a:endParaRPr lang="en-US" sz="1300" dirty="0"/>
          </a:p>
        </p:txBody>
      </p:sp>
      <p:sp>
        <p:nvSpPr>
          <p:cNvPr id="13" name="Text 11"/>
          <p:cNvSpPr/>
          <p:nvPr/>
        </p:nvSpPr>
        <p:spPr>
          <a:xfrm>
            <a:off x="777240" y="2377440"/>
            <a:ext cx="3657600" cy="320040"/>
          </a:xfrm>
          <a:prstGeom prst="rect">
            <a:avLst/>
          </a:prstGeom>
          <a:noFill/>
          <a:ln/>
        </p:spPr>
        <p:txBody>
          <a:bodyPr wrap="square" lIns="0" tIns="0" rIns="0" bIns="0" rtlCol="0" anchor="ctr"/>
          <a:lstStyle/>
          <a:p>
            <a:pPr marL="0" indent="0">
              <a:buNone/>
            </a:pPr>
            <a:r>
              <a:rPr lang="en-US" sz="1100" dirty="0">
                <a:solidFill>
                  <a:srgbClr val="6C757D"/>
                </a:solidFill>
                <a:latin typeface="Calibri" pitchFamily="34" charset="0"/>
                <a:ea typeface="Calibri" pitchFamily="34" charset="-122"/>
                <a:cs typeface="Calibri" pitchFamily="34" charset="-120"/>
              </a:rPr>
              <a:t>Macro-F1</a:t>
            </a:r>
            <a:endParaRPr lang="en-US" sz="1100" dirty="0"/>
          </a:p>
        </p:txBody>
      </p:sp>
      <p:sp>
        <p:nvSpPr>
          <p:cNvPr id="14" name="Text 12"/>
          <p:cNvSpPr/>
          <p:nvPr/>
        </p:nvSpPr>
        <p:spPr>
          <a:xfrm>
            <a:off x="777240" y="2697480"/>
            <a:ext cx="3657600" cy="914400"/>
          </a:xfrm>
          <a:prstGeom prst="rect">
            <a:avLst/>
          </a:prstGeom>
          <a:noFill/>
          <a:ln/>
        </p:spPr>
        <p:txBody>
          <a:bodyPr wrap="square" lIns="0" tIns="0" rIns="0" bIns="0" rtlCol="0" anchor="ctr"/>
          <a:lstStyle/>
          <a:p>
            <a:pPr marL="0" indent="0">
              <a:buNone/>
            </a:pPr>
            <a:r>
              <a:rPr lang="en-US" sz="5600" b="1" dirty="0">
                <a:solidFill>
                  <a:srgbClr val="0F2440"/>
                </a:solidFill>
                <a:latin typeface="Calibri" pitchFamily="34" charset="0"/>
                <a:ea typeface="Calibri" pitchFamily="34" charset="-122"/>
                <a:cs typeface="Calibri" pitchFamily="34" charset="-120"/>
              </a:rPr>
              <a:t>0.762</a:t>
            </a:r>
            <a:endParaRPr lang="en-US" sz="5600" dirty="0"/>
          </a:p>
        </p:txBody>
      </p:sp>
      <p:sp>
        <p:nvSpPr>
          <p:cNvPr id="15" name="Text 13"/>
          <p:cNvSpPr/>
          <p:nvPr/>
        </p:nvSpPr>
        <p:spPr>
          <a:xfrm>
            <a:off x="777240" y="3657600"/>
            <a:ext cx="3657600" cy="320040"/>
          </a:xfrm>
          <a:prstGeom prst="rect">
            <a:avLst/>
          </a:prstGeom>
          <a:noFill/>
          <a:ln/>
        </p:spPr>
        <p:txBody>
          <a:bodyPr wrap="square" lIns="0" tIns="0" rIns="0" bIns="0" rtlCol="0" anchor="ctr"/>
          <a:lstStyle/>
          <a:p>
            <a:pPr marL="0" indent="0">
              <a:buNone/>
            </a:pPr>
            <a:r>
              <a:rPr lang="en-US" sz="1100" i="1" dirty="0">
                <a:solidFill>
                  <a:srgbClr val="6C757D"/>
                </a:solidFill>
                <a:latin typeface="Calibri" pitchFamily="34" charset="0"/>
                <a:ea typeface="Calibri" pitchFamily="34" charset="-122"/>
                <a:cs typeface="Calibri" pitchFamily="34" charset="-120"/>
              </a:rPr>
              <a:t>± 0.011 across 5 folds</a:t>
            </a:r>
            <a:endParaRPr lang="en-US" sz="1100" dirty="0"/>
          </a:p>
        </p:txBody>
      </p:sp>
      <p:sp>
        <p:nvSpPr>
          <p:cNvPr id="16" name="Text 14"/>
          <p:cNvSpPr/>
          <p:nvPr/>
        </p:nvSpPr>
        <p:spPr>
          <a:xfrm>
            <a:off x="777240" y="4023360"/>
            <a:ext cx="4937760" cy="640080"/>
          </a:xfrm>
          <a:prstGeom prst="rect">
            <a:avLst/>
          </a:prstGeom>
          <a:noFill/>
          <a:ln/>
        </p:spPr>
        <p:txBody>
          <a:bodyPr wrap="square" lIns="0" tIns="0" rIns="0" bIns="0" rtlCol="0" anchor="ctr"/>
          <a:lstStyle/>
          <a:p>
            <a:pPr marL="0" indent="0">
              <a:buNone/>
            </a:pPr>
            <a:r>
              <a:rPr lang="en-US" sz="1100" dirty="0">
                <a:solidFill>
                  <a:srgbClr val="212529"/>
                </a:solidFill>
                <a:latin typeface="Consolas" pitchFamily="34" charset="0"/>
                <a:ea typeface="Consolas" pitchFamily="34" charset="-122"/>
                <a:cs typeface="Consolas" pitchFamily="34" charset="-120"/>
              </a:rPr>
              <a:t>Hyperparameters: min_df=3, ngram=(1,2), C=1.0</a:t>
            </a:r>
            <a:endParaRPr lang="en-US" sz="1100" dirty="0"/>
          </a:p>
        </p:txBody>
      </p:sp>
      <p:sp>
        <p:nvSpPr>
          <p:cNvPr id="17" name="Text 15"/>
          <p:cNvSpPr/>
          <p:nvPr/>
        </p:nvSpPr>
        <p:spPr>
          <a:xfrm>
            <a:off x="777240" y="4754880"/>
            <a:ext cx="4937760" cy="365760"/>
          </a:xfrm>
          <a:prstGeom prst="rect">
            <a:avLst/>
          </a:prstGeom>
          <a:noFill/>
          <a:ln/>
        </p:spPr>
        <p:txBody>
          <a:bodyPr wrap="square" lIns="0" tIns="0" rIns="0" bIns="0" rtlCol="0" anchor="ctr"/>
          <a:lstStyle/>
          <a:p>
            <a:pPr marL="0" indent="0">
              <a:buNone/>
            </a:pPr>
            <a:r>
              <a:rPr lang="en-US" sz="1200" b="1" dirty="0">
                <a:solidFill>
                  <a:srgbClr val="0F2440"/>
                </a:solidFill>
                <a:latin typeface="Calibri" pitchFamily="34" charset="0"/>
                <a:ea typeface="Calibri" pitchFamily="34" charset="-122"/>
                <a:cs typeface="Calibri" pitchFamily="34" charset="-120"/>
              </a:rPr>
              <a:t>Test F1: 0.769</a:t>
            </a:r>
            <a:endParaRPr lang="en-US" sz="1200" dirty="0"/>
          </a:p>
        </p:txBody>
      </p:sp>
      <p:sp>
        <p:nvSpPr>
          <p:cNvPr id="18" name="Shape 16"/>
          <p:cNvSpPr/>
          <p:nvPr/>
        </p:nvSpPr>
        <p:spPr>
          <a:xfrm>
            <a:off x="6263640" y="1691640"/>
            <a:ext cx="5349240" cy="365760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9" name="Shape 17"/>
          <p:cNvSpPr/>
          <p:nvPr/>
        </p:nvSpPr>
        <p:spPr>
          <a:xfrm>
            <a:off x="6263640" y="1691640"/>
            <a:ext cx="5349240" cy="502920"/>
          </a:xfrm>
          <a:prstGeom prst="rect">
            <a:avLst/>
          </a:prstGeom>
          <a:solidFill>
            <a:srgbClr val="F77F00"/>
          </a:solidFill>
          <a:ln w="12700">
            <a:solidFill>
              <a:srgbClr val="F77F00"/>
            </a:solidFill>
            <a:prstDash val="solid"/>
          </a:ln>
        </p:spPr>
        <p:txBody>
          <a:bodyPr/>
          <a:lstStyle/>
          <a:p>
            <a:endParaRPr lang="en-GB"/>
          </a:p>
        </p:txBody>
      </p:sp>
      <p:sp>
        <p:nvSpPr>
          <p:cNvPr id="20" name="Text 18"/>
          <p:cNvSpPr/>
          <p:nvPr/>
        </p:nvSpPr>
        <p:spPr>
          <a:xfrm>
            <a:off x="6492240" y="1755648"/>
            <a:ext cx="4937760" cy="365760"/>
          </a:xfrm>
          <a:prstGeom prst="rect">
            <a:avLst/>
          </a:prstGeom>
          <a:noFill/>
          <a:ln/>
        </p:spPr>
        <p:txBody>
          <a:bodyPr wrap="square" lIns="0" tIns="0" rIns="0" bIns="0" rtlCol="0" anchor="ctr"/>
          <a:lstStyle/>
          <a:p>
            <a:pPr marL="0" indent="0">
              <a:buNone/>
            </a:pPr>
            <a:r>
              <a:rPr lang="en-US" sz="1300" b="1" kern="0" spc="300" dirty="0">
                <a:solidFill>
                  <a:srgbClr val="FFFFFF"/>
                </a:solidFill>
                <a:latin typeface="Calibri" pitchFamily="34" charset="0"/>
                <a:ea typeface="Calibri" pitchFamily="34" charset="-122"/>
                <a:cs typeface="Calibri" pitchFamily="34" charset="-120"/>
              </a:rPr>
              <a:t>AFTER — GridSearchCV</a:t>
            </a:r>
            <a:endParaRPr lang="en-US" sz="1300" dirty="0"/>
          </a:p>
        </p:txBody>
      </p:sp>
      <p:sp>
        <p:nvSpPr>
          <p:cNvPr id="21" name="Text 19"/>
          <p:cNvSpPr/>
          <p:nvPr/>
        </p:nvSpPr>
        <p:spPr>
          <a:xfrm>
            <a:off x="6492240" y="2377440"/>
            <a:ext cx="3657600" cy="320040"/>
          </a:xfrm>
          <a:prstGeom prst="rect">
            <a:avLst/>
          </a:prstGeom>
          <a:noFill/>
          <a:ln/>
        </p:spPr>
        <p:txBody>
          <a:bodyPr wrap="square" lIns="0" tIns="0" rIns="0" bIns="0" rtlCol="0" anchor="ctr"/>
          <a:lstStyle/>
          <a:p>
            <a:pPr marL="0" indent="0">
              <a:buNone/>
            </a:pPr>
            <a:r>
              <a:rPr lang="en-US" sz="1100" dirty="0">
                <a:solidFill>
                  <a:srgbClr val="6C757D"/>
                </a:solidFill>
                <a:latin typeface="Calibri" pitchFamily="34" charset="0"/>
                <a:ea typeface="Calibri" pitchFamily="34" charset="-122"/>
                <a:cs typeface="Calibri" pitchFamily="34" charset="-120"/>
              </a:rPr>
              <a:t>Macro-F1</a:t>
            </a:r>
            <a:endParaRPr lang="en-US" sz="1100" dirty="0"/>
          </a:p>
        </p:txBody>
      </p:sp>
      <p:sp>
        <p:nvSpPr>
          <p:cNvPr id="22" name="Text 20"/>
          <p:cNvSpPr/>
          <p:nvPr/>
        </p:nvSpPr>
        <p:spPr>
          <a:xfrm>
            <a:off x="6492240" y="2697480"/>
            <a:ext cx="3657600" cy="914400"/>
          </a:xfrm>
          <a:prstGeom prst="rect">
            <a:avLst/>
          </a:prstGeom>
          <a:noFill/>
          <a:ln/>
        </p:spPr>
        <p:txBody>
          <a:bodyPr wrap="square" lIns="0" tIns="0" rIns="0" bIns="0" rtlCol="0" anchor="ctr"/>
          <a:lstStyle/>
          <a:p>
            <a:pPr marL="0" indent="0">
              <a:buNone/>
            </a:pPr>
            <a:r>
              <a:rPr lang="en-US" sz="5600" b="1" dirty="0">
                <a:solidFill>
                  <a:srgbClr val="06A77D"/>
                </a:solidFill>
                <a:latin typeface="Calibri" pitchFamily="34" charset="0"/>
                <a:ea typeface="Calibri" pitchFamily="34" charset="-122"/>
                <a:cs typeface="Calibri" pitchFamily="34" charset="-120"/>
              </a:rPr>
              <a:t>0.793</a:t>
            </a:r>
            <a:endParaRPr lang="en-US" sz="5600" dirty="0"/>
          </a:p>
        </p:txBody>
      </p:sp>
      <p:sp>
        <p:nvSpPr>
          <p:cNvPr id="23" name="Text 21"/>
          <p:cNvSpPr/>
          <p:nvPr/>
        </p:nvSpPr>
        <p:spPr>
          <a:xfrm>
            <a:off x="6492240" y="3657600"/>
            <a:ext cx="4114800" cy="320040"/>
          </a:xfrm>
          <a:prstGeom prst="rect">
            <a:avLst/>
          </a:prstGeom>
          <a:noFill/>
          <a:ln/>
        </p:spPr>
        <p:txBody>
          <a:bodyPr wrap="square" lIns="0" tIns="0" rIns="0" bIns="0" rtlCol="0" anchor="ctr"/>
          <a:lstStyle/>
          <a:p>
            <a:pPr marL="0" indent="0">
              <a:buNone/>
            </a:pPr>
            <a:r>
              <a:rPr lang="en-US" sz="1100" i="1" dirty="0">
                <a:solidFill>
                  <a:srgbClr val="6C757D"/>
                </a:solidFill>
                <a:latin typeface="Calibri" pitchFamily="34" charset="0"/>
                <a:ea typeface="Calibri" pitchFamily="34" charset="-122"/>
                <a:cs typeface="Calibri" pitchFamily="34" charset="-120"/>
              </a:rPr>
              <a:t>± 0.009 across 5 folds  (lower variance!)</a:t>
            </a:r>
            <a:endParaRPr lang="en-US" sz="1100" dirty="0"/>
          </a:p>
        </p:txBody>
      </p:sp>
      <p:sp>
        <p:nvSpPr>
          <p:cNvPr id="24" name="Text 22"/>
          <p:cNvSpPr/>
          <p:nvPr/>
        </p:nvSpPr>
        <p:spPr>
          <a:xfrm>
            <a:off x="6492240" y="4023360"/>
            <a:ext cx="4937760" cy="640080"/>
          </a:xfrm>
          <a:prstGeom prst="rect">
            <a:avLst/>
          </a:prstGeom>
          <a:noFill/>
          <a:ln/>
        </p:spPr>
        <p:txBody>
          <a:bodyPr wrap="square" lIns="0" tIns="0" rIns="0" bIns="0" rtlCol="0" anchor="ctr"/>
          <a:lstStyle/>
          <a:p>
            <a:pPr marL="0" indent="0">
              <a:buNone/>
            </a:pPr>
            <a:r>
              <a:rPr lang="en-US" sz="1100" dirty="0">
                <a:solidFill>
                  <a:srgbClr val="212529"/>
                </a:solidFill>
                <a:latin typeface="Consolas" pitchFamily="34" charset="0"/>
                <a:ea typeface="Consolas" pitchFamily="34" charset="-122"/>
                <a:cs typeface="Consolas" pitchFamily="34" charset="-120"/>
              </a:rPr>
              <a:t>Hyperparameters: min_df=3, ngram=(1,2), C=10.0</a:t>
            </a:r>
            <a:endParaRPr lang="en-US" sz="1100" dirty="0"/>
          </a:p>
        </p:txBody>
      </p:sp>
      <p:sp>
        <p:nvSpPr>
          <p:cNvPr id="25" name="Text 23"/>
          <p:cNvSpPr/>
          <p:nvPr/>
        </p:nvSpPr>
        <p:spPr>
          <a:xfrm>
            <a:off x="6492240" y="4754880"/>
            <a:ext cx="4937760" cy="365760"/>
          </a:xfrm>
          <a:prstGeom prst="rect">
            <a:avLst/>
          </a:prstGeom>
          <a:noFill/>
          <a:ln/>
        </p:spPr>
        <p:txBody>
          <a:bodyPr wrap="square" lIns="0" tIns="0" rIns="0" bIns="0" rtlCol="0" anchor="ctr"/>
          <a:lstStyle/>
          <a:p>
            <a:pPr marL="0" indent="0">
              <a:buNone/>
            </a:pPr>
            <a:r>
              <a:rPr lang="en-US" sz="1200" b="1" dirty="0">
                <a:solidFill>
                  <a:srgbClr val="06A77D"/>
                </a:solidFill>
                <a:latin typeface="Calibri" pitchFamily="34" charset="0"/>
                <a:ea typeface="Calibri" pitchFamily="34" charset="-122"/>
                <a:cs typeface="Calibri" pitchFamily="34" charset="-120"/>
              </a:rPr>
              <a:t>Test F1: 0.804</a:t>
            </a:r>
            <a:endParaRPr lang="en-US" sz="1200" dirty="0"/>
          </a:p>
        </p:txBody>
      </p:sp>
      <p:sp>
        <p:nvSpPr>
          <p:cNvPr id="26" name="Shape 24"/>
          <p:cNvSpPr/>
          <p:nvPr/>
        </p:nvSpPr>
        <p:spPr>
          <a:xfrm>
            <a:off x="548640" y="5486400"/>
            <a:ext cx="11064240" cy="960120"/>
          </a:xfrm>
          <a:prstGeom prst="rect">
            <a:avLst/>
          </a:prstGeom>
          <a:solidFill>
            <a:srgbClr val="E7F1FB"/>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27" name="Text 25"/>
          <p:cNvSpPr/>
          <p:nvPr/>
        </p:nvSpPr>
        <p:spPr>
          <a:xfrm>
            <a:off x="777240" y="5577840"/>
            <a:ext cx="10607040" cy="365760"/>
          </a:xfrm>
          <a:prstGeom prst="rect">
            <a:avLst/>
          </a:prstGeom>
          <a:noFill/>
          <a:ln/>
        </p:spPr>
        <p:txBody>
          <a:bodyPr wrap="square" lIns="0" tIns="0" rIns="0" bIns="0" rtlCol="0" anchor="ctr"/>
          <a:lstStyle/>
          <a:p>
            <a:pPr marL="0" indent="0">
              <a:buNone/>
            </a:pPr>
            <a:r>
              <a:rPr lang="en-US" sz="1400" b="1" dirty="0">
                <a:solidFill>
                  <a:srgbClr val="0F2440"/>
                </a:solidFill>
                <a:latin typeface="Calibri" pitchFamily="34" charset="0"/>
                <a:ea typeface="Calibri" pitchFamily="34" charset="-122"/>
                <a:cs typeface="Calibri" pitchFamily="34" charset="-120"/>
              </a:rPr>
              <a:t>+3.5 percentage points on macro-F1 — and we know we didn't overfit to test.</a:t>
            </a:r>
            <a:endParaRPr lang="en-US" sz="1400" dirty="0"/>
          </a:p>
        </p:txBody>
      </p:sp>
      <p:sp>
        <p:nvSpPr>
          <p:cNvPr id="28" name="Text 26"/>
          <p:cNvSpPr/>
          <p:nvPr/>
        </p:nvSpPr>
        <p:spPr>
          <a:xfrm>
            <a:off x="777240" y="5943600"/>
            <a:ext cx="10607040" cy="457200"/>
          </a:xfrm>
          <a:prstGeom prst="rect">
            <a:avLst/>
          </a:prstGeom>
          <a:noFill/>
          <a:ln/>
        </p:spPr>
        <p:txBody>
          <a:bodyPr wrap="square" lIns="0" tIns="0" rIns="0" bIns="0" rtlCol="0" anchor="ctr"/>
          <a:lstStyle/>
          <a:p>
            <a:pPr marL="0" indent="0">
              <a:buNone/>
            </a:pPr>
            <a:r>
              <a:rPr lang="en-US" sz="1200" i="1" dirty="0">
                <a:solidFill>
                  <a:srgbClr val="212529"/>
                </a:solidFill>
                <a:latin typeface="Calibri" pitchFamily="34" charset="0"/>
                <a:ea typeface="Calibri" pitchFamily="34" charset="-122"/>
                <a:cs typeface="Calibri" pitchFamily="34" charset="-120"/>
              </a:rPr>
              <a:t>The biggest win came from C=10.0 (less regularization). Indonesian sentiment has many discriminating words — strong coefficients help.</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548640" y="1280160"/>
            <a:ext cx="3657600" cy="3200400"/>
          </a:xfrm>
          <a:prstGeom prst="rect">
            <a:avLst/>
          </a:prstGeom>
          <a:noFill/>
          <a:ln/>
        </p:spPr>
        <p:txBody>
          <a:bodyPr wrap="square" rtlCol="0" anchor="t"/>
          <a:lstStyle/>
          <a:p>
            <a:pPr marL="0" indent="0">
              <a:buNone/>
            </a:pPr>
            <a:r>
              <a:rPr lang="en-US" sz="24000" b="1" dirty="0">
                <a:solidFill>
                  <a:srgbClr val="F77F00"/>
                </a:solidFill>
                <a:latin typeface="Calibri" pitchFamily="34" charset="0"/>
                <a:ea typeface="Calibri" pitchFamily="34" charset="-122"/>
                <a:cs typeface="Calibri" pitchFamily="34" charset="-120"/>
              </a:rPr>
              <a:t>05</a:t>
            </a:r>
            <a:endParaRPr lang="en-US" sz="24000" dirty="0"/>
          </a:p>
        </p:txBody>
      </p:sp>
      <p:sp>
        <p:nvSpPr>
          <p:cNvPr id="3" name="Shape 1"/>
          <p:cNvSpPr/>
          <p:nvPr/>
        </p:nvSpPr>
        <p:spPr>
          <a:xfrm>
            <a:off x="4754880" y="2377440"/>
            <a:ext cx="54864" cy="1828800"/>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5029200" y="2286000"/>
            <a:ext cx="5486400" cy="365760"/>
          </a:xfrm>
          <a:prstGeom prst="rect">
            <a:avLst/>
          </a:prstGeom>
          <a:noFill/>
          <a:ln/>
        </p:spPr>
        <p:txBody>
          <a:bodyPr wrap="square" rtlCol="0" anchor="ctr"/>
          <a:lstStyle/>
          <a:p>
            <a:pPr marL="0" indent="0">
              <a:buNone/>
            </a:pPr>
            <a:r>
              <a:rPr lang="en-US" sz="1400" b="1" kern="0" spc="600" dirty="0">
                <a:solidFill>
                  <a:srgbClr val="00B4D8"/>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5029200" y="2606040"/>
            <a:ext cx="6858000" cy="11887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Explaining the Classification Results</a:t>
            </a:r>
            <a:endParaRPr lang="en-US" sz="3800" dirty="0"/>
          </a:p>
        </p:txBody>
      </p:sp>
      <p:sp>
        <p:nvSpPr>
          <p:cNvPr id="6" name="Text 4"/>
          <p:cNvSpPr/>
          <p:nvPr/>
        </p:nvSpPr>
        <p:spPr>
          <a:xfrm>
            <a:off x="5029200" y="3749040"/>
            <a:ext cx="6675120" cy="822960"/>
          </a:xfrm>
          <a:prstGeom prst="rect">
            <a:avLst/>
          </a:prstGeom>
          <a:noFill/>
          <a:ln/>
        </p:spPr>
        <p:txBody>
          <a:bodyPr wrap="square" lIns="0" tIns="0" rIns="0" bIns="0" rtlCol="0" anchor="ctr"/>
          <a:lstStyle/>
          <a:p>
            <a:pPr marL="0" indent="0">
              <a:buNone/>
            </a:pPr>
            <a:r>
              <a:rPr lang="en-US" sz="1600" dirty="0">
                <a:solidFill>
                  <a:srgbClr val="CFE5F8"/>
                </a:solidFill>
                <a:latin typeface="Calibri" pitchFamily="34" charset="0"/>
                <a:ea typeface="Calibri" pitchFamily="34" charset="-122"/>
                <a:cs typeface="Calibri" pitchFamily="34" charset="-120"/>
              </a:rPr>
              <a:t>From confidence numbers to human explanations</a:t>
            </a:r>
            <a:endParaRPr lang="en-US" sz="1600" dirty="0"/>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27 / 35</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1E3A5F"/>
          </a:solidFill>
          <a:ln w="12700">
            <a:solidFill>
              <a:srgbClr val="1E3A5F"/>
            </a:solidFill>
            <a:prstDash val="solid"/>
          </a:ln>
        </p:spPr>
        <p:txBody>
          <a:bodyPr/>
          <a:lstStyle/>
          <a:p>
            <a:endParaRPr lang="en-GB"/>
          </a:p>
        </p:txBody>
      </p:sp>
      <p:sp>
        <p:nvSpPr>
          <p:cNvPr id="3" name="Shape 1"/>
          <p:cNvSpPr/>
          <p:nvPr/>
        </p:nvSpPr>
        <p:spPr>
          <a:xfrm>
            <a:off x="0" y="0"/>
            <a:ext cx="2377440" cy="164592"/>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457200" y="292608"/>
            <a:ext cx="10972800" cy="320040"/>
          </a:xfrm>
          <a:prstGeom prst="rect">
            <a:avLst/>
          </a:prstGeom>
          <a:noFill/>
          <a:ln/>
        </p:spPr>
        <p:txBody>
          <a:bodyPr wrap="square" rtlCol="0" anchor="ctr"/>
          <a:lstStyle/>
          <a:p>
            <a:pPr marL="0" indent="0">
              <a:buNone/>
            </a:pPr>
            <a:r>
              <a:rPr lang="en-US" sz="1100" b="1" kern="0" spc="400" dirty="0">
                <a:solidFill>
                  <a:srgbClr val="F77F00"/>
                </a:solidFill>
                <a:latin typeface="Calibri" pitchFamily="34" charset="0"/>
                <a:ea typeface="Calibri" pitchFamily="34" charset="-122"/>
                <a:cs typeface="Calibri" pitchFamily="34" charset="-120"/>
              </a:rPr>
              <a:t>LOCAL EXPLANATIONS FOR ANY CLASSIFIER</a:t>
            </a:r>
            <a:endParaRPr lang="en-US" sz="1100" dirty="0"/>
          </a:p>
        </p:txBody>
      </p:sp>
      <p:sp>
        <p:nvSpPr>
          <p:cNvPr id="5" name="Text 3"/>
          <p:cNvSpPr/>
          <p:nvPr/>
        </p:nvSpPr>
        <p:spPr>
          <a:xfrm>
            <a:off x="457200" y="594360"/>
            <a:ext cx="11247120" cy="777240"/>
          </a:xfrm>
          <a:prstGeom prst="rect">
            <a:avLst/>
          </a:prstGeom>
          <a:noFill/>
          <a:ln/>
        </p:spPr>
        <p:txBody>
          <a:bodyPr wrap="square" lIns="0" tIns="0" rIns="0" bIns="0" rtlCol="0" anchor="ctr"/>
          <a:lstStyle/>
          <a:p>
            <a:pPr marL="0" indent="0">
              <a:buNone/>
            </a:pPr>
            <a:r>
              <a:rPr lang="en-US" sz="3000" b="1" dirty="0">
                <a:solidFill>
                  <a:srgbClr val="0F2440"/>
                </a:solidFill>
                <a:latin typeface="Calibri" pitchFamily="34" charset="0"/>
                <a:ea typeface="Calibri" pitchFamily="34" charset="-122"/>
                <a:cs typeface="Calibri" pitchFamily="34" charset="-120"/>
              </a:rPr>
              <a:t>From Anchors to LIME</a:t>
            </a:r>
            <a:endParaRPr lang="en-US" sz="3000" dirty="0"/>
          </a:p>
        </p:txBody>
      </p:sp>
      <p:sp>
        <p:nvSpPr>
          <p:cNvPr id="6" name="Shape 4"/>
          <p:cNvSpPr/>
          <p:nvPr/>
        </p:nvSpPr>
        <p:spPr>
          <a:xfrm>
            <a:off x="457200" y="137160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28 / 35</a:t>
            </a:r>
            <a:endParaRPr lang="en-US" sz="900" dirty="0"/>
          </a:p>
        </p:txBody>
      </p:sp>
      <p:sp>
        <p:nvSpPr>
          <p:cNvPr id="10" name="Shape 8"/>
          <p:cNvSpPr/>
          <p:nvPr/>
        </p:nvSpPr>
        <p:spPr>
          <a:xfrm>
            <a:off x="548640" y="1691640"/>
            <a:ext cx="5349240" cy="457200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1" name="Shape 9"/>
          <p:cNvSpPr/>
          <p:nvPr/>
        </p:nvSpPr>
        <p:spPr>
          <a:xfrm>
            <a:off x="548640" y="1691640"/>
            <a:ext cx="164592" cy="4572000"/>
          </a:xfrm>
          <a:prstGeom prst="rect">
            <a:avLst/>
          </a:prstGeom>
          <a:solidFill>
            <a:srgbClr val="00B4D8"/>
          </a:solidFill>
          <a:ln w="12700">
            <a:solidFill>
              <a:srgbClr val="00B4D8"/>
            </a:solidFill>
            <a:prstDash val="solid"/>
          </a:ln>
        </p:spPr>
        <p:txBody>
          <a:bodyPr/>
          <a:lstStyle/>
          <a:p>
            <a:endParaRPr lang="en-GB"/>
          </a:p>
        </p:txBody>
      </p:sp>
      <p:sp>
        <p:nvSpPr>
          <p:cNvPr id="12" name="Text 10"/>
          <p:cNvSpPr/>
          <p:nvPr/>
        </p:nvSpPr>
        <p:spPr>
          <a:xfrm>
            <a:off x="868680" y="1828800"/>
            <a:ext cx="4572000" cy="365760"/>
          </a:xfrm>
          <a:prstGeom prst="rect">
            <a:avLst/>
          </a:prstGeom>
          <a:noFill/>
          <a:ln/>
        </p:spPr>
        <p:txBody>
          <a:bodyPr wrap="square" lIns="0" tIns="0" rIns="0" bIns="0" rtlCol="0" anchor="ctr"/>
          <a:lstStyle/>
          <a:p>
            <a:pPr marL="0" indent="0">
              <a:buNone/>
            </a:pPr>
            <a:r>
              <a:rPr lang="en-US" sz="1600" b="1" dirty="0">
                <a:solidFill>
                  <a:srgbClr val="0F2440"/>
                </a:solidFill>
                <a:latin typeface="Calibri" pitchFamily="34" charset="0"/>
                <a:ea typeface="Calibri" pitchFamily="34" charset="-122"/>
                <a:cs typeface="Calibri" pitchFamily="34" charset="-120"/>
              </a:rPr>
              <a:t>Last week — Anchors</a:t>
            </a:r>
            <a:endParaRPr lang="en-US" sz="1600" dirty="0"/>
          </a:p>
        </p:txBody>
      </p:sp>
      <p:sp>
        <p:nvSpPr>
          <p:cNvPr id="13" name="Text 11"/>
          <p:cNvSpPr/>
          <p:nvPr/>
        </p:nvSpPr>
        <p:spPr>
          <a:xfrm>
            <a:off x="868680" y="2331720"/>
            <a:ext cx="4937760" cy="41148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 Replaces unimportant tokens with [UNK]</a:t>
            </a:r>
            <a:endParaRPr lang="en-US" sz="1200" dirty="0"/>
          </a:p>
        </p:txBody>
      </p:sp>
      <p:sp>
        <p:nvSpPr>
          <p:cNvPr id="14" name="Text 12"/>
          <p:cNvSpPr/>
          <p:nvPr/>
        </p:nvSpPr>
        <p:spPr>
          <a:xfrm>
            <a:off x="868680" y="2788920"/>
            <a:ext cx="4937760" cy="41148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 Outputs a rule (e.g. "if 'rusak' in text → negatif")</a:t>
            </a:r>
            <a:endParaRPr lang="en-US" sz="1200" dirty="0"/>
          </a:p>
        </p:txBody>
      </p:sp>
      <p:sp>
        <p:nvSpPr>
          <p:cNvPr id="15" name="Text 13"/>
          <p:cNvSpPr/>
          <p:nvPr/>
        </p:nvSpPr>
        <p:spPr>
          <a:xfrm>
            <a:off x="868680" y="3246120"/>
            <a:ext cx="4937760" cy="41148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 High precision, easy to communicate</a:t>
            </a:r>
            <a:endParaRPr lang="en-US" sz="1200" dirty="0"/>
          </a:p>
        </p:txBody>
      </p:sp>
      <p:sp>
        <p:nvSpPr>
          <p:cNvPr id="16" name="Text 14"/>
          <p:cNvSpPr/>
          <p:nvPr/>
        </p:nvSpPr>
        <p:spPr>
          <a:xfrm>
            <a:off x="868680" y="3703320"/>
            <a:ext cx="4937760" cy="41148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 Bottom-up search or beam search</a:t>
            </a:r>
            <a:endParaRPr lang="en-US" sz="1200" dirty="0"/>
          </a:p>
        </p:txBody>
      </p:sp>
      <p:sp>
        <p:nvSpPr>
          <p:cNvPr id="17" name="Text 15"/>
          <p:cNvSpPr/>
          <p:nvPr/>
        </p:nvSpPr>
        <p:spPr>
          <a:xfrm>
            <a:off x="868680" y="4297680"/>
            <a:ext cx="3657600" cy="274320"/>
          </a:xfrm>
          <a:prstGeom prst="rect">
            <a:avLst/>
          </a:prstGeom>
          <a:noFill/>
          <a:ln/>
        </p:spPr>
        <p:txBody>
          <a:bodyPr wrap="square" lIns="0" tIns="0" rIns="0" bIns="0" rtlCol="0" anchor="ctr"/>
          <a:lstStyle/>
          <a:p>
            <a:pPr marL="0" indent="0">
              <a:buNone/>
            </a:pPr>
            <a:r>
              <a:rPr lang="en-US" sz="1100" b="1" kern="0" spc="300" dirty="0">
                <a:solidFill>
                  <a:srgbClr val="00B4D8"/>
                </a:solidFill>
                <a:latin typeface="Calibri" pitchFamily="34" charset="0"/>
                <a:ea typeface="Calibri" pitchFamily="34" charset="-122"/>
                <a:cs typeface="Calibri" pitchFamily="34" charset="-120"/>
              </a:rPr>
              <a:t>Strength</a:t>
            </a:r>
            <a:endParaRPr lang="en-US" sz="1100" dirty="0"/>
          </a:p>
        </p:txBody>
      </p:sp>
      <p:sp>
        <p:nvSpPr>
          <p:cNvPr id="18" name="Text 16"/>
          <p:cNvSpPr/>
          <p:nvPr/>
        </p:nvSpPr>
        <p:spPr>
          <a:xfrm>
            <a:off x="868680" y="4526280"/>
            <a:ext cx="4937760" cy="32004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Crisp human-readable rules.</a:t>
            </a:r>
            <a:endParaRPr lang="en-US" sz="1200" dirty="0"/>
          </a:p>
        </p:txBody>
      </p:sp>
      <p:sp>
        <p:nvSpPr>
          <p:cNvPr id="19" name="Text 17"/>
          <p:cNvSpPr/>
          <p:nvPr/>
        </p:nvSpPr>
        <p:spPr>
          <a:xfrm>
            <a:off x="868680" y="4937760"/>
            <a:ext cx="3657600" cy="274320"/>
          </a:xfrm>
          <a:prstGeom prst="rect">
            <a:avLst/>
          </a:prstGeom>
          <a:noFill/>
          <a:ln/>
        </p:spPr>
        <p:txBody>
          <a:bodyPr wrap="square" lIns="0" tIns="0" rIns="0" bIns="0" rtlCol="0" anchor="ctr"/>
          <a:lstStyle/>
          <a:p>
            <a:pPr marL="0" indent="0">
              <a:buNone/>
            </a:pPr>
            <a:r>
              <a:rPr lang="en-US" sz="1100" b="1" kern="0" spc="300" dirty="0">
                <a:solidFill>
                  <a:srgbClr val="00B4D8"/>
                </a:solidFill>
                <a:latin typeface="Calibri" pitchFamily="34" charset="0"/>
                <a:ea typeface="Calibri" pitchFamily="34" charset="-122"/>
                <a:cs typeface="Calibri" pitchFamily="34" charset="-120"/>
              </a:rPr>
              <a:t>Limitation</a:t>
            </a:r>
            <a:endParaRPr lang="en-US" sz="1100" dirty="0"/>
          </a:p>
        </p:txBody>
      </p:sp>
      <p:sp>
        <p:nvSpPr>
          <p:cNvPr id="20" name="Text 18"/>
          <p:cNvSpPr/>
          <p:nvPr/>
        </p:nvSpPr>
        <p:spPr>
          <a:xfrm>
            <a:off x="868680" y="5166360"/>
            <a:ext cx="4937760" cy="100584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Needs a discrete rule to apply — doesn't show contribution of every word.</a:t>
            </a:r>
            <a:endParaRPr lang="en-US" sz="1200" dirty="0"/>
          </a:p>
        </p:txBody>
      </p:sp>
      <p:sp>
        <p:nvSpPr>
          <p:cNvPr id="21" name="Shape 19"/>
          <p:cNvSpPr/>
          <p:nvPr/>
        </p:nvSpPr>
        <p:spPr>
          <a:xfrm>
            <a:off x="6263640" y="1691640"/>
            <a:ext cx="5349240" cy="457200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22" name="Shape 20"/>
          <p:cNvSpPr/>
          <p:nvPr/>
        </p:nvSpPr>
        <p:spPr>
          <a:xfrm>
            <a:off x="6263640" y="1691640"/>
            <a:ext cx="156411" cy="4572000"/>
          </a:xfrm>
          <a:prstGeom prst="rect">
            <a:avLst/>
          </a:prstGeom>
          <a:solidFill>
            <a:srgbClr val="F77F00"/>
          </a:solidFill>
          <a:ln w="12700">
            <a:solidFill>
              <a:srgbClr val="F77F00"/>
            </a:solidFill>
            <a:prstDash val="solid"/>
          </a:ln>
        </p:spPr>
        <p:txBody>
          <a:bodyPr/>
          <a:lstStyle/>
          <a:p>
            <a:endParaRPr lang="en-GB"/>
          </a:p>
        </p:txBody>
      </p:sp>
      <p:sp>
        <p:nvSpPr>
          <p:cNvPr id="23" name="Text 21"/>
          <p:cNvSpPr/>
          <p:nvPr/>
        </p:nvSpPr>
        <p:spPr>
          <a:xfrm>
            <a:off x="6583680" y="1828800"/>
            <a:ext cx="4572000" cy="365760"/>
          </a:xfrm>
          <a:prstGeom prst="rect">
            <a:avLst/>
          </a:prstGeom>
          <a:noFill/>
          <a:ln/>
        </p:spPr>
        <p:txBody>
          <a:bodyPr wrap="square" lIns="0" tIns="0" rIns="0" bIns="0" rtlCol="0" anchor="ctr"/>
          <a:lstStyle/>
          <a:p>
            <a:pPr marL="0" indent="0">
              <a:buNone/>
            </a:pPr>
            <a:r>
              <a:rPr lang="en-US" sz="1600" b="1" dirty="0">
                <a:solidFill>
                  <a:srgbClr val="0F2440"/>
                </a:solidFill>
                <a:latin typeface="Calibri" pitchFamily="34" charset="0"/>
                <a:ea typeface="Calibri" pitchFamily="34" charset="-122"/>
                <a:cs typeface="Calibri" pitchFamily="34" charset="-120"/>
              </a:rPr>
              <a:t>Today — LIME</a:t>
            </a:r>
            <a:endParaRPr lang="en-US" sz="1600" dirty="0"/>
          </a:p>
        </p:txBody>
      </p:sp>
      <p:sp>
        <p:nvSpPr>
          <p:cNvPr id="24" name="Text 22"/>
          <p:cNvSpPr/>
          <p:nvPr/>
        </p:nvSpPr>
        <p:spPr>
          <a:xfrm>
            <a:off x="6583680" y="2331720"/>
            <a:ext cx="4937760" cy="41148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 Perturbs input + fits a tiny linear model locally</a:t>
            </a:r>
            <a:endParaRPr lang="en-US" sz="1200" dirty="0"/>
          </a:p>
        </p:txBody>
      </p:sp>
      <p:sp>
        <p:nvSpPr>
          <p:cNvPr id="25" name="Text 23"/>
          <p:cNvSpPr/>
          <p:nvPr/>
        </p:nvSpPr>
        <p:spPr>
          <a:xfrm>
            <a:off x="6583680" y="2788920"/>
            <a:ext cx="4937760" cy="41148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 Outputs a weight per word (positive = pushed toward, negative = away)</a:t>
            </a:r>
            <a:endParaRPr lang="en-US" sz="1200" dirty="0"/>
          </a:p>
        </p:txBody>
      </p:sp>
      <p:sp>
        <p:nvSpPr>
          <p:cNvPr id="26" name="Text 24"/>
          <p:cNvSpPr/>
          <p:nvPr/>
        </p:nvSpPr>
        <p:spPr>
          <a:xfrm>
            <a:off x="6583680" y="3246120"/>
            <a:ext cx="4937760" cy="41148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 Works on ANY classifier — black box</a:t>
            </a:r>
            <a:endParaRPr lang="en-US" sz="1200" dirty="0"/>
          </a:p>
        </p:txBody>
      </p:sp>
      <p:sp>
        <p:nvSpPr>
          <p:cNvPr id="27" name="Text 25"/>
          <p:cNvSpPr/>
          <p:nvPr/>
        </p:nvSpPr>
        <p:spPr>
          <a:xfrm>
            <a:off x="6583680" y="3703320"/>
            <a:ext cx="4937760" cy="41148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 Highlights words on the original sentence</a:t>
            </a:r>
            <a:endParaRPr lang="en-US" sz="1200" dirty="0"/>
          </a:p>
        </p:txBody>
      </p:sp>
      <p:sp>
        <p:nvSpPr>
          <p:cNvPr id="28" name="Text 26"/>
          <p:cNvSpPr/>
          <p:nvPr/>
        </p:nvSpPr>
        <p:spPr>
          <a:xfrm>
            <a:off x="6583680" y="4297680"/>
            <a:ext cx="3657600" cy="274320"/>
          </a:xfrm>
          <a:prstGeom prst="rect">
            <a:avLst/>
          </a:prstGeom>
          <a:noFill/>
          <a:ln/>
        </p:spPr>
        <p:txBody>
          <a:bodyPr wrap="square" lIns="0" tIns="0" rIns="0" bIns="0" rtlCol="0" anchor="ctr"/>
          <a:lstStyle/>
          <a:p>
            <a:pPr marL="0" indent="0">
              <a:buNone/>
            </a:pPr>
            <a:r>
              <a:rPr lang="en-US" sz="1100" b="1" kern="0" spc="300" dirty="0">
                <a:solidFill>
                  <a:srgbClr val="F77F00"/>
                </a:solidFill>
                <a:latin typeface="Calibri" pitchFamily="34" charset="0"/>
                <a:ea typeface="Calibri" pitchFamily="34" charset="-122"/>
                <a:cs typeface="Calibri" pitchFamily="34" charset="-120"/>
              </a:rPr>
              <a:t>Strength</a:t>
            </a:r>
            <a:endParaRPr lang="en-US" sz="1100" dirty="0"/>
          </a:p>
        </p:txBody>
      </p:sp>
      <p:sp>
        <p:nvSpPr>
          <p:cNvPr id="29" name="Text 27"/>
          <p:cNvSpPr/>
          <p:nvPr/>
        </p:nvSpPr>
        <p:spPr>
          <a:xfrm>
            <a:off x="6583680" y="4526280"/>
            <a:ext cx="4937760" cy="45720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Continuous attributions — see every word's contribution.</a:t>
            </a:r>
            <a:endParaRPr lang="en-US" sz="1200" dirty="0"/>
          </a:p>
        </p:txBody>
      </p:sp>
      <p:sp>
        <p:nvSpPr>
          <p:cNvPr id="30" name="Text 28"/>
          <p:cNvSpPr/>
          <p:nvPr/>
        </p:nvSpPr>
        <p:spPr>
          <a:xfrm>
            <a:off x="6583680" y="5074920"/>
            <a:ext cx="3657600" cy="274320"/>
          </a:xfrm>
          <a:prstGeom prst="rect">
            <a:avLst/>
          </a:prstGeom>
          <a:noFill/>
          <a:ln/>
        </p:spPr>
        <p:txBody>
          <a:bodyPr wrap="square" lIns="0" tIns="0" rIns="0" bIns="0" rtlCol="0" anchor="ctr"/>
          <a:lstStyle/>
          <a:p>
            <a:pPr marL="0" indent="0">
              <a:buNone/>
            </a:pPr>
            <a:r>
              <a:rPr lang="en-US" sz="1100" b="1" kern="0" spc="300" dirty="0">
                <a:solidFill>
                  <a:srgbClr val="F77F00"/>
                </a:solidFill>
                <a:latin typeface="Calibri" pitchFamily="34" charset="0"/>
                <a:ea typeface="Calibri" pitchFamily="34" charset="-122"/>
                <a:cs typeface="Calibri" pitchFamily="34" charset="-120"/>
              </a:rPr>
              <a:t>Limitation</a:t>
            </a:r>
            <a:endParaRPr lang="en-US" sz="1100" dirty="0"/>
          </a:p>
        </p:txBody>
      </p:sp>
      <p:sp>
        <p:nvSpPr>
          <p:cNvPr id="31" name="Text 29"/>
          <p:cNvSpPr/>
          <p:nvPr/>
        </p:nvSpPr>
        <p:spPr>
          <a:xfrm>
            <a:off x="6583680" y="5303520"/>
            <a:ext cx="4937760" cy="100584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Local only — not a global rule. Random perturbations → some variance run-to-run.</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1E3A5F"/>
          </a:solidFill>
          <a:ln w="12700">
            <a:solidFill>
              <a:srgbClr val="1E3A5F"/>
            </a:solidFill>
            <a:prstDash val="solid"/>
          </a:ln>
        </p:spPr>
        <p:txBody>
          <a:bodyPr/>
          <a:lstStyle/>
          <a:p>
            <a:endParaRPr lang="en-GB"/>
          </a:p>
        </p:txBody>
      </p:sp>
      <p:sp>
        <p:nvSpPr>
          <p:cNvPr id="3" name="Shape 1"/>
          <p:cNvSpPr/>
          <p:nvPr/>
        </p:nvSpPr>
        <p:spPr>
          <a:xfrm>
            <a:off x="0" y="0"/>
            <a:ext cx="2377440" cy="164592"/>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457200" y="292608"/>
            <a:ext cx="10972800" cy="320040"/>
          </a:xfrm>
          <a:prstGeom prst="rect">
            <a:avLst/>
          </a:prstGeom>
          <a:noFill/>
          <a:ln/>
        </p:spPr>
        <p:txBody>
          <a:bodyPr wrap="square" rtlCol="0" anchor="ctr"/>
          <a:lstStyle/>
          <a:p>
            <a:pPr marL="0" indent="0">
              <a:buNone/>
            </a:pPr>
            <a:r>
              <a:rPr lang="en-US" sz="1100" b="1" kern="0" spc="400" dirty="0">
                <a:solidFill>
                  <a:srgbClr val="F77F00"/>
                </a:solidFill>
                <a:latin typeface="Calibri" pitchFamily="34" charset="0"/>
                <a:ea typeface="Calibri" pitchFamily="34" charset="-122"/>
                <a:cs typeface="Calibri" pitchFamily="34" charset="-120"/>
              </a:rPr>
              <a:t>WHY DID THE MODEL PREDICT 'NEGATIF'?</a:t>
            </a:r>
            <a:endParaRPr lang="en-US" sz="1100" dirty="0"/>
          </a:p>
        </p:txBody>
      </p:sp>
      <p:sp>
        <p:nvSpPr>
          <p:cNvPr id="5" name="Text 3"/>
          <p:cNvSpPr/>
          <p:nvPr/>
        </p:nvSpPr>
        <p:spPr>
          <a:xfrm>
            <a:off x="457200" y="594360"/>
            <a:ext cx="11247120" cy="777240"/>
          </a:xfrm>
          <a:prstGeom prst="rect">
            <a:avLst/>
          </a:prstGeom>
          <a:noFill/>
          <a:ln/>
        </p:spPr>
        <p:txBody>
          <a:bodyPr wrap="square" lIns="0" tIns="0" rIns="0" bIns="0" rtlCol="0" anchor="ctr"/>
          <a:lstStyle/>
          <a:p>
            <a:pPr marL="0" indent="0">
              <a:buNone/>
            </a:pPr>
            <a:r>
              <a:rPr lang="en-US" sz="3000" b="1" dirty="0">
                <a:solidFill>
                  <a:srgbClr val="0F2440"/>
                </a:solidFill>
                <a:latin typeface="Calibri" pitchFamily="34" charset="0"/>
                <a:ea typeface="Calibri" pitchFamily="34" charset="-122"/>
                <a:cs typeface="Calibri" pitchFamily="34" charset="-120"/>
              </a:rPr>
              <a:t>LIME · Real Tokopedia review</a:t>
            </a:r>
            <a:endParaRPr lang="en-US" sz="3000" dirty="0"/>
          </a:p>
        </p:txBody>
      </p:sp>
      <p:sp>
        <p:nvSpPr>
          <p:cNvPr id="6" name="Shape 4"/>
          <p:cNvSpPr/>
          <p:nvPr/>
        </p:nvSpPr>
        <p:spPr>
          <a:xfrm>
            <a:off x="457200" y="137160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29 / 35</a:t>
            </a:r>
            <a:endParaRPr lang="en-US" sz="900" dirty="0"/>
          </a:p>
        </p:txBody>
      </p:sp>
      <p:sp>
        <p:nvSpPr>
          <p:cNvPr id="10" name="Shape 8"/>
          <p:cNvSpPr/>
          <p:nvPr/>
        </p:nvSpPr>
        <p:spPr>
          <a:xfrm>
            <a:off x="548640" y="1691640"/>
            <a:ext cx="11064240" cy="987552"/>
          </a:xfrm>
          <a:prstGeom prst="rect">
            <a:avLst/>
          </a:prstGeom>
          <a:solidFill>
            <a:srgbClr val="E7F1FB"/>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1" name="Text 9"/>
          <p:cNvSpPr/>
          <p:nvPr/>
        </p:nvSpPr>
        <p:spPr>
          <a:xfrm>
            <a:off x="777240" y="1828800"/>
            <a:ext cx="10607040" cy="640080"/>
          </a:xfrm>
          <a:prstGeom prst="rect">
            <a:avLst/>
          </a:prstGeom>
          <a:noFill/>
          <a:ln/>
        </p:spPr>
        <p:txBody>
          <a:bodyPr wrap="square" lIns="0" tIns="0" rIns="0" bIns="0" rtlCol="0" anchor="t"/>
          <a:lstStyle/>
          <a:p>
            <a:pPr marL="0" indent="0">
              <a:buNone/>
            </a:pPr>
            <a:r>
              <a:rPr lang="en-US" sz="1600" i="1" dirty="0">
                <a:solidFill>
                  <a:srgbClr val="212529"/>
                </a:solidFill>
                <a:latin typeface="Calibri" pitchFamily="34" charset="0"/>
                <a:ea typeface="Calibri" pitchFamily="34" charset="-122"/>
                <a:cs typeface="Calibri" pitchFamily="34" charset="-120"/>
              </a:rPr>
              <a:t>"Barang </a:t>
            </a:r>
            <a:r>
              <a:rPr lang="en-US" sz="1600" b="1" i="1" dirty="0">
                <a:solidFill>
                  <a:srgbClr val="FFFFFF"/>
                </a:solidFill>
                <a:highlight>
                  <a:srgbClr val="D62828"/>
                </a:highlight>
                <a:latin typeface="Calibri" pitchFamily="34" charset="0"/>
                <a:ea typeface="Calibri" pitchFamily="34" charset="-122"/>
                <a:cs typeface="Calibri" pitchFamily="34" charset="-120"/>
              </a:rPr>
              <a:t>rusak</a:t>
            </a:r>
            <a:r>
              <a:rPr lang="en-US" sz="1600" i="1" dirty="0">
                <a:solidFill>
                  <a:srgbClr val="212529"/>
                </a:solidFill>
                <a:latin typeface="Calibri" pitchFamily="34" charset="0"/>
                <a:ea typeface="Calibri" pitchFamily="34" charset="-122"/>
                <a:cs typeface="Calibri" pitchFamily="34" charset="-120"/>
              </a:rPr>
              <a:t> ketika sampai, </a:t>
            </a:r>
            <a:r>
              <a:rPr lang="en-US" sz="1600" b="1" i="1" dirty="0">
                <a:solidFill>
                  <a:srgbClr val="FFFFFF"/>
                </a:solidFill>
                <a:highlight>
                  <a:srgbClr val="06A77D"/>
                </a:highlight>
                <a:latin typeface="Calibri" pitchFamily="34" charset="0"/>
                <a:ea typeface="Calibri" pitchFamily="34" charset="-122"/>
                <a:cs typeface="Calibri" pitchFamily="34" charset="-120"/>
              </a:rPr>
              <a:t>packaging</a:t>
            </a:r>
            <a:r>
              <a:rPr lang="en-US" sz="1600" i="1" dirty="0">
                <a:solidFill>
                  <a:srgbClr val="212529"/>
                </a:solidFill>
                <a:latin typeface="Calibri" pitchFamily="34" charset="0"/>
                <a:ea typeface="Calibri" pitchFamily="34" charset="-122"/>
                <a:cs typeface="Calibri" pitchFamily="34" charset="-120"/>
              </a:rPr>
              <a:t> bagus tapi isinya </a:t>
            </a:r>
            <a:r>
              <a:rPr lang="en-US" sz="1600" b="1" i="1" dirty="0">
                <a:solidFill>
                  <a:srgbClr val="FFFFFF"/>
                </a:solidFill>
                <a:highlight>
                  <a:srgbClr val="D62828"/>
                </a:highlight>
                <a:latin typeface="Calibri" pitchFamily="34" charset="0"/>
                <a:ea typeface="Calibri" pitchFamily="34" charset="-122"/>
                <a:cs typeface="Calibri" pitchFamily="34" charset="-120"/>
              </a:rPr>
              <a:t>kecewa</a:t>
            </a:r>
            <a:r>
              <a:rPr lang="en-US" sz="1600" i="1" dirty="0">
                <a:solidFill>
                  <a:srgbClr val="212529"/>
                </a:solidFill>
                <a:latin typeface="Calibri" pitchFamily="34" charset="0"/>
                <a:ea typeface="Calibri" pitchFamily="34" charset="-122"/>
                <a:cs typeface="Calibri" pitchFamily="34" charset="-120"/>
              </a:rPr>
              <a:t> sekali. </a:t>
            </a:r>
            <a:r>
              <a:rPr lang="en-US" sz="1600" b="1" i="1" dirty="0">
                <a:solidFill>
                  <a:srgbClr val="FFFFFF"/>
                </a:solidFill>
                <a:highlight>
                  <a:srgbClr val="D62828"/>
                </a:highlight>
                <a:latin typeface="Calibri" pitchFamily="34" charset="0"/>
                <a:ea typeface="Calibri" pitchFamily="34" charset="-122"/>
                <a:cs typeface="Calibri" pitchFamily="34" charset="-120"/>
              </a:rPr>
              <a:t>Tidak sesuai</a:t>
            </a:r>
            <a:r>
              <a:rPr lang="en-US" sz="1600" i="1" dirty="0">
                <a:solidFill>
                  <a:srgbClr val="212529"/>
                </a:solidFill>
                <a:latin typeface="Calibri" pitchFamily="34" charset="0"/>
                <a:ea typeface="Calibri" pitchFamily="34" charset="-122"/>
                <a:cs typeface="Calibri" pitchFamily="34" charset="-120"/>
              </a:rPr>
              <a:t> deskripsi."</a:t>
            </a:r>
            <a:endParaRPr lang="en-US" sz="1600" dirty="0"/>
          </a:p>
        </p:txBody>
      </p:sp>
      <p:sp>
        <p:nvSpPr>
          <p:cNvPr id="12" name="Text 10"/>
          <p:cNvSpPr/>
          <p:nvPr/>
        </p:nvSpPr>
        <p:spPr>
          <a:xfrm>
            <a:off x="782694" y="2251349"/>
            <a:ext cx="10972800" cy="365760"/>
          </a:xfrm>
          <a:prstGeom prst="rect">
            <a:avLst/>
          </a:prstGeom>
          <a:noFill/>
          <a:ln/>
        </p:spPr>
        <p:txBody>
          <a:bodyPr wrap="square" lIns="0" tIns="0" rIns="0" bIns="0" rtlCol="0" anchor="ctr"/>
          <a:lstStyle/>
          <a:p>
            <a:pPr marL="0" indent="0">
              <a:buNone/>
            </a:pPr>
            <a:r>
              <a:rPr lang="en-US" sz="1200" b="1" kern="0" spc="200" dirty="0">
                <a:solidFill>
                  <a:srgbClr val="D62828"/>
                </a:solidFill>
                <a:latin typeface="Calibri" pitchFamily="34" charset="0"/>
                <a:ea typeface="Calibri" pitchFamily="34" charset="-122"/>
                <a:cs typeface="Calibri" pitchFamily="34" charset="-120"/>
              </a:rPr>
              <a:t>Predicted: NEGATIF (confidence 0.94)</a:t>
            </a:r>
            <a:endParaRPr lang="en-US" sz="1200" dirty="0"/>
          </a:p>
        </p:txBody>
      </p:sp>
      <p:sp>
        <p:nvSpPr>
          <p:cNvPr id="13" name="Shape 11"/>
          <p:cNvSpPr/>
          <p:nvPr/>
        </p:nvSpPr>
        <p:spPr>
          <a:xfrm>
            <a:off x="548640" y="2688336"/>
            <a:ext cx="11064240" cy="320040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4" name="Text 12"/>
          <p:cNvSpPr/>
          <p:nvPr/>
        </p:nvSpPr>
        <p:spPr>
          <a:xfrm>
            <a:off x="777240" y="2825496"/>
            <a:ext cx="10058400" cy="365760"/>
          </a:xfrm>
          <a:prstGeom prst="rect">
            <a:avLst/>
          </a:prstGeom>
          <a:noFill/>
          <a:ln/>
        </p:spPr>
        <p:txBody>
          <a:bodyPr wrap="square" lIns="0" tIns="0" rIns="0" bIns="0" rtlCol="0" anchor="ctr"/>
          <a:lstStyle/>
          <a:p>
            <a:pPr marL="0" indent="0">
              <a:buNone/>
            </a:pPr>
            <a:r>
              <a:rPr lang="en-US" sz="1400" b="1" dirty="0">
                <a:solidFill>
                  <a:srgbClr val="0F2440"/>
                </a:solidFill>
                <a:latin typeface="Calibri" pitchFamily="34" charset="0"/>
                <a:ea typeface="Calibri" pitchFamily="34" charset="-122"/>
                <a:cs typeface="Calibri" pitchFamily="34" charset="-120"/>
              </a:rPr>
              <a:t>LIME contributions per word</a:t>
            </a:r>
            <a:endParaRPr lang="en-US" sz="1400" dirty="0"/>
          </a:p>
        </p:txBody>
      </p:sp>
      <p:sp>
        <p:nvSpPr>
          <p:cNvPr id="15" name="Text 13"/>
          <p:cNvSpPr/>
          <p:nvPr/>
        </p:nvSpPr>
        <p:spPr>
          <a:xfrm>
            <a:off x="777240" y="3328416"/>
            <a:ext cx="1645920" cy="320040"/>
          </a:xfrm>
          <a:prstGeom prst="rect">
            <a:avLst/>
          </a:prstGeom>
          <a:noFill/>
          <a:ln/>
        </p:spPr>
        <p:txBody>
          <a:bodyPr wrap="square" lIns="0" tIns="0" rIns="0" bIns="0" rtlCol="0" anchor="ctr"/>
          <a:lstStyle/>
          <a:p>
            <a:pPr marL="0" indent="0">
              <a:buNone/>
            </a:pPr>
            <a:r>
              <a:rPr lang="en-US" sz="1100" b="1" dirty="0">
                <a:solidFill>
                  <a:srgbClr val="0F2440"/>
                </a:solidFill>
                <a:latin typeface="Consolas" pitchFamily="34" charset="0"/>
                <a:ea typeface="Consolas" pitchFamily="34" charset="-122"/>
                <a:cs typeface="Consolas" pitchFamily="34" charset="-120"/>
              </a:rPr>
              <a:t>rusak</a:t>
            </a:r>
            <a:endParaRPr lang="en-US" sz="1100" dirty="0"/>
          </a:p>
        </p:txBody>
      </p:sp>
      <p:sp>
        <p:nvSpPr>
          <p:cNvPr id="16" name="Shape 14"/>
          <p:cNvSpPr/>
          <p:nvPr/>
        </p:nvSpPr>
        <p:spPr>
          <a:xfrm>
            <a:off x="2871216" y="3392424"/>
            <a:ext cx="3072384" cy="201168"/>
          </a:xfrm>
          <a:prstGeom prst="rect">
            <a:avLst/>
          </a:prstGeom>
          <a:solidFill>
            <a:srgbClr val="D62828"/>
          </a:solidFill>
          <a:ln w="12700">
            <a:solidFill>
              <a:srgbClr val="D62828"/>
            </a:solidFill>
            <a:prstDash val="solid"/>
          </a:ln>
        </p:spPr>
        <p:txBody>
          <a:bodyPr/>
          <a:lstStyle/>
          <a:p>
            <a:endParaRPr lang="en-GB"/>
          </a:p>
        </p:txBody>
      </p:sp>
      <p:sp>
        <p:nvSpPr>
          <p:cNvPr id="17" name="Text 15"/>
          <p:cNvSpPr/>
          <p:nvPr/>
        </p:nvSpPr>
        <p:spPr>
          <a:xfrm>
            <a:off x="2231136" y="3328416"/>
            <a:ext cx="548640" cy="320040"/>
          </a:xfrm>
          <a:prstGeom prst="rect">
            <a:avLst/>
          </a:prstGeom>
          <a:noFill/>
          <a:ln/>
        </p:spPr>
        <p:txBody>
          <a:bodyPr wrap="square" lIns="0" tIns="0" rIns="0" bIns="0" rtlCol="0" anchor="ctr"/>
          <a:lstStyle/>
          <a:p>
            <a:pPr marL="0" indent="0" algn="r">
              <a:buNone/>
            </a:pPr>
            <a:r>
              <a:rPr lang="en-US" sz="1000" b="1" dirty="0">
                <a:solidFill>
                  <a:srgbClr val="D62828"/>
                </a:solidFill>
                <a:latin typeface="Calibri" pitchFamily="34" charset="0"/>
                <a:ea typeface="Calibri" pitchFamily="34" charset="-122"/>
                <a:cs typeface="Calibri" pitchFamily="34" charset="-120"/>
              </a:rPr>
              <a:t>-0.42</a:t>
            </a:r>
            <a:endParaRPr lang="en-US" sz="1000" dirty="0"/>
          </a:p>
        </p:txBody>
      </p:sp>
      <p:sp>
        <p:nvSpPr>
          <p:cNvPr id="18" name="Text 16"/>
          <p:cNvSpPr/>
          <p:nvPr/>
        </p:nvSpPr>
        <p:spPr>
          <a:xfrm>
            <a:off x="777240" y="3712464"/>
            <a:ext cx="1645920" cy="320040"/>
          </a:xfrm>
          <a:prstGeom prst="rect">
            <a:avLst/>
          </a:prstGeom>
          <a:noFill/>
          <a:ln/>
        </p:spPr>
        <p:txBody>
          <a:bodyPr wrap="square" lIns="0" tIns="0" rIns="0" bIns="0" rtlCol="0" anchor="ctr"/>
          <a:lstStyle/>
          <a:p>
            <a:pPr marL="0" indent="0">
              <a:buNone/>
            </a:pPr>
            <a:r>
              <a:rPr lang="en-US" sz="1100" b="1" dirty="0">
                <a:solidFill>
                  <a:srgbClr val="0F2440"/>
                </a:solidFill>
                <a:latin typeface="Consolas" pitchFamily="34" charset="0"/>
                <a:ea typeface="Consolas" pitchFamily="34" charset="-122"/>
                <a:cs typeface="Consolas" pitchFamily="34" charset="-120"/>
              </a:rPr>
              <a:t>kecewa</a:t>
            </a:r>
            <a:endParaRPr lang="en-US" sz="1100" dirty="0"/>
          </a:p>
        </p:txBody>
      </p:sp>
      <p:sp>
        <p:nvSpPr>
          <p:cNvPr id="19" name="Shape 17"/>
          <p:cNvSpPr/>
          <p:nvPr/>
        </p:nvSpPr>
        <p:spPr>
          <a:xfrm>
            <a:off x="3675888" y="3776472"/>
            <a:ext cx="2267712" cy="201168"/>
          </a:xfrm>
          <a:prstGeom prst="rect">
            <a:avLst/>
          </a:prstGeom>
          <a:solidFill>
            <a:srgbClr val="D62828"/>
          </a:solidFill>
          <a:ln w="12700">
            <a:solidFill>
              <a:srgbClr val="D62828"/>
            </a:solidFill>
            <a:prstDash val="solid"/>
          </a:ln>
        </p:spPr>
        <p:txBody>
          <a:bodyPr/>
          <a:lstStyle/>
          <a:p>
            <a:endParaRPr lang="en-GB"/>
          </a:p>
        </p:txBody>
      </p:sp>
      <p:sp>
        <p:nvSpPr>
          <p:cNvPr id="20" name="Text 18"/>
          <p:cNvSpPr/>
          <p:nvPr/>
        </p:nvSpPr>
        <p:spPr>
          <a:xfrm>
            <a:off x="3035808" y="3712464"/>
            <a:ext cx="548640" cy="320040"/>
          </a:xfrm>
          <a:prstGeom prst="rect">
            <a:avLst/>
          </a:prstGeom>
          <a:noFill/>
          <a:ln/>
        </p:spPr>
        <p:txBody>
          <a:bodyPr wrap="square" lIns="0" tIns="0" rIns="0" bIns="0" rtlCol="0" anchor="ctr"/>
          <a:lstStyle/>
          <a:p>
            <a:pPr marL="0" indent="0" algn="r">
              <a:buNone/>
            </a:pPr>
            <a:r>
              <a:rPr lang="en-US" sz="1000" b="1" dirty="0">
                <a:solidFill>
                  <a:srgbClr val="D62828"/>
                </a:solidFill>
                <a:latin typeface="Calibri" pitchFamily="34" charset="0"/>
                <a:ea typeface="Calibri" pitchFamily="34" charset="-122"/>
                <a:cs typeface="Calibri" pitchFamily="34" charset="-120"/>
              </a:rPr>
              <a:t>-0.31</a:t>
            </a:r>
            <a:endParaRPr lang="en-US" sz="1000" dirty="0"/>
          </a:p>
        </p:txBody>
      </p:sp>
      <p:sp>
        <p:nvSpPr>
          <p:cNvPr id="21" name="Text 19"/>
          <p:cNvSpPr/>
          <p:nvPr/>
        </p:nvSpPr>
        <p:spPr>
          <a:xfrm>
            <a:off x="777240" y="4096512"/>
            <a:ext cx="1645920" cy="320040"/>
          </a:xfrm>
          <a:prstGeom prst="rect">
            <a:avLst/>
          </a:prstGeom>
          <a:noFill/>
          <a:ln/>
        </p:spPr>
        <p:txBody>
          <a:bodyPr wrap="square" lIns="0" tIns="0" rIns="0" bIns="0" rtlCol="0" anchor="ctr"/>
          <a:lstStyle/>
          <a:p>
            <a:pPr marL="0" indent="0">
              <a:buNone/>
            </a:pPr>
            <a:r>
              <a:rPr lang="en-US" sz="1100" b="1" dirty="0">
                <a:solidFill>
                  <a:srgbClr val="0F2440"/>
                </a:solidFill>
                <a:latin typeface="Consolas" pitchFamily="34" charset="0"/>
                <a:ea typeface="Consolas" pitchFamily="34" charset="-122"/>
                <a:cs typeface="Consolas" pitchFamily="34" charset="-120"/>
              </a:rPr>
              <a:t>tidak sesuai</a:t>
            </a:r>
            <a:endParaRPr lang="en-US" sz="1100" dirty="0"/>
          </a:p>
        </p:txBody>
      </p:sp>
      <p:sp>
        <p:nvSpPr>
          <p:cNvPr id="22" name="Shape 20"/>
          <p:cNvSpPr/>
          <p:nvPr/>
        </p:nvSpPr>
        <p:spPr>
          <a:xfrm>
            <a:off x="3895344" y="4160520"/>
            <a:ext cx="2048256" cy="201168"/>
          </a:xfrm>
          <a:prstGeom prst="rect">
            <a:avLst/>
          </a:prstGeom>
          <a:solidFill>
            <a:srgbClr val="D62828"/>
          </a:solidFill>
          <a:ln w="12700">
            <a:solidFill>
              <a:srgbClr val="D62828"/>
            </a:solidFill>
            <a:prstDash val="solid"/>
          </a:ln>
        </p:spPr>
        <p:txBody>
          <a:bodyPr/>
          <a:lstStyle/>
          <a:p>
            <a:endParaRPr lang="en-GB"/>
          </a:p>
        </p:txBody>
      </p:sp>
      <p:sp>
        <p:nvSpPr>
          <p:cNvPr id="23" name="Text 21"/>
          <p:cNvSpPr/>
          <p:nvPr/>
        </p:nvSpPr>
        <p:spPr>
          <a:xfrm>
            <a:off x="3255264" y="4096512"/>
            <a:ext cx="548640" cy="320040"/>
          </a:xfrm>
          <a:prstGeom prst="rect">
            <a:avLst/>
          </a:prstGeom>
          <a:noFill/>
          <a:ln/>
        </p:spPr>
        <p:txBody>
          <a:bodyPr wrap="square" lIns="0" tIns="0" rIns="0" bIns="0" rtlCol="0" anchor="ctr"/>
          <a:lstStyle/>
          <a:p>
            <a:pPr marL="0" indent="0" algn="r">
              <a:buNone/>
            </a:pPr>
            <a:r>
              <a:rPr lang="en-US" sz="1000" b="1" dirty="0">
                <a:solidFill>
                  <a:srgbClr val="D62828"/>
                </a:solidFill>
                <a:latin typeface="Calibri" pitchFamily="34" charset="0"/>
                <a:ea typeface="Calibri" pitchFamily="34" charset="-122"/>
                <a:cs typeface="Calibri" pitchFamily="34" charset="-120"/>
              </a:rPr>
              <a:t>-0.28</a:t>
            </a:r>
            <a:endParaRPr lang="en-US" sz="1000" dirty="0"/>
          </a:p>
        </p:txBody>
      </p:sp>
      <p:sp>
        <p:nvSpPr>
          <p:cNvPr id="24" name="Text 22"/>
          <p:cNvSpPr/>
          <p:nvPr/>
        </p:nvSpPr>
        <p:spPr>
          <a:xfrm>
            <a:off x="777240" y="4480560"/>
            <a:ext cx="1645920" cy="320040"/>
          </a:xfrm>
          <a:prstGeom prst="rect">
            <a:avLst/>
          </a:prstGeom>
          <a:noFill/>
          <a:ln/>
        </p:spPr>
        <p:txBody>
          <a:bodyPr wrap="square" lIns="0" tIns="0" rIns="0" bIns="0" rtlCol="0" anchor="ctr"/>
          <a:lstStyle/>
          <a:p>
            <a:pPr marL="0" indent="0">
              <a:buNone/>
            </a:pPr>
            <a:r>
              <a:rPr lang="en-US" sz="1100" b="1" dirty="0">
                <a:solidFill>
                  <a:srgbClr val="0F2440"/>
                </a:solidFill>
                <a:latin typeface="Consolas" pitchFamily="34" charset="0"/>
                <a:ea typeface="Consolas" pitchFamily="34" charset="-122"/>
                <a:cs typeface="Consolas" pitchFamily="34" charset="-120"/>
              </a:rPr>
              <a:t>bagus</a:t>
            </a:r>
            <a:endParaRPr lang="en-US" sz="1100" dirty="0"/>
          </a:p>
        </p:txBody>
      </p:sp>
      <p:sp>
        <p:nvSpPr>
          <p:cNvPr id="25" name="Shape 23"/>
          <p:cNvSpPr/>
          <p:nvPr/>
        </p:nvSpPr>
        <p:spPr>
          <a:xfrm>
            <a:off x="5943600" y="4544568"/>
            <a:ext cx="1024128" cy="201168"/>
          </a:xfrm>
          <a:prstGeom prst="rect">
            <a:avLst/>
          </a:prstGeom>
          <a:solidFill>
            <a:srgbClr val="06A77D"/>
          </a:solidFill>
          <a:ln w="12700">
            <a:solidFill>
              <a:srgbClr val="06A77D"/>
            </a:solidFill>
            <a:prstDash val="solid"/>
          </a:ln>
        </p:spPr>
        <p:txBody>
          <a:bodyPr/>
          <a:lstStyle/>
          <a:p>
            <a:endParaRPr lang="en-GB"/>
          </a:p>
        </p:txBody>
      </p:sp>
      <p:sp>
        <p:nvSpPr>
          <p:cNvPr id="26" name="Text 24"/>
          <p:cNvSpPr/>
          <p:nvPr/>
        </p:nvSpPr>
        <p:spPr>
          <a:xfrm>
            <a:off x="7013448" y="4480560"/>
            <a:ext cx="548640" cy="320040"/>
          </a:xfrm>
          <a:prstGeom prst="rect">
            <a:avLst/>
          </a:prstGeom>
          <a:noFill/>
          <a:ln/>
        </p:spPr>
        <p:txBody>
          <a:bodyPr wrap="square" lIns="0" tIns="0" rIns="0" bIns="0" rtlCol="0" anchor="ctr"/>
          <a:lstStyle/>
          <a:p>
            <a:pPr marL="0" indent="0">
              <a:buNone/>
            </a:pPr>
            <a:r>
              <a:rPr lang="en-US" sz="1000" b="1" dirty="0">
                <a:solidFill>
                  <a:srgbClr val="06A77D"/>
                </a:solidFill>
                <a:latin typeface="Calibri" pitchFamily="34" charset="0"/>
                <a:ea typeface="Calibri" pitchFamily="34" charset="-122"/>
                <a:cs typeface="Calibri" pitchFamily="34" charset="-120"/>
              </a:rPr>
              <a:t>+0.14</a:t>
            </a:r>
            <a:endParaRPr lang="en-US" sz="1000" dirty="0"/>
          </a:p>
        </p:txBody>
      </p:sp>
      <p:sp>
        <p:nvSpPr>
          <p:cNvPr id="27" name="Text 25"/>
          <p:cNvSpPr/>
          <p:nvPr/>
        </p:nvSpPr>
        <p:spPr>
          <a:xfrm>
            <a:off x="777240" y="4864608"/>
            <a:ext cx="1645920" cy="320040"/>
          </a:xfrm>
          <a:prstGeom prst="rect">
            <a:avLst/>
          </a:prstGeom>
          <a:noFill/>
          <a:ln/>
        </p:spPr>
        <p:txBody>
          <a:bodyPr wrap="square" lIns="0" tIns="0" rIns="0" bIns="0" rtlCol="0" anchor="ctr"/>
          <a:lstStyle/>
          <a:p>
            <a:pPr marL="0" indent="0">
              <a:buNone/>
            </a:pPr>
            <a:r>
              <a:rPr lang="en-US" sz="1100" b="1" dirty="0">
                <a:solidFill>
                  <a:srgbClr val="0F2440"/>
                </a:solidFill>
                <a:latin typeface="Consolas" pitchFamily="34" charset="0"/>
                <a:ea typeface="Consolas" pitchFamily="34" charset="-122"/>
                <a:cs typeface="Consolas" pitchFamily="34" charset="-120"/>
              </a:rPr>
              <a:t>packaging</a:t>
            </a:r>
            <a:endParaRPr lang="en-US" sz="1100" dirty="0"/>
          </a:p>
        </p:txBody>
      </p:sp>
      <p:sp>
        <p:nvSpPr>
          <p:cNvPr id="28" name="Shape 26"/>
          <p:cNvSpPr/>
          <p:nvPr/>
        </p:nvSpPr>
        <p:spPr>
          <a:xfrm>
            <a:off x="5943600" y="4928616"/>
            <a:ext cx="585216" cy="201168"/>
          </a:xfrm>
          <a:prstGeom prst="rect">
            <a:avLst/>
          </a:prstGeom>
          <a:solidFill>
            <a:srgbClr val="06A77D"/>
          </a:solidFill>
          <a:ln w="12700">
            <a:solidFill>
              <a:srgbClr val="06A77D"/>
            </a:solidFill>
            <a:prstDash val="solid"/>
          </a:ln>
        </p:spPr>
        <p:txBody>
          <a:bodyPr/>
          <a:lstStyle/>
          <a:p>
            <a:endParaRPr lang="en-GB"/>
          </a:p>
        </p:txBody>
      </p:sp>
      <p:sp>
        <p:nvSpPr>
          <p:cNvPr id="29" name="Text 27"/>
          <p:cNvSpPr/>
          <p:nvPr/>
        </p:nvSpPr>
        <p:spPr>
          <a:xfrm>
            <a:off x="6574536" y="4864608"/>
            <a:ext cx="548640" cy="320040"/>
          </a:xfrm>
          <a:prstGeom prst="rect">
            <a:avLst/>
          </a:prstGeom>
          <a:noFill/>
          <a:ln/>
        </p:spPr>
        <p:txBody>
          <a:bodyPr wrap="square" lIns="0" tIns="0" rIns="0" bIns="0" rtlCol="0" anchor="ctr"/>
          <a:lstStyle/>
          <a:p>
            <a:pPr marL="0" indent="0">
              <a:buNone/>
            </a:pPr>
            <a:r>
              <a:rPr lang="en-US" sz="1000" b="1" dirty="0">
                <a:solidFill>
                  <a:srgbClr val="06A77D"/>
                </a:solidFill>
                <a:latin typeface="Calibri" pitchFamily="34" charset="0"/>
                <a:ea typeface="Calibri" pitchFamily="34" charset="-122"/>
                <a:cs typeface="Calibri" pitchFamily="34" charset="-120"/>
              </a:rPr>
              <a:t>+0.08</a:t>
            </a:r>
            <a:endParaRPr lang="en-US" sz="1000" dirty="0"/>
          </a:p>
        </p:txBody>
      </p:sp>
      <p:sp>
        <p:nvSpPr>
          <p:cNvPr id="30" name="Text 28"/>
          <p:cNvSpPr/>
          <p:nvPr/>
        </p:nvSpPr>
        <p:spPr>
          <a:xfrm>
            <a:off x="777240" y="5248656"/>
            <a:ext cx="1645920" cy="320040"/>
          </a:xfrm>
          <a:prstGeom prst="rect">
            <a:avLst/>
          </a:prstGeom>
          <a:noFill/>
          <a:ln/>
        </p:spPr>
        <p:txBody>
          <a:bodyPr wrap="square" lIns="0" tIns="0" rIns="0" bIns="0" rtlCol="0" anchor="ctr"/>
          <a:lstStyle/>
          <a:p>
            <a:pPr marL="0" indent="0">
              <a:buNone/>
            </a:pPr>
            <a:r>
              <a:rPr lang="en-US" sz="1100" b="1" dirty="0">
                <a:solidFill>
                  <a:srgbClr val="0F2440"/>
                </a:solidFill>
                <a:latin typeface="Consolas" pitchFamily="34" charset="0"/>
                <a:ea typeface="Consolas" pitchFamily="34" charset="-122"/>
                <a:cs typeface="Consolas" pitchFamily="34" charset="-120"/>
              </a:rPr>
              <a:t>barang</a:t>
            </a:r>
            <a:endParaRPr lang="en-US" sz="1100" dirty="0"/>
          </a:p>
        </p:txBody>
      </p:sp>
      <p:sp>
        <p:nvSpPr>
          <p:cNvPr id="31" name="Shape 29"/>
          <p:cNvSpPr/>
          <p:nvPr/>
        </p:nvSpPr>
        <p:spPr>
          <a:xfrm>
            <a:off x="5797296" y="5312664"/>
            <a:ext cx="146304" cy="201168"/>
          </a:xfrm>
          <a:prstGeom prst="rect">
            <a:avLst/>
          </a:prstGeom>
          <a:solidFill>
            <a:srgbClr val="6C757D"/>
          </a:solidFill>
          <a:ln w="12700">
            <a:solidFill>
              <a:srgbClr val="6C757D"/>
            </a:solidFill>
            <a:prstDash val="solid"/>
          </a:ln>
        </p:spPr>
        <p:txBody>
          <a:bodyPr/>
          <a:lstStyle/>
          <a:p>
            <a:endParaRPr lang="en-GB"/>
          </a:p>
        </p:txBody>
      </p:sp>
      <p:sp>
        <p:nvSpPr>
          <p:cNvPr id="32" name="Text 30"/>
          <p:cNvSpPr/>
          <p:nvPr/>
        </p:nvSpPr>
        <p:spPr>
          <a:xfrm>
            <a:off x="5157216" y="5248656"/>
            <a:ext cx="548640" cy="320040"/>
          </a:xfrm>
          <a:prstGeom prst="rect">
            <a:avLst/>
          </a:prstGeom>
          <a:noFill/>
          <a:ln/>
        </p:spPr>
        <p:txBody>
          <a:bodyPr wrap="square" lIns="0" tIns="0" rIns="0" bIns="0" rtlCol="0" anchor="ctr"/>
          <a:lstStyle/>
          <a:p>
            <a:pPr marL="0" indent="0" algn="r">
              <a:buNone/>
            </a:pPr>
            <a:r>
              <a:rPr lang="en-US" sz="1000" b="1" dirty="0">
                <a:solidFill>
                  <a:srgbClr val="6C757D"/>
                </a:solidFill>
                <a:latin typeface="Calibri" pitchFamily="34" charset="0"/>
                <a:ea typeface="Calibri" pitchFamily="34" charset="-122"/>
                <a:cs typeface="Calibri" pitchFamily="34" charset="-120"/>
              </a:rPr>
              <a:t>-0.02</a:t>
            </a:r>
            <a:endParaRPr lang="en-US" sz="1000" dirty="0"/>
          </a:p>
        </p:txBody>
      </p:sp>
      <p:sp>
        <p:nvSpPr>
          <p:cNvPr id="33" name="Shape 31"/>
          <p:cNvSpPr/>
          <p:nvPr/>
        </p:nvSpPr>
        <p:spPr>
          <a:xfrm>
            <a:off x="5943600" y="3236976"/>
            <a:ext cx="0" cy="2468880"/>
          </a:xfrm>
          <a:prstGeom prst="line">
            <a:avLst/>
          </a:prstGeom>
          <a:noFill/>
          <a:ln w="12700">
            <a:solidFill>
              <a:srgbClr val="6C757D"/>
            </a:solidFill>
            <a:prstDash val="dash"/>
          </a:ln>
        </p:spPr>
        <p:txBody>
          <a:bodyPr/>
          <a:lstStyle/>
          <a:p>
            <a:endParaRPr lang="en-GB"/>
          </a:p>
        </p:txBody>
      </p:sp>
      <p:sp>
        <p:nvSpPr>
          <p:cNvPr id="34" name="Text 32"/>
          <p:cNvSpPr/>
          <p:nvPr/>
        </p:nvSpPr>
        <p:spPr>
          <a:xfrm>
            <a:off x="3657600" y="5660136"/>
            <a:ext cx="2286000" cy="274320"/>
          </a:xfrm>
          <a:prstGeom prst="rect">
            <a:avLst/>
          </a:prstGeom>
          <a:noFill/>
          <a:ln/>
        </p:spPr>
        <p:txBody>
          <a:bodyPr wrap="square" lIns="0" tIns="0" rIns="0" bIns="0" rtlCol="0" anchor="ctr"/>
          <a:lstStyle/>
          <a:p>
            <a:pPr marL="0" indent="0" algn="r">
              <a:buNone/>
            </a:pPr>
            <a:r>
              <a:rPr lang="en-US" sz="1000" b="1" dirty="0">
                <a:solidFill>
                  <a:srgbClr val="D62828"/>
                </a:solidFill>
                <a:latin typeface="Calibri" pitchFamily="34" charset="0"/>
                <a:ea typeface="Calibri" pitchFamily="34" charset="-122"/>
                <a:cs typeface="Calibri" pitchFamily="34" charset="-120"/>
              </a:rPr>
              <a:t>← negatif</a:t>
            </a:r>
            <a:endParaRPr lang="en-US" sz="1000" dirty="0"/>
          </a:p>
        </p:txBody>
      </p:sp>
      <p:sp>
        <p:nvSpPr>
          <p:cNvPr id="35" name="Text 33"/>
          <p:cNvSpPr/>
          <p:nvPr/>
        </p:nvSpPr>
        <p:spPr>
          <a:xfrm>
            <a:off x="6035040" y="5660136"/>
            <a:ext cx="2286000" cy="274320"/>
          </a:xfrm>
          <a:prstGeom prst="rect">
            <a:avLst/>
          </a:prstGeom>
          <a:noFill/>
          <a:ln/>
        </p:spPr>
        <p:txBody>
          <a:bodyPr wrap="square" lIns="0" tIns="0" rIns="0" bIns="0" rtlCol="0" anchor="ctr"/>
          <a:lstStyle/>
          <a:p>
            <a:pPr marL="0" indent="0">
              <a:buNone/>
            </a:pPr>
            <a:r>
              <a:rPr lang="en-US" sz="1000" b="1" dirty="0">
                <a:solidFill>
                  <a:srgbClr val="06A77D"/>
                </a:solidFill>
                <a:latin typeface="Calibri" pitchFamily="34" charset="0"/>
                <a:ea typeface="Calibri" pitchFamily="34" charset="-122"/>
                <a:cs typeface="Calibri" pitchFamily="34" charset="-120"/>
              </a:rPr>
              <a:t>positif →</a:t>
            </a:r>
            <a:endParaRPr lang="en-US" sz="1000" dirty="0"/>
          </a:p>
        </p:txBody>
      </p:sp>
      <p:grpSp>
        <p:nvGrpSpPr>
          <p:cNvPr id="38" name="Group 37">
            <a:extLst>
              <a:ext uri="{FF2B5EF4-FFF2-40B4-BE49-F238E27FC236}">
                <a16:creationId xmlns:a16="http://schemas.microsoft.com/office/drawing/2014/main" id="{0FB69446-5368-41F2-1417-8CF9E69C29F4}"/>
              </a:ext>
            </a:extLst>
          </p:cNvPr>
          <p:cNvGrpSpPr/>
          <p:nvPr/>
        </p:nvGrpSpPr>
        <p:grpSpPr>
          <a:xfrm>
            <a:off x="548640" y="5998464"/>
            <a:ext cx="11064240" cy="411480"/>
            <a:chOff x="548640" y="6355080"/>
            <a:chExt cx="11064240" cy="411480"/>
          </a:xfrm>
        </p:grpSpPr>
        <p:sp>
          <p:nvSpPr>
            <p:cNvPr id="36" name="Shape 34"/>
            <p:cNvSpPr/>
            <p:nvPr/>
          </p:nvSpPr>
          <p:spPr>
            <a:xfrm>
              <a:off x="548640" y="6355080"/>
              <a:ext cx="11064240" cy="411480"/>
            </a:xfrm>
            <a:prstGeom prst="rect">
              <a:avLst/>
            </a:prstGeom>
            <a:solidFill>
              <a:srgbClr val="FFE9D6"/>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37" name="Text 35"/>
            <p:cNvSpPr/>
            <p:nvPr/>
          </p:nvSpPr>
          <p:spPr>
            <a:xfrm>
              <a:off x="777240" y="6373368"/>
              <a:ext cx="10607040" cy="365760"/>
            </a:xfrm>
            <a:prstGeom prst="rect">
              <a:avLst/>
            </a:prstGeom>
            <a:noFill/>
            <a:ln/>
          </p:spPr>
          <p:txBody>
            <a:bodyPr wrap="square" lIns="0" tIns="0" rIns="0" bIns="0" rtlCol="0" anchor="ctr"/>
            <a:lstStyle/>
            <a:p>
              <a:pPr marL="0" indent="0">
                <a:buNone/>
              </a:pPr>
              <a:r>
                <a:rPr lang="en-US" sz="1100" i="1" dirty="0">
                  <a:solidFill>
                    <a:srgbClr val="0F2440"/>
                  </a:solidFill>
                  <a:latin typeface="Calibri" pitchFamily="34" charset="0"/>
                  <a:ea typeface="Calibri" pitchFamily="34" charset="-122"/>
                  <a:cs typeface="Calibri" pitchFamily="34" charset="-120"/>
                </a:rPr>
                <a:t>Conclusion: "rusak" + "kecewa" + "tidak sesuai" overwhelmed the small positive nudge from "packaging".</a:t>
              </a:r>
              <a:endParaRPr lang="en-US" sz="1100" dirty="0"/>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548640" y="1280160"/>
            <a:ext cx="3657600" cy="3200400"/>
          </a:xfrm>
          <a:prstGeom prst="rect">
            <a:avLst/>
          </a:prstGeom>
          <a:noFill/>
          <a:ln/>
        </p:spPr>
        <p:txBody>
          <a:bodyPr wrap="square" rtlCol="0" anchor="t"/>
          <a:lstStyle/>
          <a:p>
            <a:pPr marL="0" indent="0">
              <a:buNone/>
            </a:pPr>
            <a:r>
              <a:rPr lang="en-US" sz="24000" b="1" dirty="0">
                <a:solidFill>
                  <a:srgbClr val="F77F00"/>
                </a:solidFill>
                <a:latin typeface="Calibri" pitchFamily="34" charset="0"/>
                <a:ea typeface="Calibri" pitchFamily="34" charset="-122"/>
                <a:cs typeface="Calibri" pitchFamily="34" charset="-120"/>
              </a:rPr>
              <a:t>06</a:t>
            </a:r>
            <a:endParaRPr lang="en-US" sz="24000" dirty="0"/>
          </a:p>
        </p:txBody>
      </p:sp>
      <p:sp>
        <p:nvSpPr>
          <p:cNvPr id="3" name="Shape 1"/>
          <p:cNvSpPr/>
          <p:nvPr/>
        </p:nvSpPr>
        <p:spPr>
          <a:xfrm>
            <a:off x="4754880" y="2377440"/>
            <a:ext cx="54864" cy="1828800"/>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5029200" y="2286000"/>
            <a:ext cx="5486400" cy="365760"/>
          </a:xfrm>
          <a:prstGeom prst="rect">
            <a:avLst/>
          </a:prstGeom>
          <a:noFill/>
          <a:ln/>
        </p:spPr>
        <p:txBody>
          <a:bodyPr wrap="square" rtlCol="0" anchor="ctr"/>
          <a:lstStyle/>
          <a:p>
            <a:pPr marL="0" indent="0">
              <a:buNone/>
            </a:pPr>
            <a:r>
              <a:rPr lang="en-US" sz="1400" b="1" kern="0" spc="600" dirty="0">
                <a:solidFill>
                  <a:srgbClr val="00B4D8"/>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5029200" y="2606040"/>
            <a:ext cx="6858000" cy="11887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Reflection &amp; Discussion</a:t>
            </a:r>
            <a:endParaRPr lang="en-US" sz="3800" dirty="0"/>
          </a:p>
        </p:txBody>
      </p:sp>
      <p:sp>
        <p:nvSpPr>
          <p:cNvPr id="6" name="Text 4"/>
          <p:cNvSpPr/>
          <p:nvPr/>
        </p:nvSpPr>
        <p:spPr>
          <a:xfrm>
            <a:off x="5029200" y="3749040"/>
            <a:ext cx="6675120" cy="822960"/>
          </a:xfrm>
          <a:prstGeom prst="rect">
            <a:avLst/>
          </a:prstGeom>
          <a:noFill/>
          <a:ln/>
        </p:spPr>
        <p:txBody>
          <a:bodyPr wrap="square" lIns="0" tIns="0" rIns="0" bIns="0" rtlCol="0" anchor="ctr"/>
          <a:lstStyle/>
          <a:p>
            <a:pPr marL="0" indent="0">
              <a:buNone/>
            </a:pPr>
            <a:r>
              <a:rPr lang="en-US" sz="1600" dirty="0">
                <a:solidFill>
                  <a:srgbClr val="CFE5F8"/>
                </a:solidFill>
                <a:latin typeface="Calibri" pitchFamily="34" charset="0"/>
                <a:ea typeface="Calibri" pitchFamily="34" charset="-122"/>
                <a:cs typeface="Calibri" pitchFamily="34" charset="-120"/>
              </a:rPr>
              <a:t>Now it's your turn — apply C2 / C3 / C4</a:t>
            </a:r>
            <a:endParaRPr lang="en-US" sz="1600" dirty="0"/>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30 / 35</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1E3A5F"/>
          </a:solidFill>
          <a:ln w="12700">
            <a:solidFill>
              <a:srgbClr val="1E3A5F"/>
            </a:solidFill>
            <a:prstDash val="solid"/>
          </a:ln>
        </p:spPr>
        <p:txBody>
          <a:bodyPr/>
          <a:lstStyle/>
          <a:p>
            <a:endParaRPr lang="en-GB"/>
          </a:p>
        </p:txBody>
      </p:sp>
      <p:sp>
        <p:nvSpPr>
          <p:cNvPr id="3" name="Shape 1"/>
          <p:cNvSpPr/>
          <p:nvPr/>
        </p:nvSpPr>
        <p:spPr>
          <a:xfrm>
            <a:off x="0" y="0"/>
            <a:ext cx="2377440" cy="164592"/>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457200" y="292608"/>
            <a:ext cx="10972800" cy="320040"/>
          </a:xfrm>
          <a:prstGeom prst="rect">
            <a:avLst/>
          </a:prstGeom>
          <a:noFill/>
          <a:ln/>
        </p:spPr>
        <p:txBody>
          <a:bodyPr wrap="square" rtlCol="0" anchor="ctr"/>
          <a:lstStyle/>
          <a:p>
            <a:pPr marL="0" indent="0">
              <a:buNone/>
            </a:pPr>
            <a:r>
              <a:rPr lang="en-US" sz="1100" b="1" kern="0" spc="400" dirty="0">
                <a:solidFill>
                  <a:srgbClr val="F77F00"/>
                </a:solidFill>
                <a:latin typeface="Calibri" pitchFamily="34" charset="0"/>
                <a:ea typeface="Calibri" pitchFamily="34" charset="-122"/>
                <a:cs typeface="Calibri" pitchFamily="34" charset="-120"/>
              </a:rPr>
              <a:t>WE'LL DO THESE TOGETHER — INTERACTIVE</a:t>
            </a:r>
            <a:endParaRPr lang="en-US" sz="1100" dirty="0"/>
          </a:p>
        </p:txBody>
      </p:sp>
      <p:sp>
        <p:nvSpPr>
          <p:cNvPr id="5" name="Text 3"/>
          <p:cNvSpPr/>
          <p:nvPr/>
        </p:nvSpPr>
        <p:spPr>
          <a:xfrm>
            <a:off x="457200" y="594360"/>
            <a:ext cx="11247120" cy="777240"/>
          </a:xfrm>
          <a:prstGeom prst="rect">
            <a:avLst/>
          </a:prstGeom>
          <a:noFill/>
          <a:ln/>
        </p:spPr>
        <p:txBody>
          <a:bodyPr wrap="square" lIns="0" tIns="0" rIns="0" bIns="0" rtlCol="0" anchor="ctr"/>
          <a:lstStyle/>
          <a:p>
            <a:pPr marL="0" indent="0">
              <a:buNone/>
            </a:pPr>
            <a:r>
              <a:rPr lang="en-US" sz="3000" b="1" dirty="0">
                <a:solidFill>
                  <a:srgbClr val="0F2440"/>
                </a:solidFill>
                <a:latin typeface="Calibri" pitchFamily="34" charset="0"/>
                <a:ea typeface="Calibri" pitchFamily="34" charset="-122"/>
                <a:cs typeface="Calibri" pitchFamily="34" charset="-120"/>
              </a:rPr>
              <a:t>Questions to test your understanding</a:t>
            </a:r>
            <a:endParaRPr lang="en-US" sz="3000" dirty="0"/>
          </a:p>
        </p:txBody>
      </p:sp>
      <p:sp>
        <p:nvSpPr>
          <p:cNvPr id="6" name="Shape 4"/>
          <p:cNvSpPr/>
          <p:nvPr/>
        </p:nvSpPr>
        <p:spPr>
          <a:xfrm>
            <a:off x="457200" y="137160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31 / 35</a:t>
            </a:r>
            <a:endParaRPr lang="en-US" sz="900" dirty="0"/>
          </a:p>
        </p:txBody>
      </p:sp>
      <p:sp>
        <p:nvSpPr>
          <p:cNvPr id="10" name="Shape 8"/>
          <p:cNvSpPr/>
          <p:nvPr/>
        </p:nvSpPr>
        <p:spPr>
          <a:xfrm>
            <a:off x="548640" y="1691640"/>
            <a:ext cx="5394960" cy="141732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1" name="Shape 9"/>
          <p:cNvSpPr/>
          <p:nvPr/>
        </p:nvSpPr>
        <p:spPr>
          <a:xfrm>
            <a:off x="731520" y="1874520"/>
            <a:ext cx="548640" cy="548640"/>
          </a:xfrm>
          <a:prstGeom prst="ellipse">
            <a:avLst/>
          </a:prstGeom>
          <a:solidFill>
            <a:srgbClr val="00B4D8"/>
          </a:solidFill>
          <a:ln w="12700">
            <a:solidFill>
              <a:srgbClr val="00B4D8"/>
            </a:solidFill>
            <a:prstDash val="solid"/>
          </a:ln>
        </p:spPr>
        <p:txBody>
          <a:bodyPr/>
          <a:lstStyle/>
          <a:p>
            <a:endParaRPr lang="en-GB"/>
          </a:p>
        </p:txBody>
      </p:sp>
      <p:sp>
        <p:nvSpPr>
          <p:cNvPr id="12" name="Text 10"/>
          <p:cNvSpPr/>
          <p:nvPr/>
        </p:nvSpPr>
        <p:spPr>
          <a:xfrm>
            <a:off x="731520" y="1874520"/>
            <a:ext cx="54864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C2</a:t>
            </a:r>
            <a:endParaRPr lang="en-US" sz="1200" dirty="0"/>
          </a:p>
        </p:txBody>
      </p:sp>
      <p:sp>
        <p:nvSpPr>
          <p:cNvPr id="13" name="Text 11"/>
          <p:cNvSpPr/>
          <p:nvPr/>
        </p:nvSpPr>
        <p:spPr>
          <a:xfrm>
            <a:off x="1417320" y="1856232"/>
            <a:ext cx="914400" cy="320040"/>
          </a:xfrm>
          <a:prstGeom prst="rect">
            <a:avLst/>
          </a:prstGeom>
          <a:noFill/>
          <a:ln/>
        </p:spPr>
        <p:txBody>
          <a:bodyPr wrap="square" lIns="0" tIns="0" rIns="0" bIns="0" rtlCol="0" anchor="ctr"/>
          <a:lstStyle/>
          <a:p>
            <a:pPr marL="0" indent="0">
              <a:buNone/>
            </a:pPr>
            <a:r>
              <a:rPr lang="en-US" sz="1100" b="1" kern="0" spc="300" dirty="0">
                <a:solidFill>
                  <a:srgbClr val="6C757D"/>
                </a:solidFill>
                <a:latin typeface="Calibri" pitchFamily="34" charset="0"/>
                <a:ea typeface="Calibri" pitchFamily="34" charset="-122"/>
                <a:cs typeface="Calibri" pitchFamily="34" charset="-120"/>
              </a:rPr>
              <a:t>Q1</a:t>
            </a:r>
            <a:endParaRPr lang="en-US" sz="1100" dirty="0"/>
          </a:p>
        </p:txBody>
      </p:sp>
      <p:sp>
        <p:nvSpPr>
          <p:cNvPr id="14" name="Text 12"/>
          <p:cNvSpPr/>
          <p:nvPr/>
        </p:nvSpPr>
        <p:spPr>
          <a:xfrm>
            <a:off x="1417320" y="2148840"/>
            <a:ext cx="4434840" cy="914400"/>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In one sentence, why does cross-validation give a more honest estimate than a single train-test split?</a:t>
            </a:r>
            <a:endParaRPr lang="en-US" sz="1100" dirty="0"/>
          </a:p>
        </p:txBody>
      </p:sp>
      <p:sp>
        <p:nvSpPr>
          <p:cNvPr id="15" name="Shape 13"/>
          <p:cNvSpPr/>
          <p:nvPr/>
        </p:nvSpPr>
        <p:spPr>
          <a:xfrm>
            <a:off x="6217920" y="1691640"/>
            <a:ext cx="5394960" cy="141732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6" name="Shape 14"/>
          <p:cNvSpPr/>
          <p:nvPr/>
        </p:nvSpPr>
        <p:spPr>
          <a:xfrm>
            <a:off x="6400800" y="1874520"/>
            <a:ext cx="548640" cy="548640"/>
          </a:xfrm>
          <a:prstGeom prst="ellipse">
            <a:avLst/>
          </a:prstGeom>
          <a:solidFill>
            <a:srgbClr val="F77F00"/>
          </a:solidFill>
          <a:ln w="12700">
            <a:solidFill>
              <a:srgbClr val="F77F00"/>
            </a:solidFill>
            <a:prstDash val="solid"/>
          </a:ln>
        </p:spPr>
        <p:txBody>
          <a:bodyPr/>
          <a:lstStyle/>
          <a:p>
            <a:endParaRPr lang="en-GB"/>
          </a:p>
        </p:txBody>
      </p:sp>
      <p:sp>
        <p:nvSpPr>
          <p:cNvPr id="17" name="Text 15"/>
          <p:cNvSpPr/>
          <p:nvPr/>
        </p:nvSpPr>
        <p:spPr>
          <a:xfrm>
            <a:off x="6400800" y="1874520"/>
            <a:ext cx="54864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C3</a:t>
            </a:r>
            <a:endParaRPr lang="en-US" sz="1200" dirty="0"/>
          </a:p>
        </p:txBody>
      </p:sp>
      <p:sp>
        <p:nvSpPr>
          <p:cNvPr id="18" name="Text 16"/>
          <p:cNvSpPr/>
          <p:nvPr/>
        </p:nvSpPr>
        <p:spPr>
          <a:xfrm>
            <a:off x="7086600" y="1856232"/>
            <a:ext cx="914400" cy="320040"/>
          </a:xfrm>
          <a:prstGeom prst="rect">
            <a:avLst/>
          </a:prstGeom>
          <a:noFill/>
          <a:ln/>
        </p:spPr>
        <p:txBody>
          <a:bodyPr wrap="square" lIns="0" tIns="0" rIns="0" bIns="0" rtlCol="0" anchor="ctr"/>
          <a:lstStyle/>
          <a:p>
            <a:pPr marL="0" indent="0">
              <a:buNone/>
            </a:pPr>
            <a:r>
              <a:rPr lang="en-US" sz="1100" b="1" kern="0" spc="300" dirty="0">
                <a:solidFill>
                  <a:srgbClr val="6C757D"/>
                </a:solidFill>
                <a:latin typeface="Calibri" pitchFamily="34" charset="0"/>
                <a:ea typeface="Calibri" pitchFamily="34" charset="-122"/>
                <a:cs typeface="Calibri" pitchFamily="34" charset="-120"/>
              </a:rPr>
              <a:t>Q2</a:t>
            </a:r>
            <a:endParaRPr lang="en-US" sz="1100" dirty="0"/>
          </a:p>
        </p:txBody>
      </p:sp>
      <p:sp>
        <p:nvSpPr>
          <p:cNvPr id="19" name="Text 17"/>
          <p:cNvSpPr/>
          <p:nvPr/>
        </p:nvSpPr>
        <p:spPr>
          <a:xfrm>
            <a:off x="7086600" y="2148840"/>
            <a:ext cx="4434840" cy="914400"/>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If macro-F1 is 0.79 but accuracy is 0.86, what is most likely true about the dataset — and which metric should you report?</a:t>
            </a:r>
            <a:endParaRPr lang="en-US" sz="1100" dirty="0"/>
          </a:p>
        </p:txBody>
      </p:sp>
      <p:sp>
        <p:nvSpPr>
          <p:cNvPr id="20" name="Shape 18"/>
          <p:cNvSpPr/>
          <p:nvPr/>
        </p:nvSpPr>
        <p:spPr>
          <a:xfrm>
            <a:off x="548640" y="3246120"/>
            <a:ext cx="5394960" cy="141732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21" name="Shape 19"/>
          <p:cNvSpPr/>
          <p:nvPr/>
        </p:nvSpPr>
        <p:spPr>
          <a:xfrm>
            <a:off x="731520" y="3429000"/>
            <a:ext cx="548640" cy="548640"/>
          </a:xfrm>
          <a:prstGeom prst="ellipse">
            <a:avLst/>
          </a:prstGeom>
          <a:solidFill>
            <a:srgbClr val="F77F00"/>
          </a:solidFill>
          <a:ln w="12700">
            <a:solidFill>
              <a:srgbClr val="F77F00"/>
            </a:solidFill>
            <a:prstDash val="solid"/>
          </a:ln>
        </p:spPr>
        <p:txBody>
          <a:bodyPr/>
          <a:lstStyle/>
          <a:p>
            <a:endParaRPr lang="en-GB"/>
          </a:p>
        </p:txBody>
      </p:sp>
      <p:sp>
        <p:nvSpPr>
          <p:cNvPr id="22" name="Text 20"/>
          <p:cNvSpPr/>
          <p:nvPr/>
        </p:nvSpPr>
        <p:spPr>
          <a:xfrm>
            <a:off x="731520" y="3429000"/>
            <a:ext cx="54864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C3</a:t>
            </a:r>
            <a:endParaRPr lang="en-US" sz="1200" dirty="0"/>
          </a:p>
        </p:txBody>
      </p:sp>
      <p:sp>
        <p:nvSpPr>
          <p:cNvPr id="23" name="Text 21"/>
          <p:cNvSpPr/>
          <p:nvPr/>
        </p:nvSpPr>
        <p:spPr>
          <a:xfrm>
            <a:off x="1417320" y="3410712"/>
            <a:ext cx="914400" cy="320040"/>
          </a:xfrm>
          <a:prstGeom prst="rect">
            <a:avLst/>
          </a:prstGeom>
          <a:noFill/>
          <a:ln/>
        </p:spPr>
        <p:txBody>
          <a:bodyPr wrap="square" lIns="0" tIns="0" rIns="0" bIns="0" rtlCol="0" anchor="ctr"/>
          <a:lstStyle/>
          <a:p>
            <a:pPr marL="0" indent="0">
              <a:buNone/>
            </a:pPr>
            <a:r>
              <a:rPr lang="en-US" sz="1100" b="1" kern="0" spc="300" dirty="0">
                <a:solidFill>
                  <a:srgbClr val="6C757D"/>
                </a:solidFill>
                <a:latin typeface="Calibri" pitchFamily="34" charset="0"/>
                <a:ea typeface="Calibri" pitchFamily="34" charset="-122"/>
                <a:cs typeface="Calibri" pitchFamily="34" charset="-120"/>
              </a:rPr>
              <a:t>Q3</a:t>
            </a:r>
            <a:endParaRPr lang="en-US" sz="1100" dirty="0"/>
          </a:p>
        </p:txBody>
      </p:sp>
      <p:sp>
        <p:nvSpPr>
          <p:cNvPr id="24" name="Text 22"/>
          <p:cNvSpPr/>
          <p:nvPr/>
        </p:nvSpPr>
        <p:spPr>
          <a:xfrm>
            <a:off x="1417320" y="3703320"/>
            <a:ext cx="4434840" cy="914400"/>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You add ngram_range=(1,3) and macro-F1 drops on CV. Give two plausible reasons.</a:t>
            </a:r>
            <a:endParaRPr lang="en-US" sz="1100" dirty="0"/>
          </a:p>
        </p:txBody>
      </p:sp>
      <p:sp>
        <p:nvSpPr>
          <p:cNvPr id="25" name="Shape 23"/>
          <p:cNvSpPr/>
          <p:nvPr/>
        </p:nvSpPr>
        <p:spPr>
          <a:xfrm>
            <a:off x="6217920" y="3246120"/>
            <a:ext cx="5394960" cy="141732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26" name="Shape 24"/>
          <p:cNvSpPr/>
          <p:nvPr/>
        </p:nvSpPr>
        <p:spPr>
          <a:xfrm>
            <a:off x="6400800" y="3429000"/>
            <a:ext cx="548640" cy="548640"/>
          </a:xfrm>
          <a:prstGeom prst="ellipse">
            <a:avLst/>
          </a:prstGeom>
          <a:solidFill>
            <a:srgbClr val="06A77D"/>
          </a:solidFill>
          <a:ln w="12700">
            <a:solidFill>
              <a:srgbClr val="06A77D"/>
            </a:solidFill>
            <a:prstDash val="solid"/>
          </a:ln>
        </p:spPr>
        <p:txBody>
          <a:bodyPr/>
          <a:lstStyle/>
          <a:p>
            <a:endParaRPr lang="en-GB"/>
          </a:p>
        </p:txBody>
      </p:sp>
      <p:sp>
        <p:nvSpPr>
          <p:cNvPr id="27" name="Text 25"/>
          <p:cNvSpPr/>
          <p:nvPr/>
        </p:nvSpPr>
        <p:spPr>
          <a:xfrm>
            <a:off x="6400800" y="3429000"/>
            <a:ext cx="54864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C4</a:t>
            </a:r>
            <a:endParaRPr lang="en-US" sz="1200" dirty="0"/>
          </a:p>
        </p:txBody>
      </p:sp>
      <p:sp>
        <p:nvSpPr>
          <p:cNvPr id="28" name="Text 26"/>
          <p:cNvSpPr/>
          <p:nvPr/>
        </p:nvSpPr>
        <p:spPr>
          <a:xfrm>
            <a:off x="7086600" y="3410712"/>
            <a:ext cx="914400" cy="320040"/>
          </a:xfrm>
          <a:prstGeom prst="rect">
            <a:avLst/>
          </a:prstGeom>
          <a:noFill/>
          <a:ln/>
        </p:spPr>
        <p:txBody>
          <a:bodyPr wrap="square" lIns="0" tIns="0" rIns="0" bIns="0" rtlCol="0" anchor="ctr"/>
          <a:lstStyle/>
          <a:p>
            <a:pPr marL="0" indent="0">
              <a:buNone/>
            </a:pPr>
            <a:r>
              <a:rPr lang="en-US" sz="1100" b="1" kern="0" spc="300" dirty="0">
                <a:solidFill>
                  <a:srgbClr val="6C757D"/>
                </a:solidFill>
                <a:latin typeface="Calibri" pitchFamily="34" charset="0"/>
                <a:ea typeface="Calibri" pitchFamily="34" charset="-122"/>
                <a:cs typeface="Calibri" pitchFamily="34" charset="-120"/>
              </a:rPr>
              <a:t>Q4</a:t>
            </a:r>
            <a:endParaRPr lang="en-US" sz="1100" dirty="0"/>
          </a:p>
        </p:txBody>
      </p:sp>
      <p:sp>
        <p:nvSpPr>
          <p:cNvPr id="29" name="Text 27"/>
          <p:cNvSpPr/>
          <p:nvPr/>
        </p:nvSpPr>
        <p:spPr>
          <a:xfrm>
            <a:off x="7086600" y="3703320"/>
            <a:ext cx="4434840" cy="914400"/>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You inspect coefficients and find the word "Tokopedia" has a strong positive weight for "positif". Is that good or bad? Why?</a:t>
            </a:r>
            <a:endParaRPr lang="en-US" sz="1100" dirty="0"/>
          </a:p>
        </p:txBody>
      </p:sp>
      <p:sp>
        <p:nvSpPr>
          <p:cNvPr id="30" name="Shape 28"/>
          <p:cNvSpPr/>
          <p:nvPr/>
        </p:nvSpPr>
        <p:spPr>
          <a:xfrm>
            <a:off x="548640" y="4800600"/>
            <a:ext cx="5394960" cy="141732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31" name="Shape 29"/>
          <p:cNvSpPr/>
          <p:nvPr/>
        </p:nvSpPr>
        <p:spPr>
          <a:xfrm>
            <a:off x="731520" y="4983480"/>
            <a:ext cx="548640" cy="548640"/>
          </a:xfrm>
          <a:prstGeom prst="ellipse">
            <a:avLst/>
          </a:prstGeom>
          <a:solidFill>
            <a:srgbClr val="06A77D"/>
          </a:solidFill>
          <a:ln w="12700">
            <a:solidFill>
              <a:srgbClr val="06A77D"/>
            </a:solidFill>
            <a:prstDash val="solid"/>
          </a:ln>
        </p:spPr>
        <p:txBody>
          <a:bodyPr/>
          <a:lstStyle/>
          <a:p>
            <a:endParaRPr lang="en-GB"/>
          </a:p>
        </p:txBody>
      </p:sp>
      <p:sp>
        <p:nvSpPr>
          <p:cNvPr id="32" name="Text 30"/>
          <p:cNvSpPr/>
          <p:nvPr/>
        </p:nvSpPr>
        <p:spPr>
          <a:xfrm>
            <a:off x="731520" y="4983480"/>
            <a:ext cx="54864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C4</a:t>
            </a:r>
            <a:endParaRPr lang="en-US" sz="1200" dirty="0"/>
          </a:p>
        </p:txBody>
      </p:sp>
      <p:sp>
        <p:nvSpPr>
          <p:cNvPr id="33" name="Text 31"/>
          <p:cNvSpPr/>
          <p:nvPr/>
        </p:nvSpPr>
        <p:spPr>
          <a:xfrm>
            <a:off x="1417320" y="4965192"/>
            <a:ext cx="914400" cy="320040"/>
          </a:xfrm>
          <a:prstGeom prst="rect">
            <a:avLst/>
          </a:prstGeom>
          <a:noFill/>
          <a:ln/>
        </p:spPr>
        <p:txBody>
          <a:bodyPr wrap="square" lIns="0" tIns="0" rIns="0" bIns="0" rtlCol="0" anchor="ctr"/>
          <a:lstStyle/>
          <a:p>
            <a:pPr marL="0" indent="0">
              <a:buNone/>
            </a:pPr>
            <a:r>
              <a:rPr lang="en-US" sz="1100" b="1" kern="0" spc="300" dirty="0">
                <a:solidFill>
                  <a:srgbClr val="6C757D"/>
                </a:solidFill>
                <a:latin typeface="Calibri" pitchFamily="34" charset="0"/>
                <a:ea typeface="Calibri" pitchFamily="34" charset="-122"/>
                <a:cs typeface="Calibri" pitchFamily="34" charset="-120"/>
              </a:rPr>
              <a:t>Q5</a:t>
            </a:r>
            <a:endParaRPr lang="en-US" sz="1100" dirty="0"/>
          </a:p>
        </p:txBody>
      </p:sp>
      <p:sp>
        <p:nvSpPr>
          <p:cNvPr id="34" name="Text 32"/>
          <p:cNvSpPr/>
          <p:nvPr/>
        </p:nvSpPr>
        <p:spPr>
          <a:xfrm>
            <a:off x="1417320" y="5257800"/>
            <a:ext cx="4434840" cy="914400"/>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GridSearch picks C=10. CV F1=0.79, Test F1=0.65. What's going on? What would you check first?</a:t>
            </a:r>
            <a:endParaRPr lang="en-US" sz="1100" dirty="0"/>
          </a:p>
        </p:txBody>
      </p:sp>
      <p:sp>
        <p:nvSpPr>
          <p:cNvPr id="35" name="Shape 33"/>
          <p:cNvSpPr/>
          <p:nvPr/>
        </p:nvSpPr>
        <p:spPr>
          <a:xfrm>
            <a:off x="6217920" y="4800600"/>
            <a:ext cx="5394960" cy="141732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36" name="Shape 34"/>
          <p:cNvSpPr/>
          <p:nvPr/>
        </p:nvSpPr>
        <p:spPr>
          <a:xfrm>
            <a:off x="6400800" y="4983480"/>
            <a:ext cx="548640" cy="548640"/>
          </a:xfrm>
          <a:prstGeom prst="ellipse">
            <a:avLst/>
          </a:prstGeom>
          <a:solidFill>
            <a:srgbClr val="00B4D8"/>
          </a:solidFill>
          <a:ln w="12700">
            <a:solidFill>
              <a:srgbClr val="00B4D8"/>
            </a:solidFill>
            <a:prstDash val="solid"/>
          </a:ln>
        </p:spPr>
        <p:txBody>
          <a:bodyPr/>
          <a:lstStyle/>
          <a:p>
            <a:endParaRPr lang="en-GB"/>
          </a:p>
        </p:txBody>
      </p:sp>
      <p:sp>
        <p:nvSpPr>
          <p:cNvPr id="37" name="Text 35"/>
          <p:cNvSpPr/>
          <p:nvPr/>
        </p:nvSpPr>
        <p:spPr>
          <a:xfrm>
            <a:off x="6400800" y="4983480"/>
            <a:ext cx="54864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C2</a:t>
            </a:r>
            <a:endParaRPr lang="en-US" sz="1200" dirty="0"/>
          </a:p>
        </p:txBody>
      </p:sp>
      <p:sp>
        <p:nvSpPr>
          <p:cNvPr id="38" name="Text 36"/>
          <p:cNvSpPr/>
          <p:nvPr/>
        </p:nvSpPr>
        <p:spPr>
          <a:xfrm>
            <a:off x="7086600" y="4965192"/>
            <a:ext cx="914400" cy="320040"/>
          </a:xfrm>
          <a:prstGeom prst="rect">
            <a:avLst/>
          </a:prstGeom>
          <a:noFill/>
          <a:ln/>
        </p:spPr>
        <p:txBody>
          <a:bodyPr wrap="square" lIns="0" tIns="0" rIns="0" bIns="0" rtlCol="0" anchor="ctr"/>
          <a:lstStyle/>
          <a:p>
            <a:pPr marL="0" indent="0">
              <a:buNone/>
            </a:pPr>
            <a:r>
              <a:rPr lang="en-US" sz="1100" b="1" kern="0" spc="300" dirty="0">
                <a:solidFill>
                  <a:srgbClr val="6C757D"/>
                </a:solidFill>
                <a:latin typeface="Calibri" pitchFamily="34" charset="0"/>
                <a:ea typeface="Calibri" pitchFamily="34" charset="-122"/>
                <a:cs typeface="Calibri" pitchFamily="34" charset="-120"/>
              </a:rPr>
              <a:t>Q6</a:t>
            </a:r>
            <a:endParaRPr lang="en-US" sz="1100" dirty="0"/>
          </a:p>
        </p:txBody>
      </p:sp>
      <p:sp>
        <p:nvSpPr>
          <p:cNvPr id="39" name="Text 37"/>
          <p:cNvSpPr/>
          <p:nvPr/>
        </p:nvSpPr>
        <p:spPr>
          <a:xfrm>
            <a:off x="7086600" y="5257800"/>
            <a:ext cx="4434840" cy="914400"/>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Compare Anchors and LIME in two sentences. When would you use each?</a:t>
            </a:r>
            <a:endParaRPr lang="en-US" sz="1100" dirty="0"/>
          </a:p>
        </p:txBody>
      </p:sp>
      <p:sp>
        <p:nvSpPr>
          <p:cNvPr id="40" name="Text 38"/>
          <p:cNvSpPr/>
          <p:nvPr/>
        </p:nvSpPr>
        <p:spPr>
          <a:xfrm>
            <a:off x="548640" y="6400800"/>
            <a:ext cx="11064240" cy="365760"/>
          </a:xfrm>
          <a:prstGeom prst="rect">
            <a:avLst/>
          </a:prstGeom>
          <a:noFill/>
          <a:ln/>
        </p:spPr>
        <p:txBody>
          <a:bodyPr wrap="square" lIns="0" tIns="0" rIns="0" bIns="0" rtlCol="0" anchor="ctr"/>
          <a:lstStyle/>
          <a:p>
            <a:pPr marL="0" indent="0">
              <a:buNone/>
            </a:pPr>
            <a:r>
              <a:rPr lang="en-US" sz="1200" b="1" i="1" dirty="0">
                <a:solidFill>
                  <a:srgbClr val="F77F00"/>
                </a:solidFill>
                <a:latin typeface="Calibri" pitchFamily="34" charset="0"/>
                <a:ea typeface="Calibri" pitchFamily="34" charset="-122"/>
                <a:cs typeface="Calibri" pitchFamily="34" charset="-120"/>
              </a:rPr>
              <a:t>Hand in your one-sentence answer to Q1 + Q4 via Mentimeter. We'll discuss the most popular answers.</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1E3A5F"/>
          </a:solidFill>
          <a:ln w="12700">
            <a:solidFill>
              <a:srgbClr val="1E3A5F"/>
            </a:solidFill>
            <a:prstDash val="solid"/>
          </a:ln>
        </p:spPr>
        <p:txBody>
          <a:bodyPr/>
          <a:lstStyle/>
          <a:p>
            <a:endParaRPr lang="en-GB"/>
          </a:p>
        </p:txBody>
      </p:sp>
      <p:sp>
        <p:nvSpPr>
          <p:cNvPr id="3" name="Shape 1"/>
          <p:cNvSpPr/>
          <p:nvPr/>
        </p:nvSpPr>
        <p:spPr>
          <a:xfrm>
            <a:off x="0" y="0"/>
            <a:ext cx="2377440" cy="164592"/>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457200" y="292608"/>
            <a:ext cx="10972800" cy="320040"/>
          </a:xfrm>
          <a:prstGeom prst="rect">
            <a:avLst/>
          </a:prstGeom>
          <a:noFill/>
          <a:ln/>
        </p:spPr>
        <p:txBody>
          <a:bodyPr wrap="square" rtlCol="0" anchor="ctr"/>
          <a:lstStyle/>
          <a:p>
            <a:pPr marL="0" indent="0">
              <a:buNone/>
            </a:pPr>
            <a:r>
              <a:rPr lang="en-US" sz="1100" b="1" kern="0" spc="400" dirty="0">
                <a:solidFill>
                  <a:srgbClr val="F77F00"/>
                </a:solidFill>
                <a:latin typeface="Calibri" pitchFamily="34" charset="0"/>
                <a:ea typeface="Calibri" pitchFamily="34" charset="-122"/>
                <a:cs typeface="Calibri" pitchFamily="34" charset="-120"/>
              </a:rPr>
              <a:t>WHAT I'D HOLD ON TO FROM TODAY</a:t>
            </a:r>
            <a:endParaRPr lang="en-US" sz="1100" dirty="0"/>
          </a:p>
        </p:txBody>
      </p:sp>
      <p:sp>
        <p:nvSpPr>
          <p:cNvPr id="5" name="Text 3"/>
          <p:cNvSpPr/>
          <p:nvPr/>
        </p:nvSpPr>
        <p:spPr>
          <a:xfrm>
            <a:off x="457200" y="594360"/>
            <a:ext cx="11247120" cy="777240"/>
          </a:xfrm>
          <a:prstGeom prst="rect">
            <a:avLst/>
          </a:prstGeom>
          <a:noFill/>
          <a:ln/>
        </p:spPr>
        <p:txBody>
          <a:bodyPr wrap="square" lIns="0" tIns="0" rIns="0" bIns="0" rtlCol="0" anchor="ctr"/>
          <a:lstStyle/>
          <a:p>
            <a:pPr marL="0" indent="0">
              <a:buNone/>
            </a:pPr>
            <a:r>
              <a:rPr lang="en-US" sz="3000" b="1" dirty="0">
                <a:solidFill>
                  <a:srgbClr val="0F2440"/>
                </a:solidFill>
                <a:latin typeface="Calibri" pitchFamily="34" charset="0"/>
                <a:ea typeface="Calibri" pitchFamily="34" charset="-122"/>
                <a:cs typeface="Calibri" pitchFamily="34" charset="-120"/>
              </a:rPr>
              <a:t>Key takeaways</a:t>
            </a:r>
            <a:endParaRPr lang="en-US" sz="3000" dirty="0"/>
          </a:p>
        </p:txBody>
      </p:sp>
      <p:sp>
        <p:nvSpPr>
          <p:cNvPr id="6" name="Shape 4"/>
          <p:cNvSpPr/>
          <p:nvPr/>
        </p:nvSpPr>
        <p:spPr>
          <a:xfrm>
            <a:off x="457200" y="137160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33 / 35</a:t>
            </a:r>
            <a:endParaRPr lang="en-US" sz="900" dirty="0"/>
          </a:p>
        </p:txBody>
      </p:sp>
      <p:sp>
        <p:nvSpPr>
          <p:cNvPr id="10" name="Shape 8"/>
          <p:cNvSpPr/>
          <p:nvPr/>
        </p:nvSpPr>
        <p:spPr>
          <a:xfrm>
            <a:off x="548640" y="1691640"/>
            <a:ext cx="11064240" cy="77724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1" name="Shape 9"/>
          <p:cNvSpPr/>
          <p:nvPr/>
        </p:nvSpPr>
        <p:spPr>
          <a:xfrm>
            <a:off x="731520" y="1828800"/>
            <a:ext cx="502920" cy="502920"/>
          </a:xfrm>
          <a:prstGeom prst="ellipse">
            <a:avLst/>
          </a:prstGeom>
          <a:solidFill>
            <a:srgbClr val="F77F00"/>
          </a:solidFill>
          <a:ln w="12700">
            <a:solidFill>
              <a:srgbClr val="F77F00"/>
            </a:solidFill>
            <a:prstDash val="solid"/>
          </a:ln>
        </p:spPr>
        <p:txBody>
          <a:bodyPr/>
          <a:lstStyle/>
          <a:p>
            <a:endParaRPr lang="en-GB"/>
          </a:p>
        </p:txBody>
      </p:sp>
      <p:sp>
        <p:nvSpPr>
          <p:cNvPr id="12" name="Text 10"/>
          <p:cNvSpPr/>
          <p:nvPr/>
        </p:nvSpPr>
        <p:spPr>
          <a:xfrm>
            <a:off x="731520" y="18288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3" name="Text 11"/>
          <p:cNvSpPr/>
          <p:nvPr/>
        </p:nvSpPr>
        <p:spPr>
          <a:xfrm>
            <a:off x="1371600" y="1783080"/>
            <a:ext cx="5029200" cy="320040"/>
          </a:xfrm>
          <a:prstGeom prst="rect">
            <a:avLst/>
          </a:prstGeom>
          <a:noFill/>
          <a:ln/>
        </p:spPr>
        <p:txBody>
          <a:bodyPr wrap="square" lIns="0" tIns="0" rIns="0" bIns="0" rtlCol="0" anchor="ctr"/>
          <a:lstStyle/>
          <a:p>
            <a:pPr marL="0" indent="0">
              <a:buNone/>
            </a:pPr>
            <a:r>
              <a:rPr lang="en-US" sz="1400" b="1" dirty="0">
                <a:solidFill>
                  <a:srgbClr val="0F2440"/>
                </a:solidFill>
                <a:latin typeface="Calibri" pitchFamily="34" charset="0"/>
                <a:ea typeface="Calibri" pitchFamily="34" charset="-122"/>
                <a:cs typeface="Calibri" pitchFamily="34" charset="-120"/>
              </a:rPr>
              <a:t>A pipeline is the smallest reliable unit</a:t>
            </a:r>
            <a:endParaRPr lang="en-US" sz="1400" dirty="0"/>
          </a:p>
        </p:txBody>
      </p:sp>
      <p:sp>
        <p:nvSpPr>
          <p:cNvPr id="14" name="Text 12"/>
          <p:cNvSpPr/>
          <p:nvPr/>
        </p:nvSpPr>
        <p:spPr>
          <a:xfrm>
            <a:off x="1371600" y="2103120"/>
            <a:ext cx="10058400" cy="365760"/>
          </a:xfrm>
          <a:prstGeom prst="rect">
            <a:avLst/>
          </a:prstGeom>
          <a:noFill/>
          <a:ln/>
        </p:spPr>
        <p:txBody>
          <a:bodyPr wrap="square" lIns="0" tIns="0" rIns="0" bIns="0" rtlCol="0" anchor="ctr"/>
          <a:lstStyle/>
          <a:p>
            <a:pPr marL="0" indent="0">
              <a:buNone/>
            </a:pPr>
            <a:r>
              <a:rPr lang="en-US" sz="1100" i="1" dirty="0">
                <a:solidFill>
                  <a:srgbClr val="212529"/>
                </a:solidFill>
                <a:latin typeface="Calibri" pitchFamily="34" charset="0"/>
                <a:ea typeface="Calibri" pitchFamily="34" charset="-122"/>
                <a:cs typeface="Calibri" pitchFamily="34" charset="-120"/>
              </a:rPr>
              <a:t>scikit-learn Pipeline = preprocessing + vectorizer + classifier as one object. Use it everywhere — leak-proof.</a:t>
            </a:r>
            <a:endParaRPr lang="en-US" sz="1100" dirty="0"/>
          </a:p>
        </p:txBody>
      </p:sp>
      <p:sp>
        <p:nvSpPr>
          <p:cNvPr id="15" name="Shape 13"/>
          <p:cNvSpPr/>
          <p:nvPr/>
        </p:nvSpPr>
        <p:spPr>
          <a:xfrm>
            <a:off x="548640" y="2606040"/>
            <a:ext cx="11064240" cy="77724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16" name="Shape 14"/>
          <p:cNvSpPr/>
          <p:nvPr/>
        </p:nvSpPr>
        <p:spPr>
          <a:xfrm>
            <a:off x="731520" y="2743200"/>
            <a:ext cx="502920" cy="502920"/>
          </a:xfrm>
          <a:prstGeom prst="ellipse">
            <a:avLst/>
          </a:prstGeom>
          <a:solidFill>
            <a:srgbClr val="F77F00"/>
          </a:solidFill>
          <a:ln w="12700">
            <a:solidFill>
              <a:srgbClr val="F77F00"/>
            </a:solidFill>
            <a:prstDash val="solid"/>
          </a:ln>
        </p:spPr>
        <p:txBody>
          <a:bodyPr/>
          <a:lstStyle/>
          <a:p>
            <a:endParaRPr lang="en-GB"/>
          </a:p>
        </p:txBody>
      </p:sp>
      <p:sp>
        <p:nvSpPr>
          <p:cNvPr id="17" name="Text 15"/>
          <p:cNvSpPr/>
          <p:nvPr/>
        </p:nvSpPr>
        <p:spPr>
          <a:xfrm>
            <a:off x="731520" y="27432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8" name="Text 16"/>
          <p:cNvSpPr/>
          <p:nvPr/>
        </p:nvSpPr>
        <p:spPr>
          <a:xfrm>
            <a:off x="1371600" y="2697480"/>
            <a:ext cx="5029200" cy="320040"/>
          </a:xfrm>
          <a:prstGeom prst="rect">
            <a:avLst/>
          </a:prstGeom>
          <a:noFill/>
          <a:ln/>
        </p:spPr>
        <p:txBody>
          <a:bodyPr wrap="square" lIns="0" tIns="0" rIns="0" bIns="0" rtlCol="0" anchor="ctr"/>
          <a:lstStyle/>
          <a:p>
            <a:pPr marL="0" indent="0">
              <a:buNone/>
            </a:pPr>
            <a:r>
              <a:rPr lang="en-US" sz="1400" b="1" dirty="0">
                <a:solidFill>
                  <a:srgbClr val="0F2440"/>
                </a:solidFill>
                <a:latin typeface="Calibri" pitchFamily="34" charset="0"/>
                <a:ea typeface="Calibri" pitchFamily="34" charset="-122"/>
                <a:cs typeface="Calibri" pitchFamily="34" charset="-120"/>
              </a:rPr>
              <a:t>Single test scores lie</a:t>
            </a:r>
            <a:endParaRPr lang="en-US" sz="1400" dirty="0"/>
          </a:p>
        </p:txBody>
      </p:sp>
      <p:sp>
        <p:nvSpPr>
          <p:cNvPr id="19" name="Text 17"/>
          <p:cNvSpPr/>
          <p:nvPr/>
        </p:nvSpPr>
        <p:spPr>
          <a:xfrm>
            <a:off x="1371600" y="3017520"/>
            <a:ext cx="10058400" cy="365760"/>
          </a:xfrm>
          <a:prstGeom prst="rect">
            <a:avLst/>
          </a:prstGeom>
          <a:noFill/>
          <a:ln/>
        </p:spPr>
        <p:txBody>
          <a:bodyPr wrap="square" lIns="0" tIns="0" rIns="0" bIns="0" rtlCol="0" anchor="ctr"/>
          <a:lstStyle/>
          <a:p>
            <a:pPr marL="0" indent="0">
              <a:buNone/>
            </a:pPr>
            <a:r>
              <a:rPr lang="en-US" sz="1100" i="1" dirty="0">
                <a:solidFill>
                  <a:srgbClr val="212529"/>
                </a:solidFill>
                <a:latin typeface="Calibri" pitchFamily="34" charset="0"/>
                <a:ea typeface="Calibri" pitchFamily="34" charset="-122"/>
                <a:cs typeface="Calibri" pitchFamily="34" charset="-120"/>
              </a:rPr>
              <a:t>Always use stratified K-fold CV. Report mean ± std. Macro-F1 beats accuracy on imbalanced data.</a:t>
            </a:r>
            <a:endParaRPr lang="en-US" sz="1100" dirty="0"/>
          </a:p>
        </p:txBody>
      </p:sp>
      <p:sp>
        <p:nvSpPr>
          <p:cNvPr id="20" name="Shape 18"/>
          <p:cNvSpPr/>
          <p:nvPr/>
        </p:nvSpPr>
        <p:spPr>
          <a:xfrm>
            <a:off x="548640" y="3520440"/>
            <a:ext cx="11064240" cy="77724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21" name="Shape 19"/>
          <p:cNvSpPr/>
          <p:nvPr/>
        </p:nvSpPr>
        <p:spPr>
          <a:xfrm>
            <a:off x="731520" y="3657600"/>
            <a:ext cx="502920" cy="502920"/>
          </a:xfrm>
          <a:prstGeom prst="ellipse">
            <a:avLst/>
          </a:prstGeom>
          <a:solidFill>
            <a:srgbClr val="F77F00"/>
          </a:solidFill>
          <a:ln w="12700">
            <a:solidFill>
              <a:srgbClr val="F77F00"/>
            </a:solidFill>
            <a:prstDash val="solid"/>
          </a:ln>
        </p:spPr>
        <p:txBody>
          <a:bodyPr/>
          <a:lstStyle/>
          <a:p>
            <a:endParaRPr lang="en-GB"/>
          </a:p>
        </p:txBody>
      </p:sp>
      <p:sp>
        <p:nvSpPr>
          <p:cNvPr id="22" name="Text 20"/>
          <p:cNvSpPr/>
          <p:nvPr/>
        </p:nvSpPr>
        <p:spPr>
          <a:xfrm>
            <a:off x="731520" y="36576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3" name="Text 21"/>
          <p:cNvSpPr/>
          <p:nvPr/>
        </p:nvSpPr>
        <p:spPr>
          <a:xfrm>
            <a:off x="1371600" y="3611880"/>
            <a:ext cx="5029200" cy="320040"/>
          </a:xfrm>
          <a:prstGeom prst="rect">
            <a:avLst/>
          </a:prstGeom>
          <a:noFill/>
          <a:ln/>
        </p:spPr>
        <p:txBody>
          <a:bodyPr wrap="square" lIns="0" tIns="0" rIns="0" bIns="0" rtlCol="0" anchor="ctr"/>
          <a:lstStyle/>
          <a:p>
            <a:pPr marL="0" indent="0">
              <a:buNone/>
            </a:pPr>
            <a:r>
              <a:rPr lang="en-US" sz="1400" b="1" dirty="0">
                <a:solidFill>
                  <a:srgbClr val="0F2440"/>
                </a:solidFill>
                <a:latin typeface="Calibri" pitchFamily="34" charset="0"/>
                <a:ea typeface="Calibri" pitchFamily="34" charset="-122"/>
                <a:cs typeface="Calibri" pitchFamily="34" charset="-120"/>
              </a:rPr>
              <a:t>Inspect your model — always</a:t>
            </a:r>
            <a:endParaRPr lang="en-US" sz="1400" dirty="0"/>
          </a:p>
        </p:txBody>
      </p:sp>
      <p:sp>
        <p:nvSpPr>
          <p:cNvPr id="24" name="Text 22"/>
          <p:cNvSpPr/>
          <p:nvPr/>
        </p:nvSpPr>
        <p:spPr>
          <a:xfrm>
            <a:off x="1371600" y="3931920"/>
            <a:ext cx="10058400" cy="365760"/>
          </a:xfrm>
          <a:prstGeom prst="rect">
            <a:avLst/>
          </a:prstGeom>
          <a:noFill/>
          <a:ln/>
        </p:spPr>
        <p:txBody>
          <a:bodyPr wrap="square" lIns="0" tIns="0" rIns="0" bIns="0" rtlCol="0" anchor="ctr"/>
          <a:lstStyle/>
          <a:p>
            <a:pPr marL="0" indent="0">
              <a:buNone/>
            </a:pPr>
            <a:r>
              <a:rPr lang="en-US" sz="1100" i="1" dirty="0">
                <a:solidFill>
                  <a:srgbClr val="212529"/>
                </a:solidFill>
                <a:latin typeface="Calibri" pitchFamily="34" charset="0"/>
                <a:ea typeface="Calibri" pitchFamily="34" charset="-122"/>
                <a:cs typeface="Calibri" pitchFamily="34" charset="-120"/>
              </a:rPr>
              <a:t>Read coefficients. If a brand name like 'Tokopedia' has a high weight, you have a bug, not a model.</a:t>
            </a:r>
            <a:endParaRPr lang="en-US" sz="1100" dirty="0"/>
          </a:p>
        </p:txBody>
      </p:sp>
      <p:sp>
        <p:nvSpPr>
          <p:cNvPr id="25" name="Shape 23"/>
          <p:cNvSpPr/>
          <p:nvPr/>
        </p:nvSpPr>
        <p:spPr>
          <a:xfrm>
            <a:off x="548640" y="4434840"/>
            <a:ext cx="11064240" cy="77724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26" name="Shape 24"/>
          <p:cNvSpPr/>
          <p:nvPr/>
        </p:nvSpPr>
        <p:spPr>
          <a:xfrm>
            <a:off x="731520" y="4572000"/>
            <a:ext cx="502920" cy="502920"/>
          </a:xfrm>
          <a:prstGeom prst="ellipse">
            <a:avLst/>
          </a:prstGeom>
          <a:solidFill>
            <a:srgbClr val="F77F00"/>
          </a:solidFill>
          <a:ln w="12700">
            <a:solidFill>
              <a:srgbClr val="F77F00"/>
            </a:solidFill>
            <a:prstDash val="solid"/>
          </a:ln>
        </p:spPr>
        <p:txBody>
          <a:bodyPr/>
          <a:lstStyle/>
          <a:p>
            <a:endParaRPr lang="en-GB"/>
          </a:p>
        </p:txBody>
      </p:sp>
      <p:sp>
        <p:nvSpPr>
          <p:cNvPr id="27" name="Text 25"/>
          <p:cNvSpPr/>
          <p:nvPr/>
        </p:nvSpPr>
        <p:spPr>
          <a:xfrm>
            <a:off x="731520" y="45720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8" name="Text 26"/>
          <p:cNvSpPr/>
          <p:nvPr/>
        </p:nvSpPr>
        <p:spPr>
          <a:xfrm>
            <a:off x="1371600" y="4526280"/>
            <a:ext cx="5029200" cy="320040"/>
          </a:xfrm>
          <a:prstGeom prst="rect">
            <a:avLst/>
          </a:prstGeom>
          <a:noFill/>
          <a:ln/>
        </p:spPr>
        <p:txBody>
          <a:bodyPr wrap="square" lIns="0" tIns="0" rIns="0" bIns="0" rtlCol="0" anchor="ctr"/>
          <a:lstStyle/>
          <a:p>
            <a:pPr marL="0" indent="0">
              <a:buNone/>
            </a:pPr>
            <a:r>
              <a:rPr lang="en-US" sz="1400" b="1" dirty="0">
                <a:solidFill>
                  <a:srgbClr val="0F2440"/>
                </a:solidFill>
                <a:latin typeface="Calibri" pitchFamily="34" charset="0"/>
                <a:ea typeface="Calibri" pitchFamily="34" charset="-122"/>
                <a:cs typeface="Calibri" pitchFamily="34" charset="-120"/>
              </a:rPr>
              <a:t>Tune via GridSearchCV on CV folds, never test</a:t>
            </a:r>
            <a:endParaRPr lang="en-US" sz="1400" dirty="0"/>
          </a:p>
        </p:txBody>
      </p:sp>
      <p:sp>
        <p:nvSpPr>
          <p:cNvPr id="29" name="Text 27"/>
          <p:cNvSpPr/>
          <p:nvPr/>
        </p:nvSpPr>
        <p:spPr>
          <a:xfrm>
            <a:off x="1371600" y="4846320"/>
            <a:ext cx="10058400" cy="365760"/>
          </a:xfrm>
          <a:prstGeom prst="rect">
            <a:avLst/>
          </a:prstGeom>
          <a:noFill/>
          <a:ln/>
        </p:spPr>
        <p:txBody>
          <a:bodyPr wrap="square" lIns="0" tIns="0" rIns="0" bIns="0" rtlCol="0" anchor="ctr"/>
          <a:lstStyle/>
          <a:p>
            <a:pPr marL="0" indent="0">
              <a:buNone/>
            </a:pPr>
            <a:r>
              <a:rPr lang="en-US" sz="1100" i="1" dirty="0">
                <a:solidFill>
                  <a:srgbClr val="212529"/>
                </a:solidFill>
                <a:latin typeface="Calibri" pitchFamily="34" charset="0"/>
                <a:ea typeface="Calibri" pitchFamily="34" charset="-122"/>
                <a:cs typeface="Calibri" pitchFamily="34" charset="-120"/>
              </a:rPr>
              <a:t>Test set is touched once at the end. Anything else is silent overfitting.</a:t>
            </a:r>
            <a:endParaRPr lang="en-US" sz="1100" dirty="0"/>
          </a:p>
        </p:txBody>
      </p:sp>
      <p:sp>
        <p:nvSpPr>
          <p:cNvPr id="30" name="Shape 28"/>
          <p:cNvSpPr/>
          <p:nvPr/>
        </p:nvSpPr>
        <p:spPr>
          <a:xfrm>
            <a:off x="548640" y="5349240"/>
            <a:ext cx="11064240" cy="777240"/>
          </a:xfrm>
          <a:prstGeom prst="rect">
            <a:avLst/>
          </a:prstGeom>
          <a:solidFill>
            <a:srgbClr val="FFFFFF"/>
          </a:solidFill>
          <a:ln w="6350">
            <a:solidFill>
              <a:srgbClr val="E5E9F0"/>
            </a:solidFill>
            <a:prstDash val="solid"/>
          </a:ln>
          <a:effectLst>
            <a:outerShdw blurRad="101600" dist="25400" dir="5400000" algn="bl" rotWithShape="0">
              <a:srgbClr val="000000">
                <a:alpha val="8000"/>
              </a:srgbClr>
            </a:outerShdw>
          </a:effectLst>
        </p:spPr>
        <p:txBody>
          <a:bodyPr/>
          <a:lstStyle/>
          <a:p>
            <a:endParaRPr lang="en-GB"/>
          </a:p>
        </p:txBody>
      </p:sp>
      <p:sp>
        <p:nvSpPr>
          <p:cNvPr id="31" name="Shape 29"/>
          <p:cNvSpPr/>
          <p:nvPr/>
        </p:nvSpPr>
        <p:spPr>
          <a:xfrm>
            <a:off x="731520" y="5486400"/>
            <a:ext cx="502920" cy="502920"/>
          </a:xfrm>
          <a:prstGeom prst="ellipse">
            <a:avLst/>
          </a:prstGeom>
          <a:solidFill>
            <a:srgbClr val="F77F00"/>
          </a:solidFill>
          <a:ln w="12700">
            <a:solidFill>
              <a:srgbClr val="F77F00"/>
            </a:solidFill>
            <a:prstDash val="solid"/>
          </a:ln>
        </p:spPr>
        <p:txBody>
          <a:bodyPr/>
          <a:lstStyle/>
          <a:p>
            <a:endParaRPr lang="en-GB"/>
          </a:p>
        </p:txBody>
      </p:sp>
      <p:sp>
        <p:nvSpPr>
          <p:cNvPr id="32" name="Text 30"/>
          <p:cNvSpPr/>
          <p:nvPr/>
        </p:nvSpPr>
        <p:spPr>
          <a:xfrm>
            <a:off x="731520" y="54864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3" name="Text 31"/>
          <p:cNvSpPr/>
          <p:nvPr/>
        </p:nvSpPr>
        <p:spPr>
          <a:xfrm>
            <a:off x="1371600" y="5440680"/>
            <a:ext cx="5029200" cy="320040"/>
          </a:xfrm>
          <a:prstGeom prst="rect">
            <a:avLst/>
          </a:prstGeom>
          <a:noFill/>
          <a:ln/>
        </p:spPr>
        <p:txBody>
          <a:bodyPr wrap="square" lIns="0" tIns="0" rIns="0" bIns="0" rtlCol="0" anchor="ctr"/>
          <a:lstStyle/>
          <a:p>
            <a:pPr marL="0" indent="0">
              <a:buNone/>
            </a:pPr>
            <a:r>
              <a:rPr lang="en-US" sz="1400" b="1" dirty="0">
                <a:solidFill>
                  <a:srgbClr val="0F2440"/>
                </a:solidFill>
                <a:latin typeface="Calibri" pitchFamily="34" charset="0"/>
                <a:ea typeface="Calibri" pitchFamily="34" charset="-122"/>
                <a:cs typeface="Calibri" pitchFamily="34" charset="-120"/>
              </a:rPr>
              <a:t>Local explanations close the loop</a:t>
            </a:r>
            <a:endParaRPr lang="en-US" sz="1400" dirty="0"/>
          </a:p>
        </p:txBody>
      </p:sp>
      <p:sp>
        <p:nvSpPr>
          <p:cNvPr id="34" name="Text 32"/>
          <p:cNvSpPr/>
          <p:nvPr/>
        </p:nvSpPr>
        <p:spPr>
          <a:xfrm>
            <a:off x="1371600" y="5760720"/>
            <a:ext cx="10058400" cy="365760"/>
          </a:xfrm>
          <a:prstGeom prst="rect">
            <a:avLst/>
          </a:prstGeom>
          <a:noFill/>
          <a:ln/>
        </p:spPr>
        <p:txBody>
          <a:bodyPr wrap="square" lIns="0" tIns="0" rIns="0" bIns="0" rtlCol="0" anchor="ctr"/>
          <a:lstStyle/>
          <a:p>
            <a:pPr marL="0" indent="0">
              <a:buNone/>
            </a:pPr>
            <a:r>
              <a:rPr lang="en-US" sz="1100" i="1" dirty="0">
                <a:solidFill>
                  <a:srgbClr val="212529"/>
                </a:solidFill>
                <a:latin typeface="Calibri" pitchFamily="34" charset="0"/>
                <a:ea typeface="Calibri" pitchFamily="34" charset="-122"/>
                <a:cs typeface="Calibri" pitchFamily="34" charset="-120"/>
              </a:rPr>
              <a:t>Anchors + LIME let you explain individual predictions to non-ML stakeholders. Build trust, find bugs.</a:t>
            </a:r>
            <a:endParaRPr lang="en-US" sz="1100" dirty="0"/>
          </a:p>
        </p:txBody>
      </p:sp>
      <p:sp>
        <p:nvSpPr>
          <p:cNvPr id="35" name="Text 33"/>
          <p:cNvSpPr/>
          <p:nvPr/>
        </p:nvSpPr>
        <p:spPr>
          <a:xfrm>
            <a:off x="548640" y="6400800"/>
            <a:ext cx="11064240" cy="365760"/>
          </a:xfrm>
          <a:prstGeom prst="rect">
            <a:avLst/>
          </a:prstGeom>
          <a:noFill/>
          <a:ln/>
        </p:spPr>
        <p:txBody>
          <a:bodyPr wrap="square" lIns="0" tIns="0" rIns="0" bIns="0" rtlCol="0" anchor="ctr"/>
          <a:lstStyle/>
          <a:p>
            <a:pPr marL="0" indent="0" algn="ctr">
              <a:buNone/>
            </a:pPr>
            <a:r>
              <a:rPr lang="en-US" sz="1400" b="1" i="1" dirty="0">
                <a:solidFill>
                  <a:srgbClr val="F77F00"/>
                </a:solidFill>
                <a:latin typeface="Calibri" pitchFamily="34" charset="0"/>
                <a:ea typeface="Calibri" pitchFamily="34" charset="-122"/>
                <a:cs typeface="Calibri" pitchFamily="34" charset="-120"/>
              </a:rPr>
              <a:t>Terima kasih banyak — and good luck with your projects!</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1E3A5F"/>
          </a:solidFill>
          <a:ln w="12700">
            <a:solidFill>
              <a:srgbClr val="1E3A5F"/>
            </a:solidFill>
            <a:prstDash val="solid"/>
          </a:ln>
        </p:spPr>
        <p:txBody>
          <a:bodyPr/>
          <a:lstStyle/>
          <a:p>
            <a:endParaRPr lang="en-GB"/>
          </a:p>
        </p:txBody>
      </p:sp>
      <p:sp>
        <p:nvSpPr>
          <p:cNvPr id="3" name="Shape 1"/>
          <p:cNvSpPr/>
          <p:nvPr/>
        </p:nvSpPr>
        <p:spPr>
          <a:xfrm>
            <a:off x="0" y="0"/>
            <a:ext cx="2377440" cy="164592"/>
          </a:xfrm>
          <a:prstGeom prst="rect">
            <a:avLst/>
          </a:prstGeom>
          <a:solidFill>
            <a:srgbClr val="F77F00"/>
          </a:solidFill>
          <a:ln w="12700">
            <a:solidFill>
              <a:srgbClr val="F77F00"/>
            </a:solidFill>
            <a:prstDash val="solid"/>
          </a:ln>
        </p:spPr>
        <p:txBody>
          <a:bodyPr/>
          <a:lstStyle/>
          <a:p>
            <a:endParaRPr lang="en-GB"/>
          </a:p>
        </p:txBody>
      </p:sp>
      <p:sp>
        <p:nvSpPr>
          <p:cNvPr id="4" name="Text 2"/>
          <p:cNvSpPr/>
          <p:nvPr/>
        </p:nvSpPr>
        <p:spPr>
          <a:xfrm>
            <a:off x="457200" y="292608"/>
            <a:ext cx="10972800" cy="320040"/>
          </a:xfrm>
          <a:prstGeom prst="rect">
            <a:avLst/>
          </a:prstGeom>
          <a:noFill/>
          <a:ln/>
        </p:spPr>
        <p:txBody>
          <a:bodyPr wrap="square" rtlCol="0" anchor="ctr"/>
          <a:lstStyle/>
          <a:p>
            <a:pPr marL="0" indent="0">
              <a:buNone/>
            </a:pPr>
            <a:r>
              <a:rPr lang="en-US" sz="1100" b="1" kern="0" spc="400" dirty="0">
                <a:solidFill>
                  <a:srgbClr val="F77F00"/>
                </a:solidFill>
                <a:latin typeface="Calibri" pitchFamily="34" charset="0"/>
                <a:ea typeface="Calibri" pitchFamily="34" charset="-122"/>
                <a:cs typeface="Calibri" pitchFamily="34" charset="-120"/>
              </a:rPr>
              <a:t>VERIFIED, ACCESSIBLE, FREE</a:t>
            </a:r>
            <a:endParaRPr lang="en-US" sz="1100" dirty="0"/>
          </a:p>
        </p:txBody>
      </p:sp>
      <p:sp>
        <p:nvSpPr>
          <p:cNvPr id="5" name="Text 3"/>
          <p:cNvSpPr/>
          <p:nvPr/>
        </p:nvSpPr>
        <p:spPr>
          <a:xfrm>
            <a:off x="457200" y="594360"/>
            <a:ext cx="11247120" cy="777240"/>
          </a:xfrm>
          <a:prstGeom prst="rect">
            <a:avLst/>
          </a:prstGeom>
          <a:noFill/>
          <a:ln/>
        </p:spPr>
        <p:txBody>
          <a:bodyPr wrap="square" lIns="0" tIns="0" rIns="0" bIns="0" rtlCol="0" anchor="ctr"/>
          <a:lstStyle/>
          <a:p>
            <a:pPr marL="0" indent="0">
              <a:buNone/>
            </a:pPr>
            <a:r>
              <a:rPr lang="en-US" sz="3000" b="1" dirty="0">
                <a:solidFill>
                  <a:srgbClr val="0F2440"/>
                </a:solidFill>
                <a:latin typeface="Calibri" pitchFamily="34" charset="0"/>
                <a:ea typeface="Calibri" pitchFamily="34" charset="-122"/>
                <a:cs typeface="Calibri" pitchFamily="34" charset="-120"/>
              </a:rPr>
              <a:t>References &amp; further reading</a:t>
            </a:r>
            <a:endParaRPr lang="en-US" sz="3000" dirty="0"/>
          </a:p>
        </p:txBody>
      </p:sp>
      <p:sp>
        <p:nvSpPr>
          <p:cNvPr id="6" name="Shape 4"/>
          <p:cNvSpPr/>
          <p:nvPr/>
        </p:nvSpPr>
        <p:spPr>
          <a:xfrm>
            <a:off x="457200" y="137160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Shape 5"/>
          <p:cNvSpPr/>
          <p:nvPr/>
        </p:nvSpPr>
        <p:spPr>
          <a:xfrm>
            <a:off x="0" y="6537960"/>
            <a:ext cx="12161520" cy="320040"/>
          </a:xfrm>
          <a:prstGeom prst="rect">
            <a:avLst/>
          </a:prstGeom>
          <a:solidFill>
            <a:srgbClr val="0F2440"/>
          </a:solidFill>
          <a:ln w="12700">
            <a:solidFill>
              <a:srgbClr val="0F2440"/>
            </a:solidFill>
            <a:prstDash val="solid"/>
          </a:ln>
        </p:spPr>
        <p:txBody>
          <a:bodyPr/>
          <a:lstStyle/>
          <a:p>
            <a:endParaRPr lang="en-GB"/>
          </a:p>
        </p:txBody>
      </p:sp>
      <p:sp>
        <p:nvSpPr>
          <p:cNvPr id="8" name="Text 6"/>
          <p:cNvSpPr/>
          <p:nvPr/>
        </p:nvSpPr>
        <p:spPr>
          <a:xfrm>
            <a:off x="365760" y="6547104"/>
            <a:ext cx="7315200" cy="292608"/>
          </a:xfrm>
          <a:prstGeom prst="rect">
            <a:avLst/>
          </a:prstGeom>
          <a:noFill/>
          <a:ln/>
        </p:spPr>
        <p:txBody>
          <a:bodyPr wrap="square" rtlCol="0" anchor="ctr"/>
          <a:lstStyle/>
          <a:p>
            <a:pPr marL="0" indent="0">
              <a:buNone/>
            </a:pPr>
            <a:r>
              <a:rPr lang="en-US" sz="900" dirty="0">
                <a:solidFill>
                  <a:srgbClr val="CFE5F8"/>
                </a:solidFill>
                <a:latin typeface="Calibri" pitchFamily="34" charset="0"/>
                <a:ea typeface="Calibri" pitchFamily="34" charset="-122"/>
                <a:cs typeface="Calibri" pitchFamily="34" charset="-120"/>
              </a:rPr>
              <a:t>BINUS  |  Text Mining  |  Session 9 — Text Classification</a:t>
            </a:r>
            <a:endParaRPr lang="en-US" sz="900" dirty="0"/>
          </a:p>
        </p:txBody>
      </p:sp>
      <p:sp>
        <p:nvSpPr>
          <p:cNvPr id="9" name="Text 7"/>
          <p:cNvSpPr/>
          <p:nvPr/>
        </p:nvSpPr>
        <p:spPr>
          <a:xfrm>
            <a:off x="11064240" y="6547104"/>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34 / 35</a:t>
            </a:r>
            <a:endParaRPr lang="en-US" sz="900" dirty="0"/>
          </a:p>
        </p:txBody>
      </p:sp>
      <p:sp>
        <p:nvSpPr>
          <p:cNvPr id="10" name="Shape 8"/>
          <p:cNvSpPr/>
          <p:nvPr/>
        </p:nvSpPr>
        <p:spPr>
          <a:xfrm>
            <a:off x="596766" y="1545336"/>
            <a:ext cx="54864" cy="274320"/>
          </a:xfrm>
          <a:prstGeom prst="rect">
            <a:avLst/>
          </a:prstGeom>
          <a:solidFill>
            <a:srgbClr val="F77F00"/>
          </a:solidFill>
          <a:ln w="12700">
            <a:solidFill>
              <a:srgbClr val="F77F00"/>
            </a:solidFill>
            <a:prstDash val="solid"/>
          </a:ln>
        </p:spPr>
        <p:txBody>
          <a:bodyPr/>
          <a:lstStyle/>
          <a:p>
            <a:endParaRPr lang="en-GB"/>
          </a:p>
        </p:txBody>
      </p:sp>
      <p:sp>
        <p:nvSpPr>
          <p:cNvPr id="11" name="Text 9"/>
          <p:cNvSpPr/>
          <p:nvPr/>
        </p:nvSpPr>
        <p:spPr>
          <a:xfrm>
            <a:off x="825366" y="1508760"/>
            <a:ext cx="4572000" cy="274320"/>
          </a:xfrm>
          <a:prstGeom prst="rect">
            <a:avLst/>
          </a:prstGeom>
          <a:noFill/>
          <a:ln/>
        </p:spPr>
        <p:txBody>
          <a:bodyPr wrap="square" lIns="0" tIns="0" rIns="0" bIns="0" rtlCol="0" anchor="ctr"/>
          <a:lstStyle/>
          <a:p>
            <a:pPr marL="0" indent="0">
              <a:buNone/>
            </a:pPr>
            <a:r>
              <a:rPr lang="en-US" sz="1200" b="1" kern="0" spc="300" dirty="0">
                <a:solidFill>
                  <a:srgbClr val="F77F00"/>
                </a:solidFill>
                <a:latin typeface="Calibri" pitchFamily="34" charset="0"/>
                <a:ea typeface="Calibri" pitchFamily="34" charset="-122"/>
                <a:cs typeface="Calibri" pitchFamily="34" charset="-120"/>
              </a:rPr>
              <a:t>Datasets</a:t>
            </a:r>
            <a:endParaRPr lang="en-US" sz="1200" dirty="0"/>
          </a:p>
        </p:txBody>
      </p:sp>
      <p:sp>
        <p:nvSpPr>
          <p:cNvPr id="12" name="Text 10"/>
          <p:cNvSpPr/>
          <p:nvPr/>
        </p:nvSpPr>
        <p:spPr>
          <a:xfrm>
            <a:off x="825366" y="1819656"/>
            <a:ext cx="10972800" cy="310896"/>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 IndoNLU benchmark — including SmSA sentiment dataset.  huggingface.co/datasets/indonlp/indonlu</a:t>
            </a:r>
            <a:endParaRPr lang="en-US" sz="1100" dirty="0"/>
          </a:p>
        </p:txBody>
      </p:sp>
      <p:sp>
        <p:nvSpPr>
          <p:cNvPr id="13" name="Text 11"/>
          <p:cNvSpPr/>
          <p:nvPr/>
        </p:nvSpPr>
        <p:spPr>
          <a:xfrm>
            <a:off x="825366" y="2130552"/>
            <a:ext cx="10972800" cy="310896"/>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 Wilie, B. et al. "IndoNLU: Benchmark and Resources for Evaluating Indonesian Natural Language Understanding". AACL 2020.</a:t>
            </a:r>
            <a:endParaRPr lang="en-US" sz="1100" dirty="0"/>
          </a:p>
        </p:txBody>
      </p:sp>
      <p:sp>
        <p:nvSpPr>
          <p:cNvPr id="14" name="Shape 12"/>
          <p:cNvSpPr/>
          <p:nvPr/>
        </p:nvSpPr>
        <p:spPr>
          <a:xfrm>
            <a:off x="596766" y="2578608"/>
            <a:ext cx="54864" cy="274320"/>
          </a:xfrm>
          <a:prstGeom prst="rect">
            <a:avLst/>
          </a:prstGeom>
          <a:solidFill>
            <a:srgbClr val="F77F00"/>
          </a:solidFill>
          <a:ln w="12700">
            <a:solidFill>
              <a:srgbClr val="F77F00"/>
            </a:solidFill>
            <a:prstDash val="solid"/>
          </a:ln>
        </p:spPr>
        <p:txBody>
          <a:bodyPr/>
          <a:lstStyle/>
          <a:p>
            <a:endParaRPr lang="en-GB"/>
          </a:p>
        </p:txBody>
      </p:sp>
      <p:sp>
        <p:nvSpPr>
          <p:cNvPr id="15" name="Text 13"/>
          <p:cNvSpPr/>
          <p:nvPr/>
        </p:nvSpPr>
        <p:spPr>
          <a:xfrm>
            <a:off x="825366" y="2542032"/>
            <a:ext cx="4572000" cy="274320"/>
          </a:xfrm>
          <a:prstGeom prst="rect">
            <a:avLst/>
          </a:prstGeom>
          <a:noFill/>
          <a:ln/>
        </p:spPr>
        <p:txBody>
          <a:bodyPr wrap="square" lIns="0" tIns="0" rIns="0" bIns="0" rtlCol="0" anchor="ctr"/>
          <a:lstStyle/>
          <a:p>
            <a:pPr marL="0" indent="0">
              <a:buNone/>
            </a:pPr>
            <a:r>
              <a:rPr lang="en-US" sz="1200" b="1" kern="0" spc="300" dirty="0">
                <a:solidFill>
                  <a:srgbClr val="F77F00"/>
                </a:solidFill>
                <a:latin typeface="Calibri" pitchFamily="34" charset="0"/>
                <a:ea typeface="Calibri" pitchFamily="34" charset="-122"/>
                <a:cs typeface="Calibri" pitchFamily="34" charset="-120"/>
              </a:rPr>
              <a:t>Tools &amp; libraries</a:t>
            </a:r>
            <a:endParaRPr lang="en-US" sz="1200" dirty="0"/>
          </a:p>
        </p:txBody>
      </p:sp>
      <p:sp>
        <p:nvSpPr>
          <p:cNvPr id="16" name="Text 14"/>
          <p:cNvSpPr/>
          <p:nvPr/>
        </p:nvSpPr>
        <p:spPr>
          <a:xfrm>
            <a:off x="825366" y="2852928"/>
            <a:ext cx="10972800" cy="310896"/>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 scikit-learn 1.8 — Pipeline, GridSearchCV, TfidfVectorizer.  scikit-learn.org/stable</a:t>
            </a:r>
            <a:endParaRPr lang="en-US" sz="1100" dirty="0"/>
          </a:p>
        </p:txBody>
      </p:sp>
      <p:sp>
        <p:nvSpPr>
          <p:cNvPr id="17" name="Text 15"/>
          <p:cNvSpPr/>
          <p:nvPr/>
        </p:nvSpPr>
        <p:spPr>
          <a:xfrm>
            <a:off x="825366" y="3163824"/>
            <a:ext cx="10972800" cy="310896"/>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 Sastrawi — Indonesian stemming.  github.com/har07/PySastrawi</a:t>
            </a:r>
            <a:endParaRPr lang="en-US" sz="1100" dirty="0"/>
          </a:p>
        </p:txBody>
      </p:sp>
      <p:sp>
        <p:nvSpPr>
          <p:cNvPr id="18" name="Text 16"/>
          <p:cNvSpPr/>
          <p:nvPr/>
        </p:nvSpPr>
        <p:spPr>
          <a:xfrm>
            <a:off x="825366" y="3474720"/>
            <a:ext cx="10972800" cy="310896"/>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 LIME — local explanations.  github.com/marcotcr/lime</a:t>
            </a:r>
            <a:endParaRPr lang="en-US" sz="1100" dirty="0"/>
          </a:p>
        </p:txBody>
      </p:sp>
      <p:sp>
        <p:nvSpPr>
          <p:cNvPr id="19" name="Shape 17"/>
          <p:cNvSpPr/>
          <p:nvPr/>
        </p:nvSpPr>
        <p:spPr>
          <a:xfrm>
            <a:off x="596766" y="3922776"/>
            <a:ext cx="54864" cy="274320"/>
          </a:xfrm>
          <a:prstGeom prst="rect">
            <a:avLst/>
          </a:prstGeom>
          <a:solidFill>
            <a:srgbClr val="F77F00"/>
          </a:solidFill>
          <a:ln w="12700">
            <a:solidFill>
              <a:srgbClr val="F77F00"/>
            </a:solidFill>
            <a:prstDash val="solid"/>
          </a:ln>
        </p:spPr>
        <p:txBody>
          <a:bodyPr/>
          <a:lstStyle/>
          <a:p>
            <a:endParaRPr lang="en-GB"/>
          </a:p>
        </p:txBody>
      </p:sp>
      <p:sp>
        <p:nvSpPr>
          <p:cNvPr id="20" name="Text 18"/>
          <p:cNvSpPr/>
          <p:nvPr/>
        </p:nvSpPr>
        <p:spPr>
          <a:xfrm>
            <a:off x="825366" y="3886200"/>
            <a:ext cx="4572000" cy="274320"/>
          </a:xfrm>
          <a:prstGeom prst="rect">
            <a:avLst/>
          </a:prstGeom>
          <a:noFill/>
          <a:ln/>
        </p:spPr>
        <p:txBody>
          <a:bodyPr wrap="square" lIns="0" tIns="0" rIns="0" bIns="0" rtlCol="0" anchor="ctr"/>
          <a:lstStyle/>
          <a:p>
            <a:pPr marL="0" indent="0">
              <a:buNone/>
            </a:pPr>
            <a:r>
              <a:rPr lang="en-US" sz="1200" b="1" kern="0" spc="300" dirty="0">
                <a:solidFill>
                  <a:srgbClr val="F77F00"/>
                </a:solidFill>
                <a:latin typeface="Calibri" pitchFamily="34" charset="0"/>
                <a:ea typeface="Calibri" pitchFamily="34" charset="-122"/>
                <a:cs typeface="Calibri" pitchFamily="34" charset="-120"/>
              </a:rPr>
              <a:t>Papers (recent, peer-reviewed)</a:t>
            </a:r>
            <a:endParaRPr lang="en-US" sz="1200" dirty="0"/>
          </a:p>
        </p:txBody>
      </p:sp>
      <p:sp>
        <p:nvSpPr>
          <p:cNvPr id="21" name="Text 19"/>
          <p:cNvSpPr/>
          <p:nvPr/>
        </p:nvSpPr>
        <p:spPr>
          <a:xfrm>
            <a:off x="825366" y="4197096"/>
            <a:ext cx="10972800" cy="310896"/>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 Ribeiro M.T., Singh S., Guestrin C. "Anchors: High-Precision Model-Agnostic Explanations". AAAI 2018.</a:t>
            </a:r>
            <a:endParaRPr lang="en-US" sz="1100" dirty="0"/>
          </a:p>
        </p:txBody>
      </p:sp>
      <p:sp>
        <p:nvSpPr>
          <p:cNvPr id="22" name="Text 20"/>
          <p:cNvSpPr/>
          <p:nvPr/>
        </p:nvSpPr>
        <p:spPr>
          <a:xfrm>
            <a:off x="825366" y="4507992"/>
            <a:ext cx="10972800" cy="310896"/>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 Salih A. et al. "A Perspective on Explainable AI Methods: SHAP and LIME". Advanced Intelligent Systems, 2025.</a:t>
            </a:r>
            <a:endParaRPr lang="en-US" sz="1100" dirty="0"/>
          </a:p>
        </p:txBody>
      </p:sp>
      <p:sp>
        <p:nvSpPr>
          <p:cNvPr id="23" name="Text 21"/>
          <p:cNvSpPr/>
          <p:nvPr/>
        </p:nvSpPr>
        <p:spPr>
          <a:xfrm>
            <a:off x="825366" y="4818888"/>
            <a:ext cx="10972800" cy="310896"/>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 IndoBERT-Sentiment: Context-Conditioned Sentiment Classification for Indonesian Text (arXiv 2026).</a:t>
            </a:r>
            <a:endParaRPr lang="en-US" sz="1100" dirty="0"/>
          </a:p>
        </p:txBody>
      </p:sp>
      <p:sp>
        <p:nvSpPr>
          <p:cNvPr id="24" name="Shape 22"/>
          <p:cNvSpPr/>
          <p:nvPr/>
        </p:nvSpPr>
        <p:spPr>
          <a:xfrm>
            <a:off x="596766" y="5266944"/>
            <a:ext cx="54864" cy="274320"/>
          </a:xfrm>
          <a:prstGeom prst="rect">
            <a:avLst/>
          </a:prstGeom>
          <a:solidFill>
            <a:srgbClr val="F77F00"/>
          </a:solidFill>
          <a:ln w="12700">
            <a:solidFill>
              <a:srgbClr val="F77F00"/>
            </a:solidFill>
            <a:prstDash val="solid"/>
          </a:ln>
        </p:spPr>
        <p:txBody>
          <a:bodyPr/>
          <a:lstStyle/>
          <a:p>
            <a:endParaRPr lang="en-GB"/>
          </a:p>
        </p:txBody>
      </p:sp>
      <p:sp>
        <p:nvSpPr>
          <p:cNvPr id="25" name="Text 23"/>
          <p:cNvSpPr/>
          <p:nvPr/>
        </p:nvSpPr>
        <p:spPr>
          <a:xfrm>
            <a:off x="825366" y="5230368"/>
            <a:ext cx="4572000" cy="274320"/>
          </a:xfrm>
          <a:prstGeom prst="rect">
            <a:avLst/>
          </a:prstGeom>
          <a:noFill/>
          <a:ln/>
        </p:spPr>
        <p:txBody>
          <a:bodyPr wrap="square" lIns="0" tIns="0" rIns="0" bIns="0" rtlCol="0" anchor="ctr"/>
          <a:lstStyle/>
          <a:p>
            <a:pPr marL="0" indent="0">
              <a:buNone/>
            </a:pPr>
            <a:r>
              <a:rPr lang="en-US" sz="1200" b="1" kern="0" spc="300" dirty="0">
                <a:solidFill>
                  <a:srgbClr val="F77F00"/>
                </a:solidFill>
                <a:latin typeface="Calibri" pitchFamily="34" charset="0"/>
                <a:ea typeface="Calibri" pitchFamily="34" charset="-122"/>
                <a:cs typeface="Calibri" pitchFamily="34" charset="-120"/>
              </a:rPr>
              <a:t>Tutorials / video</a:t>
            </a:r>
            <a:endParaRPr lang="en-US" sz="1200" dirty="0"/>
          </a:p>
        </p:txBody>
      </p:sp>
      <p:sp>
        <p:nvSpPr>
          <p:cNvPr id="26" name="Text 24"/>
          <p:cNvSpPr/>
          <p:nvPr/>
        </p:nvSpPr>
        <p:spPr>
          <a:xfrm>
            <a:off x="825366" y="5541264"/>
            <a:ext cx="10972800" cy="310896"/>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 Krish Naik — NLP, text processing &amp; classification (the video for last week).</a:t>
            </a:r>
            <a:endParaRPr lang="en-US" sz="1100" dirty="0"/>
          </a:p>
        </p:txBody>
      </p:sp>
      <p:sp>
        <p:nvSpPr>
          <p:cNvPr id="27" name="Text 25"/>
          <p:cNvSpPr/>
          <p:nvPr/>
        </p:nvSpPr>
        <p:spPr>
          <a:xfrm>
            <a:off x="825366" y="5852160"/>
            <a:ext cx="10972800" cy="310896"/>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 scikit-learn — Sample pipeline for text feature extraction &amp; evaluation.</a:t>
            </a:r>
            <a:endParaRPr lang="en-US" sz="1100" dirty="0"/>
          </a:p>
        </p:txBody>
      </p:sp>
      <p:sp>
        <p:nvSpPr>
          <p:cNvPr id="28" name="Text 26"/>
          <p:cNvSpPr/>
          <p:nvPr/>
        </p:nvSpPr>
        <p:spPr>
          <a:xfrm>
            <a:off x="825366" y="6163056"/>
            <a:ext cx="10972800" cy="310896"/>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 Jens A., Sidharth R., Christian W. "Blueprints for Text Analytics Using Python". O'Reilly 2021.</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0F2440"/>
        </a:solidFill>
        <a:effectLst/>
      </p:bgPr>
    </p:bg>
    <p:spTree>
      <p:nvGrpSpPr>
        <p:cNvPr id="1" name=""/>
        <p:cNvGrpSpPr/>
        <p:nvPr/>
      </p:nvGrpSpPr>
      <p:grpSpPr>
        <a:xfrm>
          <a:off x="0" y="0"/>
          <a:ext cx="0" cy="0"/>
          <a:chOff x="0" y="0"/>
          <a:chExt cx="0" cy="0"/>
        </a:xfrm>
      </p:grpSpPr>
      <p:sp>
        <p:nvSpPr>
          <p:cNvPr id="2" name="Shape 0"/>
          <p:cNvSpPr/>
          <p:nvPr/>
        </p:nvSpPr>
        <p:spPr>
          <a:xfrm>
            <a:off x="10058400" y="3657600"/>
            <a:ext cx="3657600" cy="3657600"/>
          </a:xfrm>
          <a:prstGeom prst="ellipse">
            <a:avLst/>
          </a:prstGeom>
          <a:solidFill>
            <a:srgbClr val="F77F00">
              <a:alpha val="20000"/>
            </a:srgbClr>
          </a:solidFill>
          <a:ln w="12700">
            <a:solidFill>
              <a:srgbClr val="F77F00">
                <a:alpha val="20000"/>
              </a:srgbClr>
            </a:solidFill>
            <a:prstDash val="solid"/>
          </a:ln>
        </p:spPr>
        <p:txBody>
          <a:bodyPr/>
          <a:lstStyle/>
          <a:p>
            <a:endParaRPr lang="en-GB"/>
          </a:p>
        </p:txBody>
      </p:sp>
      <p:sp>
        <p:nvSpPr>
          <p:cNvPr id="3" name="Shape 1"/>
          <p:cNvSpPr/>
          <p:nvPr/>
        </p:nvSpPr>
        <p:spPr>
          <a:xfrm>
            <a:off x="-914400" y="-914400"/>
            <a:ext cx="3657600" cy="3657600"/>
          </a:xfrm>
          <a:prstGeom prst="ellipse">
            <a:avLst/>
          </a:prstGeom>
          <a:solidFill>
            <a:srgbClr val="00B4D8">
              <a:alpha val="20000"/>
            </a:srgbClr>
          </a:solidFill>
          <a:ln w="12700">
            <a:solidFill>
              <a:srgbClr val="00B4D8">
                <a:alpha val="20000"/>
              </a:srgbClr>
            </a:solidFill>
            <a:prstDash val="solid"/>
          </a:ln>
        </p:spPr>
        <p:txBody>
          <a:bodyPr/>
          <a:lstStyle/>
          <a:p>
            <a:endParaRPr lang="en-GB"/>
          </a:p>
        </p:txBody>
      </p:sp>
      <p:sp>
        <p:nvSpPr>
          <p:cNvPr id="4" name="Text 2"/>
          <p:cNvSpPr/>
          <p:nvPr/>
        </p:nvSpPr>
        <p:spPr>
          <a:xfrm>
            <a:off x="548640" y="1371600"/>
            <a:ext cx="10972800" cy="1371600"/>
          </a:xfrm>
          <a:prstGeom prst="rect">
            <a:avLst/>
          </a:prstGeom>
          <a:noFill/>
          <a:ln/>
        </p:spPr>
        <p:txBody>
          <a:bodyPr wrap="square" lIns="0" tIns="0" rIns="0" bIns="0" rtlCol="0" anchor="ctr"/>
          <a:lstStyle/>
          <a:p>
            <a:pPr marL="0" indent="0" algn="ctr">
              <a:buNone/>
            </a:pPr>
            <a:r>
              <a:rPr lang="en-US" sz="14400" b="1" kern="0" spc="400" dirty="0">
                <a:solidFill>
                  <a:srgbClr val="FFFFFF"/>
                </a:solidFill>
                <a:latin typeface="Calibri" pitchFamily="34" charset="0"/>
                <a:ea typeface="Calibri" pitchFamily="34" charset="-122"/>
                <a:cs typeface="Calibri" pitchFamily="34" charset="-120"/>
              </a:rPr>
              <a:t>Q&amp;A</a:t>
            </a:r>
            <a:endParaRPr lang="en-US" sz="14400" dirty="0"/>
          </a:p>
        </p:txBody>
      </p:sp>
      <p:sp>
        <p:nvSpPr>
          <p:cNvPr id="5" name="Text 3"/>
          <p:cNvSpPr/>
          <p:nvPr/>
        </p:nvSpPr>
        <p:spPr>
          <a:xfrm>
            <a:off x="548640" y="3200400"/>
            <a:ext cx="10972800" cy="548640"/>
          </a:xfrm>
          <a:prstGeom prst="rect">
            <a:avLst/>
          </a:prstGeom>
          <a:noFill/>
          <a:ln/>
        </p:spPr>
        <p:txBody>
          <a:bodyPr wrap="square" lIns="0" tIns="0" rIns="0" bIns="0" rtlCol="0" anchor="ctr"/>
          <a:lstStyle/>
          <a:p>
            <a:pPr marL="0" indent="0" algn="ctr">
              <a:buNone/>
            </a:pPr>
            <a:r>
              <a:rPr lang="en-US" sz="2400" i="1" dirty="0">
                <a:solidFill>
                  <a:srgbClr val="F77F00"/>
                </a:solidFill>
                <a:latin typeface="Calibri" pitchFamily="34" charset="0"/>
                <a:ea typeface="Calibri" pitchFamily="34" charset="-122"/>
                <a:cs typeface="Calibri" pitchFamily="34" charset="-120"/>
              </a:rPr>
              <a:t>Discussion · debate · what surprised you?</a:t>
            </a:r>
            <a:endParaRPr lang="en-US" sz="2400" dirty="0"/>
          </a:p>
        </p:txBody>
      </p:sp>
      <p:sp>
        <p:nvSpPr>
          <p:cNvPr id="6" name="Shape 4"/>
          <p:cNvSpPr/>
          <p:nvPr/>
        </p:nvSpPr>
        <p:spPr>
          <a:xfrm>
            <a:off x="5852160" y="4023360"/>
            <a:ext cx="548640" cy="54864"/>
          </a:xfrm>
          <a:prstGeom prst="rect">
            <a:avLst/>
          </a:prstGeom>
          <a:solidFill>
            <a:srgbClr val="F77F00"/>
          </a:solidFill>
          <a:ln w="12700">
            <a:solidFill>
              <a:srgbClr val="F77F00"/>
            </a:solidFill>
            <a:prstDash val="solid"/>
          </a:ln>
        </p:spPr>
        <p:txBody>
          <a:bodyPr/>
          <a:lstStyle/>
          <a:p>
            <a:endParaRPr lang="en-GB"/>
          </a:p>
        </p:txBody>
      </p:sp>
      <p:sp>
        <p:nvSpPr>
          <p:cNvPr id="7" name="Text 5"/>
          <p:cNvSpPr/>
          <p:nvPr/>
        </p:nvSpPr>
        <p:spPr>
          <a:xfrm>
            <a:off x="548640" y="4297680"/>
            <a:ext cx="10972800" cy="457200"/>
          </a:xfrm>
          <a:prstGeom prst="rect">
            <a:avLst/>
          </a:prstGeom>
          <a:noFill/>
          <a:ln/>
        </p:spPr>
        <p:txBody>
          <a:bodyPr wrap="square" lIns="0" tIns="0" rIns="0" bIns="0" rtlCol="0" anchor="ctr"/>
          <a:lstStyle/>
          <a:p>
            <a:pPr marL="0" indent="0" algn="ctr">
              <a:buNone/>
            </a:pPr>
            <a:r>
              <a:rPr lang="en-US" sz="1600" dirty="0">
                <a:solidFill>
                  <a:srgbClr val="CFE5F8"/>
                </a:solidFill>
                <a:latin typeface="Calibri" pitchFamily="34" charset="0"/>
                <a:ea typeface="Calibri" pitchFamily="34" charset="-122"/>
                <a:cs typeface="Calibri" pitchFamily="34" charset="-120"/>
              </a:rPr>
              <a:t>Drop questions in the chat.</a:t>
            </a:r>
            <a:endParaRPr lang="en-US" sz="1600" dirty="0"/>
          </a:p>
        </p:txBody>
      </p:sp>
      <p:sp>
        <p:nvSpPr>
          <p:cNvPr id="8" name="Text 6"/>
          <p:cNvSpPr/>
          <p:nvPr/>
        </p:nvSpPr>
        <p:spPr>
          <a:xfrm>
            <a:off x="548640" y="4754880"/>
            <a:ext cx="10972800" cy="457200"/>
          </a:xfrm>
          <a:prstGeom prst="rect">
            <a:avLst/>
          </a:prstGeom>
          <a:noFill/>
          <a:ln/>
        </p:spPr>
        <p:txBody>
          <a:bodyPr wrap="square" lIns="0" tIns="0" rIns="0" bIns="0" rtlCol="0" anchor="ctr"/>
          <a:lstStyle/>
          <a:p>
            <a:pPr marL="0" indent="0" algn="ctr">
              <a:buNone/>
            </a:pPr>
            <a:r>
              <a:rPr lang="en-US" sz="1400" i="1" dirty="0">
                <a:solidFill>
                  <a:srgbClr val="9FCDED"/>
                </a:solidFill>
                <a:latin typeface="Calibri" pitchFamily="34" charset="0"/>
                <a:ea typeface="Calibri" pitchFamily="34" charset="-122"/>
                <a:cs typeface="Calibri" pitchFamily="34" charset="-120"/>
              </a:rPr>
              <a:t>Slides + notebook will be shared after the lecture.</a:t>
            </a:r>
            <a:br>
              <a:rPr lang="en-US" sz="1400" i="1" dirty="0">
                <a:solidFill>
                  <a:srgbClr val="9FCDED"/>
                </a:solidFill>
                <a:latin typeface="Calibri" pitchFamily="34" charset="0"/>
                <a:ea typeface="Calibri" pitchFamily="34" charset="-122"/>
                <a:cs typeface="Calibri" pitchFamily="34" charset="-120"/>
              </a:rPr>
            </a:br>
            <a:br>
              <a:rPr lang="en-US" sz="1400" i="1" dirty="0">
                <a:solidFill>
                  <a:srgbClr val="9FCDED"/>
                </a:solidFill>
                <a:latin typeface="Calibri" pitchFamily="34" charset="0"/>
                <a:ea typeface="Calibri" pitchFamily="34" charset="-122"/>
                <a:cs typeface="Calibri" pitchFamily="34" charset="-120"/>
              </a:rPr>
            </a:br>
            <a:r>
              <a:rPr lang="en-US" sz="1400" i="1" dirty="0">
                <a:solidFill>
                  <a:srgbClr val="9FCDED"/>
                </a:solidFill>
                <a:latin typeface="Calibri" pitchFamily="34" charset="0"/>
                <a:ea typeface="Calibri" pitchFamily="34" charset="-122"/>
                <a:cs typeface="Calibri" pitchFamily="34" charset="-120"/>
              </a:rPr>
              <a:t>Email: </a:t>
            </a:r>
            <a:r>
              <a:rPr lang="en-US" sz="1400" i="1" dirty="0" err="1">
                <a:solidFill>
                  <a:srgbClr val="9FCDED"/>
                </a:solidFill>
                <a:latin typeface="Calibri" pitchFamily="34" charset="0"/>
                <a:ea typeface="Calibri" pitchFamily="34" charset="-122"/>
                <a:cs typeface="Calibri" pitchFamily="34" charset="-120"/>
              </a:rPr>
              <a:t>sianlunl@sunway.edu.my</a:t>
            </a:r>
            <a:endParaRPr lang="en-US" sz="1400" dirty="0"/>
          </a:p>
        </p:txBody>
      </p:sp>
      <p:sp>
        <p:nvSpPr>
          <p:cNvPr id="9" name="Text 7"/>
          <p:cNvSpPr/>
          <p:nvPr/>
        </p:nvSpPr>
        <p:spPr>
          <a:xfrm>
            <a:off x="548640" y="5852160"/>
            <a:ext cx="10972800" cy="548640"/>
          </a:xfrm>
          <a:prstGeom prst="rect">
            <a:avLst/>
          </a:prstGeom>
          <a:noFill/>
          <a:ln/>
        </p:spPr>
        <p:txBody>
          <a:bodyPr wrap="square" lIns="0" tIns="0" rIns="0" bIns="0" rtlCol="0" anchor="ctr"/>
          <a:lstStyle/>
          <a:p>
            <a:pPr marL="0" indent="0" algn="ctr">
              <a:buNone/>
            </a:pPr>
            <a:r>
              <a:rPr lang="en-US" sz="2200" b="1" i="1" dirty="0">
                <a:solidFill>
                  <a:srgbClr val="FFFFFF"/>
                </a:solidFill>
                <a:latin typeface="Calibri" pitchFamily="34" charset="0"/>
                <a:ea typeface="Calibri" pitchFamily="34" charset="-122"/>
                <a:cs typeface="Calibri" pitchFamily="34" charset="-120"/>
              </a:rPr>
              <a:t>Terima kasih!</a:t>
            </a:r>
            <a:endParaRPr lang="en-US" sz="2200" dirty="0"/>
          </a:p>
        </p:txBody>
      </p:sp>
      <p:sp>
        <p:nvSpPr>
          <p:cNvPr id="10" name="Text 8"/>
          <p:cNvSpPr/>
          <p:nvPr/>
        </p:nvSpPr>
        <p:spPr>
          <a:xfrm>
            <a:off x="11064240" y="6446520"/>
            <a:ext cx="822960" cy="292608"/>
          </a:xfrm>
          <a:prstGeom prst="rect">
            <a:avLst/>
          </a:prstGeom>
          <a:noFill/>
          <a:ln/>
        </p:spPr>
        <p:txBody>
          <a:bodyPr wrap="square" rtlCol="0" anchor="ctr"/>
          <a:lstStyle/>
          <a:p>
            <a:pPr marL="0" indent="0" algn="r">
              <a:buNone/>
            </a:pPr>
            <a:r>
              <a:rPr lang="en-US" sz="900" b="1" dirty="0">
                <a:solidFill>
                  <a:srgbClr val="F77F00"/>
                </a:solidFill>
                <a:latin typeface="Calibri" pitchFamily="34" charset="0"/>
                <a:ea typeface="Calibri" pitchFamily="34" charset="-122"/>
                <a:cs typeface="Calibri" pitchFamily="34" charset="-120"/>
              </a:rPr>
              <a:t>35 / 35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276</TotalTime>
  <Words>6412</Words>
  <Application>Microsoft Macintosh PowerPoint</Application>
  <PresentationFormat>Widescreen</PresentationFormat>
  <Paragraphs>755</Paragraphs>
  <Slides>36</Slides>
  <Notes>36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Arial Black</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Text Classification: Building, Evaluating &amp; Explaining Models</dc:title>
  <dc:subject>Text Mining</dc:subject>
  <dc:creator>Sian Lun Lau</dc:creator>
  <cp:keywords/>
  <dc:description/>
  <cp:lastModifiedBy>Sian Lun Lau</cp:lastModifiedBy>
  <cp:revision>9</cp:revision>
  <dcterms:created xsi:type="dcterms:W3CDTF">2026-05-05T04:12:31Z</dcterms:created>
  <dcterms:modified xsi:type="dcterms:W3CDTF">2026-05-06T07:59:29Z</dcterms:modified>
  <cp:category/>
</cp:coreProperties>
</file>